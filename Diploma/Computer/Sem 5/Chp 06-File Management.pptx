
<file path=[Content_Types].xml><?xml version="1.0" encoding="utf-8"?>
<Types xmlns="http://schemas.openxmlformats.org/package/2006/content-types">
  <Override PartName="/ppt/slides/slide29.xml" ContentType="application/vnd.openxmlformats-officedocument.presentationml.slide+xml"/>
  <Override PartName="/ppt/notesSlides/notesSlide2.xml" ContentType="application/vnd.openxmlformats-officedocument.presentationml.notesSlide+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Layouts/slideLayout6.xml" ContentType="application/vnd.openxmlformats-officedocument.presentationml.slideLayout+xml"/>
  <Override PartName="/ppt/notesSlides/notesSlide38.xml" ContentType="application/vnd.openxmlformats-officedocument.presentationml.notesSlide+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notesSlides/notesSlide18.xml" ContentType="application/vnd.openxmlformats-officedocument.presentationml.notesSlide+xml"/>
  <Override PartName="/ppt/notesSlides/notesSlide27.xml" ContentType="application/vnd.openxmlformats-officedocument.presentationml.notesSlide+xml"/>
  <Override PartName="/ppt/notesSlides/notesSlide36.xml" ContentType="application/vnd.openxmlformats-officedocument.presentationml.notesSlide+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notesSlides/notesSlide16.xml" ContentType="application/vnd.openxmlformats-officedocument.presentationml.notesSlide+xml"/>
  <Override PartName="/ppt/notesSlides/notesSlide25.xml" ContentType="application/vnd.openxmlformats-officedocument.presentationml.notesSlide+xml"/>
  <Override PartName="/ppt/notesSlides/notesSlide34.xml" ContentType="application/vnd.openxmlformats-officedocument.presentationml.notesSlide+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notesSlides/notesSlide14.xml" ContentType="application/vnd.openxmlformats-officedocument.presentationml.notesSlide+xml"/>
  <Override PartName="/ppt/notesSlides/notesSlide23.xml" ContentType="application/vnd.openxmlformats-officedocument.presentationml.notesSlide+xml"/>
  <Override PartName="/ppt/notesSlides/notesSlide32.xml" ContentType="application/vnd.openxmlformats-officedocument.presentationml.notesSlide+xml"/>
  <Override PartName="/ppt/notesSlides/notesSlide9.xml" ContentType="application/vnd.openxmlformats-officedocument.presentationml.notesSlide+xml"/>
  <Override PartName="/ppt/notesSlides/notesSlide12.xml" ContentType="application/vnd.openxmlformats-officedocument.presentationml.notesSlide+xml"/>
  <Override PartName="/ppt/notesSlides/notesSlide21.xml" ContentType="application/vnd.openxmlformats-officedocument.presentationml.notesSlide+xml"/>
  <Override PartName="/ppt/notesSlides/notesSlide30.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5.xml" ContentType="application/vnd.openxmlformats-officedocument.presentationml.notesSlide+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notesSlides/notesSlide3.xml" ContentType="application/vnd.openxmlformats-officedocument.presentationml.notesSlide+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notesSlides/notesSlide19.xml" ContentType="application/vnd.openxmlformats-officedocument.presentationml.notesSlide+xml"/>
  <Override PartName="/ppt/notesSlides/notesSlide39.xml" ContentType="application/vnd.openxmlformats-officedocument.presentationml.notesSlid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Layouts/slideLayout3.xml" ContentType="application/vnd.openxmlformats-officedocument.presentationml.slideLayout+xml"/>
  <Override PartName="/ppt/notesSlides/notesSlide17.xml" ContentType="application/vnd.openxmlformats-officedocument.presentationml.notesSlide+xml"/>
  <Override PartName="/ppt/notesSlides/notesSlide28.xml" ContentType="application/vnd.openxmlformats-officedocument.presentationml.notesSlide+xml"/>
  <Override PartName="/ppt/notesSlides/notesSlide37.xml" ContentType="application/vnd.openxmlformats-officedocument.presentationml.notesSlide+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Layouts/slideLayout1.xml" ContentType="application/vnd.openxmlformats-officedocument.presentationml.slideLayout+xml"/>
  <Override PartName="/ppt/notesSlides/notesSlide15.xml" ContentType="application/vnd.openxmlformats-officedocument.presentationml.notesSlide+xml"/>
  <Override PartName="/ppt/notesSlides/notesSlide24.xml" ContentType="application/vnd.openxmlformats-officedocument.presentationml.notesSlide+xml"/>
  <Override PartName="/ppt/notesSlides/notesSlide26.xml" ContentType="application/vnd.openxmlformats-officedocument.presentationml.notesSlide+xml"/>
  <Override PartName="/ppt/notesSlides/notesSlide35.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notesSlides/notesSlide13.xml" ContentType="application/vnd.openxmlformats-officedocument.presentationml.notesSlide+xml"/>
  <Override PartName="/ppt/notesSlides/notesSlide22.xml" ContentType="application/vnd.openxmlformats-officedocument.presentationml.notesSlide+xml"/>
  <Override PartName="/ppt/notesSlides/notesSlide33.xml" ContentType="application/vnd.openxmlformats-officedocument.presentationml.notesSlide+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11.xml" ContentType="application/vnd.openxmlformats-officedocument.presentationml.notesSlide+xml"/>
  <Override PartName="/ppt/notesSlides/notesSlide20.xml" ContentType="application/vnd.openxmlformats-officedocument.presentationml.notesSlide+xml"/>
  <Override PartName="/ppt/notesSlides/notesSlide31.xml" ContentType="application/vnd.openxmlformats-officedocument.presentationml.notesSlide+xml"/>
  <Override PartName="/ppt/notesSlides/notesSlide40.xml" ContentType="application/vnd.openxmlformats-officedocument.presentationml.notesSlide+xml"/>
  <Override PartName="/ppt/notesSlides/notesSlide6.xml" ContentType="application/vnd.openxmlformats-officedocument.presentationml.notesSlide+xml"/>
  <Override PartName="/ppt/slides/slide8.xml" ContentType="application/vnd.openxmlformats-officedocument.presentationml.slide+xml"/>
  <Override PartName="/ppt/notesSlides/notesSlide4.xml" ContentType="application/vnd.openxmlformats-officedocument.presentationml.notesSlide+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27.xml" ContentType="application/vnd.openxmlformats-officedocument.presentationml.slide+xml"/>
  <Override PartName="/ppt/slideLayouts/slideLayout4.xml" ContentType="application/vnd.openxmlformats-officedocument.presentationml.slideLayout+xml"/>
  <Override PartName="/ppt/notesSlides/notesSlide29.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2"/>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7" r:id="rId21"/>
    <p:sldId id="278" r:id="rId22"/>
    <p:sldId id="276" r:id="rId23"/>
    <p:sldId id="279" r:id="rId24"/>
    <p:sldId id="280" r:id="rId25"/>
    <p:sldId id="281" r:id="rId26"/>
    <p:sldId id="282" r:id="rId27"/>
    <p:sldId id="283" r:id="rId28"/>
    <p:sldId id="284" r:id="rId29"/>
    <p:sldId id="285" r:id="rId30"/>
    <p:sldId id="286" r:id="rId31"/>
    <p:sldId id="287" r:id="rId32"/>
    <p:sldId id="288" r:id="rId33"/>
    <p:sldId id="289" r:id="rId34"/>
    <p:sldId id="290" r:id="rId35"/>
    <p:sldId id="291" r:id="rId36"/>
    <p:sldId id="292" r:id="rId37"/>
    <p:sldId id="293" r:id="rId38"/>
    <p:sldId id="295" r:id="rId39"/>
    <p:sldId id="294" r:id="rId40"/>
    <p:sldId id="296" r:id="rId4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p:restoredTop sz="94660"/>
  </p:normalViewPr>
  <p:slideViewPr>
    <p:cSldViewPr>
      <p:cViewPr varScale="1">
        <p:scale>
          <a:sx n="68" d="100"/>
          <a:sy n="68" d="100"/>
        </p:scale>
        <p:origin x="-576" y="-96"/>
      </p:cViewPr>
      <p:guideLst>
        <p:guide orient="horz" pos="2160"/>
        <p:guide pos="2880"/>
      </p:guideLst>
    </p:cSldViewPr>
  </p:slideViewPr>
  <p:notesTextViewPr>
    <p:cViewPr>
      <p:scale>
        <a:sx n="1" d="1"/>
        <a:sy n="1" d="1"/>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1CEABE2-CE6C-4C73-AE11-79D9076DB548}" type="datetimeFigureOut">
              <a:rPr lang="en-US" smtClean="0"/>
              <a:pPr/>
              <a:t>11/25/2021</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B00560E-17A9-42A8-B230-36E8E865CBF7}" type="slidenum">
              <a:rPr lang="en-US" smtClean="0"/>
              <a:pPr/>
              <a:t>‹#›</a:t>
            </a:fld>
            <a:endParaRPr lang="en-US" dirty="0"/>
          </a:p>
        </p:txBody>
      </p:sp>
    </p:spTree>
    <p:extLst>
      <p:ext uri="{BB962C8B-B14F-4D97-AF65-F5344CB8AC3E}">
        <p14:creationId xmlns:p14="http://schemas.microsoft.com/office/powerpoint/2010/main" xmlns="" val="2924467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6" name="Google Shape;86;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p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1" name="Google Shape;101;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p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1" name="Google Shape;101;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p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1" name="Google Shape;101;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p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1" name="Google Shape;101;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p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1" name="Google Shape;101;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p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1" name="Google Shape;101;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p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1" name="Google Shape;101;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p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1" name="Google Shape;101;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p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1" name="Google Shape;101;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p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1" name="Google Shape;101;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p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1" name="Google Shape;101;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p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1" name="Google Shape;101;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p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1" name="Google Shape;101;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p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1" name="Google Shape;101;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p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1" name="Google Shape;101;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p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1" name="Google Shape;101;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p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01" name="Google Shape;101;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p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01" name="Google Shape;101;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p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01" name="Google Shape;101;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p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01" name="Google Shape;101;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p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01" name="Google Shape;101;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p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01" name="Google Shape;101;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p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01" name="Google Shape;101;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p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01" name="Google Shape;101;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p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01" name="Google Shape;101;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p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01" name="Google Shape;101;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p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01" name="Google Shape;101;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p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01" name="Google Shape;101;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p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01" name="Google Shape;101;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p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01" name="Google Shape;101;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p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01" name="Google Shape;101;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p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01" name="Google Shape;101;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p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01" name="Google Shape;101;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p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01" name="Google Shape;101;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p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01" name="Google Shape;101;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p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01" name="Google Shape;101;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p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01" name="Google Shape;101;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p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01" name="Google Shape;101;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p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3" name="Google Shape;133;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ED273B9-7AD3-4660-BAAE-89C878B954AF}" type="datetimeFigureOut">
              <a:rPr lang="en-US" smtClean="0"/>
              <a:pPr/>
              <a:t>11/25/2021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3A4DD73-E1E2-404B-B535-FD5BA7E4D01A}" type="slidenum">
              <a:rPr lang="en-US" smtClean="0"/>
              <a:pPr/>
              <a:t>‹#›</a:t>
            </a:fld>
            <a:endParaRPr lang="en-US" dirty="0"/>
          </a:p>
        </p:txBody>
      </p:sp>
    </p:spTree>
    <p:extLst>
      <p:ext uri="{BB962C8B-B14F-4D97-AF65-F5344CB8AC3E}">
        <p14:creationId xmlns:p14="http://schemas.microsoft.com/office/powerpoint/2010/main" xmlns="" val="33474276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ED273B9-7AD3-4660-BAAE-89C878B954AF}" type="datetimeFigureOut">
              <a:rPr lang="en-US" smtClean="0"/>
              <a:pPr/>
              <a:t>11/25/2021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3A4DD73-E1E2-404B-B535-FD5BA7E4D01A}" type="slidenum">
              <a:rPr lang="en-US" smtClean="0"/>
              <a:pPr/>
              <a:t>‹#›</a:t>
            </a:fld>
            <a:endParaRPr lang="en-US" dirty="0"/>
          </a:p>
        </p:txBody>
      </p:sp>
    </p:spTree>
    <p:extLst>
      <p:ext uri="{BB962C8B-B14F-4D97-AF65-F5344CB8AC3E}">
        <p14:creationId xmlns:p14="http://schemas.microsoft.com/office/powerpoint/2010/main" xmlns="" val="14703535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ED273B9-7AD3-4660-BAAE-89C878B954AF}" type="datetimeFigureOut">
              <a:rPr lang="en-US" smtClean="0"/>
              <a:pPr/>
              <a:t>11/25/2021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3A4DD73-E1E2-404B-B535-FD5BA7E4D01A}" type="slidenum">
              <a:rPr lang="en-US" smtClean="0"/>
              <a:pPr/>
              <a:t>‹#›</a:t>
            </a:fld>
            <a:endParaRPr lang="en-US" dirty="0"/>
          </a:p>
        </p:txBody>
      </p:sp>
    </p:spTree>
    <p:extLst>
      <p:ext uri="{BB962C8B-B14F-4D97-AF65-F5344CB8AC3E}">
        <p14:creationId xmlns:p14="http://schemas.microsoft.com/office/powerpoint/2010/main" xmlns="" val="32551892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ED273B9-7AD3-4660-BAAE-89C878B954AF}" type="datetimeFigureOut">
              <a:rPr lang="en-US" smtClean="0"/>
              <a:pPr/>
              <a:t>11/25/2021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3A4DD73-E1E2-404B-B535-FD5BA7E4D01A}" type="slidenum">
              <a:rPr lang="en-US" smtClean="0"/>
              <a:pPr/>
              <a:t>‹#›</a:t>
            </a:fld>
            <a:endParaRPr lang="en-US" dirty="0"/>
          </a:p>
        </p:txBody>
      </p:sp>
    </p:spTree>
    <p:extLst>
      <p:ext uri="{BB962C8B-B14F-4D97-AF65-F5344CB8AC3E}">
        <p14:creationId xmlns:p14="http://schemas.microsoft.com/office/powerpoint/2010/main" xmlns="" val="31228940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ED273B9-7AD3-4660-BAAE-89C878B954AF}" type="datetimeFigureOut">
              <a:rPr lang="en-US" smtClean="0"/>
              <a:pPr/>
              <a:t>11/25/2021</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3A4DD73-E1E2-404B-B535-FD5BA7E4D01A}" type="slidenum">
              <a:rPr lang="en-US" smtClean="0"/>
              <a:pPr/>
              <a:t>‹#›</a:t>
            </a:fld>
            <a:endParaRPr lang="en-US" dirty="0"/>
          </a:p>
        </p:txBody>
      </p:sp>
    </p:spTree>
    <p:extLst>
      <p:ext uri="{BB962C8B-B14F-4D97-AF65-F5344CB8AC3E}">
        <p14:creationId xmlns:p14="http://schemas.microsoft.com/office/powerpoint/2010/main" xmlns="" val="29616377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ED273B9-7AD3-4660-BAAE-89C878B954AF}" type="datetimeFigureOut">
              <a:rPr lang="en-US" smtClean="0"/>
              <a:pPr/>
              <a:t>11/25/2021</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3A4DD73-E1E2-404B-B535-FD5BA7E4D01A}" type="slidenum">
              <a:rPr lang="en-US" smtClean="0"/>
              <a:pPr/>
              <a:t>‹#›</a:t>
            </a:fld>
            <a:endParaRPr lang="en-US" dirty="0"/>
          </a:p>
        </p:txBody>
      </p:sp>
    </p:spTree>
    <p:extLst>
      <p:ext uri="{BB962C8B-B14F-4D97-AF65-F5344CB8AC3E}">
        <p14:creationId xmlns:p14="http://schemas.microsoft.com/office/powerpoint/2010/main" xmlns="" val="2760559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ED273B9-7AD3-4660-BAAE-89C878B954AF}" type="datetimeFigureOut">
              <a:rPr lang="en-US" smtClean="0"/>
              <a:pPr/>
              <a:t>11/25/2021</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3A4DD73-E1E2-404B-B535-FD5BA7E4D01A}" type="slidenum">
              <a:rPr lang="en-US" smtClean="0"/>
              <a:pPr/>
              <a:t>‹#›</a:t>
            </a:fld>
            <a:endParaRPr lang="en-US" dirty="0"/>
          </a:p>
        </p:txBody>
      </p:sp>
    </p:spTree>
    <p:extLst>
      <p:ext uri="{BB962C8B-B14F-4D97-AF65-F5344CB8AC3E}">
        <p14:creationId xmlns:p14="http://schemas.microsoft.com/office/powerpoint/2010/main" xmlns="" val="5351583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ED273B9-7AD3-4660-BAAE-89C878B954AF}" type="datetimeFigureOut">
              <a:rPr lang="en-US" smtClean="0"/>
              <a:pPr/>
              <a:t>11/25/2021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3A4DD73-E1E2-404B-B535-FD5BA7E4D01A}" type="slidenum">
              <a:rPr lang="en-US" smtClean="0"/>
              <a:pPr/>
              <a:t>‹#›</a:t>
            </a:fld>
            <a:endParaRPr lang="en-US" dirty="0"/>
          </a:p>
        </p:txBody>
      </p:sp>
    </p:spTree>
    <p:extLst>
      <p:ext uri="{BB962C8B-B14F-4D97-AF65-F5344CB8AC3E}">
        <p14:creationId xmlns:p14="http://schemas.microsoft.com/office/powerpoint/2010/main" xmlns="" val="16416634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ED273B9-7AD3-4660-BAAE-89C878B954AF}" type="datetimeFigureOut">
              <a:rPr lang="en-US" smtClean="0"/>
              <a:pPr/>
              <a:t>11/25/2021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3A4DD73-E1E2-404B-B535-FD5BA7E4D01A}" type="slidenum">
              <a:rPr lang="en-US" smtClean="0"/>
              <a:pPr/>
              <a:t>‹#›</a:t>
            </a:fld>
            <a:endParaRPr lang="en-US" dirty="0"/>
          </a:p>
        </p:txBody>
      </p:sp>
    </p:spTree>
    <p:extLst>
      <p:ext uri="{BB962C8B-B14F-4D97-AF65-F5344CB8AC3E}">
        <p14:creationId xmlns:p14="http://schemas.microsoft.com/office/powerpoint/2010/main" xmlns="" val="13556995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ED273B9-7AD3-4660-BAAE-89C878B954AF}" type="datetimeFigureOut">
              <a:rPr lang="en-US" smtClean="0"/>
              <a:pPr/>
              <a:t>11/25/2021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3A4DD73-E1E2-404B-B535-FD5BA7E4D01A}" type="slidenum">
              <a:rPr lang="en-US" smtClean="0"/>
              <a:pPr/>
              <a:t>‹#›</a:t>
            </a:fld>
            <a:endParaRPr lang="en-US" dirty="0"/>
          </a:p>
        </p:txBody>
      </p:sp>
    </p:spTree>
    <p:extLst>
      <p:ext uri="{BB962C8B-B14F-4D97-AF65-F5344CB8AC3E}">
        <p14:creationId xmlns:p14="http://schemas.microsoft.com/office/powerpoint/2010/main" xmlns="" val="12585914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ED273B9-7AD3-4660-BAAE-89C878B954AF}" type="datetimeFigureOut">
              <a:rPr lang="en-US" smtClean="0"/>
              <a:pPr/>
              <a:t>11/25/2021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3A4DD73-E1E2-404B-B535-FD5BA7E4D01A}" type="slidenum">
              <a:rPr lang="en-US" smtClean="0"/>
              <a:pPr/>
              <a:t>‹#›</a:t>
            </a:fld>
            <a:endParaRPr lang="en-US" dirty="0"/>
          </a:p>
        </p:txBody>
      </p:sp>
    </p:spTree>
    <p:extLst>
      <p:ext uri="{BB962C8B-B14F-4D97-AF65-F5344CB8AC3E}">
        <p14:creationId xmlns:p14="http://schemas.microsoft.com/office/powerpoint/2010/main" xmlns="" val="16825281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ED273B9-7AD3-4660-BAAE-89C878B954AF}" type="datetimeFigureOut">
              <a:rPr lang="en-US" smtClean="0"/>
              <a:pPr/>
              <a:t>11/25/2021</a:t>
            </a:fld>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3A4DD73-E1E2-404B-B535-FD5BA7E4D01A}" type="slidenum">
              <a:rPr lang="en-US" smtClean="0"/>
              <a:pPr/>
              <a:t>‹#›</a:t>
            </a:fld>
            <a:endParaRPr lang="en-US" dirty="0"/>
          </a:p>
        </p:txBody>
      </p:sp>
    </p:spTree>
    <p:extLst>
      <p:ext uri="{BB962C8B-B14F-4D97-AF65-F5344CB8AC3E}">
        <p14:creationId xmlns:p14="http://schemas.microsoft.com/office/powerpoint/2010/main" xmlns="" val="88856619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
          <p:cNvSpPr txBox="1">
            <a:spLocks noGrp="1"/>
          </p:cNvSpPr>
          <p:nvPr>
            <p:ph type="ctrTitle"/>
          </p:nvPr>
        </p:nvSpPr>
        <p:spPr>
          <a:xfrm>
            <a:off x="247650" y="76200"/>
            <a:ext cx="8610600" cy="3048000"/>
          </a:xfrm>
          <a:prstGeom prst="rect">
            <a:avLst/>
          </a:prstGeom>
          <a:noFill/>
          <a:ln>
            <a:noFill/>
          </a:ln>
        </p:spPr>
        <p:txBody>
          <a:bodyPr spcFirstLastPara="1" wrap="square" lIns="91425" tIns="45700" rIns="91425" bIns="45700" anchor="ctr" anchorCtr="0">
            <a:noAutofit/>
          </a:bodyPr>
          <a:lstStyle/>
          <a:p>
            <a:pPr>
              <a:buClr>
                <a:srgbClr val="2A14AC"/>
              </a:buClr>
              <a:buSzPts val="4800"/>
            </a:pPr>
            <a:r>
              <a:rPr lang="en-US" sz="4800" b="1" dirty="0"/>
              <a:t>Operating System(22516</a:t>
            </a:r>
            <a:r>
              <a:rPr lang="en-US" sz="4800" b="1" dirty="0" smtClean="0"/>
              <a:t>)</a:t>
            </a:r>
            <a:br>
              <a:rPr lang="en-US" sz="4800" b="1" dirty="0" smtClean="0"/>
            </a:br>
            <a:r>
              <a:rPr lang="en-US" sz="4800" b="1" dirty="0" smtClean="0"/>
              <a:t/>
            </a:r>
            <a:br>
              <a:rPr lang="en-US" sz="4800" b="1" dirty="0" smtClean="0"/>
            </a:br>
            <a:r>
              <a:rPr lang="en-US" sz="4000" dirty="0" smtClean="0">
                <a:ln w="1905"/>
                <a:solidFill>
                  <a:schemeClr val="tx1"/>
                </a:solidFill>
                <a:effectLst>
                  <a:innerShdw blurRad="69850" dist="43180" dir="5400000">
                    <a:srgbClr val="000000">
                      <a:alpha val="65000"/>
                    </a:srgbClr>
                  </a:innerShdw>
                </a:effectLst>
              </a:rPr>
              <a:t>Unit-6 File </a:t>
            </a:r>
            <a:r>
              <a:rPr lang="en-US" sz="4000" dirty="0">
                <a:ln w="1905"/>
                <a:solidFill>
                  <a:schemeClr val="tx1"/>
                </a:solidFill>
                <a:effectLst>
                  <a:innerShdw blurRad="69850" dist="43180" dir="5400000">
                    <a:srgbClr val="000000">
                      <a:alpha val="65000"/>
                    </a:srgbClr>
                  </a:innerShdw>
                </a:effectLst>
              </a:rPr>
              <a:t>Management </a:t>
            </a:r>
            <a:r>
              <a:rPr lang="en-IN" sz="4000" dirty="0" smtClean="0"/>
              <a:t>					</a:t>
            </a:r>
            <a:br>
              <a:rPr lang="en-IN" sz="4000" dirty="0" smtClean="0"/>
            </a:br>
            <a:r>
              <a:rPr lang="en-IN" sz="4000" dirty="0"/>
              <a:t>	</a:t>
            </a:r>
            <a:r>
              <a:rPr lang="en-IN" sz="4000" dirty="0" smtClean="0"/>
              <a:t>						</a:t>
            </a:r>
            <a:r>
              <a:rPr lang="en-US" altLang="en-US" sz="3200" b="1" dirty="0" smtClean="0"/>
              <a:t>Marks: 10</a:t>
            </a:r>
            <a:endParaRPr sz="4800" b="1" dirty="0">
              <a:solidFill>
                <a:srgbClr val="2A14AC"/>
              </a:solidFill>
              <a:latin typeface="Calibri"/>
              <a:ea typeface="Calibri"/>
              <a:cs typeface="Calibri"/>
              <a:sym typeface="Calibri"/>
            </a:endParaRPr>
          </a:p>
        </p:txBody>
      </p:sp>
      <p:sp>
        <p:nvSpPr>
          <p:cNvPr id="89" name="Google Shape;89;p1"/>
          <p:cNvSpPr txBox="1">
            <a:spLocks noGrp="1"/>
          </p:cNvSpPr>
          <p:nvPr>
            <p:ph type="subTitle" idx="1"/>
          </p:nvPr>
        </p:nvSpPr>
        <p:spPr>
          <a:xfrm>
            <a:off x="1371600" y="3810000"/>
            <a:ext cx="6400800" cy="2344968"/>
          </a:xfrm>
          <a:prstGeom prst="rect">
            <a:avLst/>
          </a:prstGeom>
          <a:ln/>
        </p:spPr>
        <p:style>
          <a:lnRef idx="0">
            <a:schemeClr val="accent3"/>
          </a:lnRef>
          <a:fillRef idx="3">
            <a:schemeClr val="accent3"/>
          </a:fillRef>
          <a:effectRef idx="3">
            <a:schemeClr val="accent3"/>
          </a:effectRef>
          <a:fontRef idx="minor">
            <a:schemeClr val="lt1"/>
          </a:fontRef>
        </p:style>
        <p:txBody>
          <a:bodyPr spcFirstLastPara="1" wrap="square" lIns="91425" tIns="45700" rIns="91425" bIns="45700" anchor="t" anchorCtr="0">
            <a:noAutofit/>
          </a:bodyPr>
          <a:lstStyle/>
          <a:p>
            <a:pPr marL="0" lvl="0" indent="0" algn="ctr" rtl="0">
              <a:spcBef>
                <a:spcPts val="0"/>
              </a:spcBef>
              <a:spcAft>
                <a:spcPts val="0"/>
              </a:spcAft>
              <a:buClr>
                <a:srgbClr val="262626"/>
              </a:buClr>
              <a:buSzPts val="2000"/>
              <a:buNone/>
            </a:pPr>
            <a:r>
              <a:rPr lang="en-IN" sz="2400" dirty="0">
                <a:solidFill>
                  <a:schemeClr val="tx1"/>
                </a:solidFill>
                <a:latin typeface="Calibri"/>
                <a:ea typeface="Calibri"/>
                <a:cs typeface="Calibri"/>
                <a:sym typeface="Calibri"/>
              </a:rPr>
              <a:t>Prepared by:</a:t>
            </a:r>
            <a:endParaRPr dirty="0">
              <a:solidFill>
                <a:schemeClr val="tx1"/>
              </a:solidFill>
              <a:latin typeface="Calibri"/>
              <a:ea typeface="Calibri"/>
              <a:cs typeface="Calibri"/>
              <a:sym typeface="Calibri"/>
            </a:endParaRPr>
          </a:p>
          <a:p>
            <a:pPr marL="0" lvl="0" indent="0" algn="ctr" rtl="0">
              <a:spcBef>
                <a:spcPts val="0"/>
              </a:spcBef>
              <a:spcAft>
                <a:spcPts val="0"/>
              </a:spcAft>
              <a:buClr>
                <a:srgbClr val="262626"/>
              </a:buClr>
              <a:buSzPts val="2800"/>
              <a:buNone/>
            </a:pPr>
            <a:r>
              <a:rPr lang="en-IN" b="1" dirty="0" err="1">
                <a:solidFill>
                  <a:schemeClr val="tx1"/>
                </a:solidFill>
                <a:latin typeface="Calibri"/>
                <a:ea typeface="Calibri"/>
                <a:cs typeface="Calibri"/>
                <a:sym typeface="Calibri"/>
              </a:rPr>
              <a:t>Mrs.</a:t>
            </a:r>
            <a:r>
              <a:rPr lang="en-IN" b="1" dirty="0">
                <a:solidFill>
                  <a:schemeClr val="tx1"/>
                </a:solidFill>
                <a:latin typeface="Calibri"/>
                <a:ea typeface="Calibri"/>
                <a:cs typeface="Calibri"/>
                <a:sym typeface="Calibri"/>
              </a:rPr>
              <a:t> </a:t>
            </a:r>
            <a:r>
              <a:rPr lang="en-IN" b="1" dirty="0" err="1">
                <a:solidFill>
                  <a:schemeClr val="tx1"/>
                </a:solidFill>
                <a:latin typeface="Calibri"/>
                <a:ea typeface="Calibri"/>
                <a:cs typeface="Calibri"/>
                <a:sym typeface="Calibri"/>
              </a:rPr>
              <a:t>Kousar</a:t>
            </a:r>
            <a:r>
              <a:rPr lang="en-IN" b="1" dirty="0">
                <a:solidFill>
                  <a:schemeClr val="tx1"/>
                </a:solidFill>
                <a:latin typeface="Calibri"/>
                <a:ea typeface="Calibri"/>
                <a:cs typeface="Calibri"/>
                <a:sym typeface="Calibri"/>
              </a:rPr>
              <a:t> </a:t>
            </a:r>
            <a:r>
              <a:rPr lang="en-IN" b="1" dirty="0" err="1">
                <a:solidFill>
                  <a:schemeClr val="tx1"/>
                </a:solidFill>
                <a:latin typeface="Calibri"/>
                <a:ea typeface="Calibri"/>
                <a:cs typeface="Calibri"/>
                <a:sym typeface="Calibri"/>
              </a:rPr>
              <a:t>Ayub</a:t>
            </a:r>
            <a:r>
              <a:rPr lang="en-IN" b="1" dirty="0">
                <a:solidFill>
                  <a:schemeClr val="tx1"/>
                </a:solidFill>
                <a:latin typeface="Calibri"/>
                <a:ea typeface="Calibri"/>
                <a:cs typeface="Calibri"/>
                <a:sym typeface="Calibri"/>
              </a:rPr>
              <a:t> A.</a:t>
            </a:r>
            <a:endParaRPr sz="4000" b="1" dirty="0">
              <a:solidFill>
                <a:schemeClr val="tx1"/>
              </a:solidFill>
              <a:latin typeface="Calibri"/>
              <a:ea typeface="Calibri"/>
              <a:cs typeface="Calibri"/>
              <a:sym typeface="Calibri"/>
            </a:endParaRPr>
          </a:p>
          <a:p>
            <a:pPr marL="0" lvl="0" indent="0" algn="ctr" rtl="0">
              <a:spcBef>
                <a:spcPts val="0"/>
              </a:spcBef>
              <a:spcAft>
                <a:spcPts val="0"/>
              </a:spcAft>
              <a:buClr>
                <a:srgbClr val="262626"/>
              </a:buClr>
              <a:buSzPts val="2400"/>
              <a:buNone/>
            </a:pPr>
            <a:r>
              <a:rPr lang="en-IN" sz="2800" dirty="0">
                <a:solidFill>
                  <a:schemeClr val="tx1"/>
                </a:solidFill>
                <a:latin typeface="Calibri"/>
                <a:ea typeface="Calibri"/>
                <a:cs typeface="Calibri"/>
                <a:sym typeface="Calibri"/>
              </a:rPr>
              <a:t>Lecturer(Selection Grade</a:t>
            </a:r>
            <a:r>
              <a:rPr lang="en-IN" sz="2800" dirty="0" smtClean="0">
                <a:solidFill>
                  <a:schemeClr val="tx1"/>
                </a:solidFill>
                <a:latin typeface="Calibri"/>
                <a:ea typeface="Calibri"/>
                <a:cs typeface="Calibri"/>
                <a:sym typeface="Calibri"/>
              </a:rPr>
              <a:t>)</a:t>
            </a:r>
          </a:p>
          <a:p>
            <a:pPr lvl="0">
              <a:spcBef>
                <a:spcPts val="0"/>
              </a:spcBef>
              <a:buClr>
                <a:srgbClr val="262626"/>
              </a:buClr>
              <a:buSzPts val="2400"/>
            </a:pPr>
            <a:r>
              <a:rPr lang="en-US" sz="2800" dirty="0">
                <a:solidFill>
                  <a:schemeClr val="tx1"/>
                </a:solidFill>
              </a:rPr>
              <a:t>Computer </a:t>
            </a:r>
            <a:r>
              <a:rPr lang="en-US" sz="2800" dirty="0" err="1">
                <a:solidFill>
                  <a:schemeClr val="tx1"/>
                </a:solidFill>
              </a:rPr>
              <a:t>Engg</a:t>
            </a:r>
            <a:r>
              <a:rPr lang="en-US" sz="2800" dirty="0">
                <a:solidFill>
                  <a:schemeClr val="tx1"/>
                </a:solidFill>
              </a:rPr>
              <a:t>.  </a:t>
            </a:r>
            <a:r>
              <a:rPr lang="en-US" sz="2800" dirty="0" err="1">
                <a:solidFill>
                  <a:schemeClr val="tx1"/>
                </a:solidFill>
              </a:rPr>
              <a:t>Dept</a:t>
            </a:r>
            <a:r>
              <a:rPr lang="en-IN" sz="2800" dirty="0" smtClean="0">
                <a:solidFill>
                  <a:schemeClr val="tx1"/>
                </a:solidFill>
                <a:latin typeface="Calibri"/>
                <a:ea typeface="Calibri"/>
                <a:cs typeface="Calibri"/>
                <a:sym typeface="Calibri"/>
              </a:rPr>
              <a:t> </a:t>
            </a:r>
            <a:endParaRPr sz="3600" dirty="0">
              <a:solidFill>
                <a:schemeClr val="tx1"/>
              </a:solidFill>
            </a:endParaRPr>
          </a:p>
          <a:p>
            <a:pPr marL="0" lvl="0" indent="0" algn="ctr" rtl="0">
              <a:spcBef>
                <a:spcPts val="0"/>
              </a:spcBef>
              <a:spcAft>
                <a:spcPts val="0"/>
              </a:spcAft>
              <a:buClr>
                <a:srgbClr val="262626"/>
              </a:buClr>
              <a:buSzPts val="2400"/>
              <a:buNone/>
            </a:pPr>
            <a:r>
              <a:rPr lang="en-IN" sz="2800" dirty="0">
                <a:solidFill>
                  <a:schemeClr val="tx1"/>
                </a:solidFill>
                <a:latin typeface="Calibri"/>
                <a:ea typeface="Calibri"/>
                <a:cs typeface="Calibri"/>
                <a:sym typeface="Calibri"/>
              </a:rPr>
              <a:t>M. H. </a:t>
            </a:r>
            <a:r>
              <a:rPr lang="en-IN" sz="2800" dirty="0" err="1">
                <a:solidFill>
                  <a:schemeClr val="tx1"/>
                </a:solidFill>
                <a:latin typeface="Calibri"/>
                <a:ea typeface="Calibri"/>
                <a:cs typeface="Calibri"/>
                <a:sym typeface="Calibri"/>
              </a:rPr>
              <a:t>Saboo</a:t>
            </a:r>
            <a:r>
              <a:rPr lang="en-IN" sz="2800" dirty="0">
                <a:solidFill>
                  <a:schemeClr val="tx1"/>
                </a:solidFill>
                <a:latin typeface="Calibri"/>
                <a:ea typeface="Calibri"/>
                <a:cs typeface="Calibri"/>
                <a:sym typeface="Calibri"/>
              </a:rPr>
              <a:t> </a:t>
            </a:r>
            <a:r>
              <a:rPr lang="en-IN" sz="2800" dirty="0" err="1">
                <a:solidFill>
                  <a:schemeClr val="tx1"/>
                </a:solidFill>
                <a:latin typeface="Calibri"/>
                <a:ea typeface="Calibri"/>
                <a:cs typeface="Calibri"/>
                <a:sym typeface="Calibri"/>
              </a:rPr>
              <a:t>Siddik</a:t>
            </a:r>
            <a:r>
              <a:rPr lang="en-IN" sz="2800" dirty="0">
                <a:solidFill>
                  <a:schemeClr val="tx1"/>
                </a:solidFill>
                <a:latin typeface="Calibri"/>
                <a:ea typeface="Calibri"/>
                <a:cs typeface="Calibri"/>
                <a:sym typeface="Calibri"/>
              </a:rPr>
              <a:t> Polytechnic</a:t>
            </a:r>
            <a:endParaRPr sz="3600" dirty="0">
              <a:solidFill>
                <a:schemeClr val="tx1"/>
              </a:solidFill>
              <a:latin typeface="Calibri"/>
              <a:ea typeface="Calibri"/>
              <a:cs typeface="Calibri"/>
              <a:sym typeface="Calibri"/>
            </a:endParaRPr>
          </a:p>
        </p:txBody>
      </p:sp>
      <p:sp>
        <p:nvSpPr>
          <p:cNvPr id="90" name="Google Shape;90;p1"/>
          <p:cNvSpPr txBox="1">
            <a:spLocks noGrp="1"/>
          </p:cNvSpPr>
          <p:nvPr>
            <p:ph type="sldNum" idx="12"/>
          </p:nvPr>
        </p:nvSpPr>
        <p:spPr>
          <a:xfrm>
            <a:off x="6553200" y="6479227"/>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pPr marL="0" lvl="0" indent="0" algn="r" rtl="0">
                <a:spcBef>
                  <a:spcPts val="0"/>
                </a:spcBef>
                <a:spcAft>
                  <a:spcPts val="0"/>
                </a:spcAft>
                <a:buNone/>
              </a:pPr>
              <a:t>1</a:t>
            </a:fld>
            <a:endParaRPr/>
          </a:p>
        </p:txBody>
      </p:sp>
      <p:cxnSp>
        <p:nvCxnSpPr>
          <p:cNvPr id="5" name="Straight Connector 4"/>
          <p:cNvCxnSpPr/>
          <p:nvPr/>
        </p:nvCxnSpPr>
        <p:spPr>
          <a:xfrm>
            <a:off x="0" y="3429000"/>
            <a:ext cx="9144000" cy="0"/>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xmlns="" val="120452732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2"/>
          <p:cNvSpPr txBox="1">
            <a:spLocks noGrp="1"/>
          </p:cNvSpPr>
          <p:nvPr>
            <p:ph type="title"/>
          </p:nvPr>
        </p:nvSpPr>
        <p:spPr>
          <a:xfrm>
            <a:off x="0" y="0"/>
            <a:ext cx="9144000" cy="1066800"/>
          </a:xfrm>
          <a:prstGeom prst="rect">
            <a:avLst/>
          </a:prstGeom>
          <a:ln/>
        </p:spPr>
        <p:style>
          <a:lnRef idx="0">
            <a:schemeClr val="accent3"/>
          </a:lnRef>
          <a:fillRef idx="3">
            <a:schemeClr val="accent3"/>
          </a:fillRef>
          <a:effectRef idx="3">
            <a:schemeClr val="accent3"/>
          </a:effectRef>
          <a:fontRef idx="minor">
            <a:schemeClr val="lt1"/>
          </a:fontRef>
        </p:style>
        <p:txBody>
          <a:bodyPr spcFirstLastPara="1" wrap="square" lIns="91425" tIns="45700" rIns="91425" bIns="45700" anchor="ctr" anchorCtr="0">
            <a:normAutofit/>
          </a:bodyPr>
          <a:lstStyle/>
          <a:p>
            <a:pPr marL="0" lvl="0" indent="0" algn="ctr" rtl="0">
              <a:spcBef>
                <a:spcPts val="0"/>
              </a:spcBef>
              <a:spcAft>
                <a:spcPts val="0"/>
              </a:spcAft>
              <a:buClr>
                <a:srgbClr val="2A14AC"/>
              </a:buClr>
              <a:buSzPts val="4000"/>
              <a:buFont typeface="Calibri"/>
              <a:buNone/>
            </a:pPr>
            <a:r>
              <a:rPr lang="en-IN" b="1" dirty="0" smtClean="0">
                <a:solidFill>
                  <a:srgbClr val="2A14AC"/>
                </a:solidFill>
                <a:latin typeface="Calibri"/>
                <a:ea typeface="Calibri"/>
                <a:cs typeface="Calibri"/>
                <a:sym typeface="Calibri"/>
              </a:rPr>
              <a:t>Learning Outcomes</a:t>
            </a:r>
            <a:endParaRPr b="1" dirty="0">
              <a:solidFill>
                <a:srgbClr val="2A14AC"/>
              </a:solidFill>
              <a:latin typeface="Calibri"/>
              <a:ea typeface="Calibri"/>
              <a:cs typeface="Calibri"/>
              <a:sym typeface="Calibri"/>
            </a:endParaRPr>
          </a:p>
        </p:txBody>
      </p:sp>
      <p:sp>
        <p:nvSpPr>
          <p:cNvPr id="104" name="Google Shape;104;p2"/>
          <p:cNvSpPr txBox="1">
            <a:spLocks noGrp="1"/>
          </p:cNvSpPr>
          <p:nvPr>
            <p:ph type="body" idx="1"/>
          </p:nvPr>
        </p:nvSpPr>
        <p:spPr>
          <a:xfrm>
            <a:off x="0" y="1524000"/>
            <a:ext cx="9144000" cy="5257800"/>
          </a:xfrm>
          <a:prstGeom prst="rect">
            <a:avLst/>
          </a:prstGeom>
          <a:noFill/>
          <a:ln>
            <a:noFill/>
          </a:ln>
        </p:spPr>
        <p:txBody>
          <a:bodyPr spcFirstLastPara="1" wrap="square" lIns="91425" tIns="45700" rIns="91425" bIns="45700" anchor="t" anchorCtr="0">
            <a:normAutofit/>
          </a:bodyPr>
          <a:lstStyle/>
          <a:p>
            <a:pPr marL="0" lvl="0" indent="0" algn="l" rtl="0">
              <a:spcBef>
                <a:spcPts val="1200"/>
              </a:spcBef>
              <a:spcAft>
                <a:spcPts val="1200"/>
              </a:spcAft>
              <a:buClr>
                <a:schemeClr val="dk1"/>
              </a:buClr>
              <a:buSzPts val="2800"/>
              <a:buNone/>
            </a:pPr>
            <a:r>
              <a:rPr lang="en-IN" sz="4400" dirty="0" smtClean="0">
                <a:latin typeface="+mj-lt"/>
              </a:rPr>
              <a:t>The learners will be able to:</a:t>
            </a:r>
          </a:p>
          <a:p>
            <a:pPr marL="514350" lvl="0" indent="-514350" algn="l" rtl="0">
              <a:spcBef>
                <a:spcPts val="1200"/>
              </a:spcBef>
              <a:spcAft>
                <a:spcPts val="1200"/>
              </a:spcAft>
              <a:buClr>
                <a:schemeClr val="dk1"/>
              </a:buClr>
              <a:buSzPts val="2800"/>
              <a:buFont typeface="+mj-lt"/>
              <a:buAutoNum type="arabicPeriod"/>
            </a:pPr>
            <a:r>
              <a:rPr lang="en-IN" sz="4400" dirty="0" smtClean="0">
                <a:solidFill>
                  <a:srgbClr val="FF0000"/>
                </a:solidFill>
                <a:latin typeface="+mj-lt"/>
                <a:cs typeface="Times New Roman" pitchFamily="18" charset="0"/>
              </a:rPr>
              <a:t>Basic File management. </a:t>
            </a:r>
          </a:p>
          <a:p>
            <a:pPr marL="514350" lvl="0" indent="-514350" algn="l" rtl="0">
              <a:spcBef>
                <a:spcPts val="1200"/>
              </a:spcBef>
              <a:spcAft>
                <a:spcPts val="1200"/>
              </a:spcAft>
              <a:buClr>
                <a:schemeClr val="dk1"/>
              </a:buClr>
              <a:buSzPts val="2800"/>
              <a:buFont typeface="+mj-lt"/>
              <a:buAutoNum type="arabicPeriod"/>
            </a:pPr>
            <a:r>
              <a:rPr lang="en-IN" sz="4400" dirty="0" smtClean="0">
                <a:solidFill>
                  <a:srgbClr val="FF0000"/>
                </a:solidFill>
                <a:latin typeface="+mj-lt"/>
              </a:rPr>
              <a:t>Different File Access Methods.</a:t>
            </a:r>
          </a:p>
          <a:p>
            <a:pPr marL="514350" lvl="0" indent="-514350" algn="l" rtl="0">
              <a:spcBef>
                <a:spcPts val="1200"/>
              </a:spcBef>
              <a:spcAft>
                <a:spcPts val="1200"/>
              </a:spcAft>
              <a:buClr>
                <a:schemeClr val="dk1"/>
              </a:buClr>
              <a:buSzPts val="2800"/>
              <a:buFont typeface="+mj-lt"/>
              <a:buAutoNum type="arabicPeriod"/>
            </a:pPr>
            <a:r>
              <a:rPr lang="en-IN" sz="4400" dirty="0" smtClean="0">
                <a:solidFill>
                  <a:srgbClr val="FF0000"/>
                </a:solidFill>
                <a:latin typeface="+mj-lt"/>
              </a:rPr>
              <a:t>Directory structure.</a:t>
            </a:r>
          </a:p>
          <a:p>
            <a:pPr marL="342900" lvl="0" indent="-342900" algn="l" rtl="0">
              <a:spcBef>
                <a:spcPts val="1200"/>
              </a:spcBef>
              <a:spcAft>
                <a:spcPts val="1200"/>
              </a:spcAft>
              <a:buClr>
                <a:schemeClr val="dk1"/>
              </a:buClr>
              <a:buSzPts val="2800"/>
              <a:buFont typeface="Noto Sans Symbols"/>
              <a:buChar char="▪"/>
            </a:pPr>
            <a:endParaRPr sz="4400" dirty="0">
              <a:solidFill>
                <a:srgbClr val="C00000"/>
              </a:solidFill>
              <a:latin typeface="+mj-lt"/>
            </a:endParaRPr>
          </a:p>
        </p:txBody>
      </p:sp>
      <p:sp>
        <p:nvSpPr>
          <p:cNvPr id="105" name="Google Shape;105;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pPr marL="0" lvl="0" indent="0" algn="r" rtl="0">
                <a:spcBef>
                  <a:spcPts val="0"/>
                </a:spcBef>
                <a:spcAft>
                  <a:spcPts val="0"/>
                </a:spcAft>
                <a:buNone/>
              </a:pPr>
              <a:t>2</a:t>
            </a:fld>
            <a:endParaRPr/>
          </a:p>
        </p:txBody>
      </p:sp>
    </p:spTree>
    <p:extLst>
      <p:ext uri="{BB962C8B-B14F-4D97-AF65-F5344CB8AC3E}">
        <p14:creationId xmlns:p14="http://schemas.microsoft.com/office/powerpoint/2010/main" xmlns="" val="38281575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104">
                                            <p:txEl>
                                              <p:pRg st="0" end="0"/>
                                            </p:txEl>
                                          </p:spTgt>
                                        </p:tgtEl>
                                        <p:attrNameLst>
                                          <p:attrName>style.visibility</p:attrName>
                                        </p:attrNameLst>
                                      </p:cBhvr>
                                      <p:to>
                                        <p:strVal val="visible"/>
                                      </p:to>
                                    </p:set>
                                    <p:animEffect transition="in" filter="fade">
                                      <p:cBhvr>
                                        <p:cTn id="7" dur="1000"/>
                                        <p:tgtEl>
                                          <p:spTgt spid="104">
                                            <p:txEl>
                                              <p:pRg st="0" end="0"/>
                                            </p:txEl>
                                          </p:spTgt>
                                        </p:tgtEl>
                                      </p:cBhvr>
                                    </p:animEffect>
                                    <p:anim calcmode="lin" valueType="num">
                                      <p:cBhvr>
                                        <p:cTn id="8" dur="1000" fill="hold"/>
                                        <p:tgtEl>
                                          <p:spTgt spid="10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0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104">
                                            <p:txEl>
                                              <p:pRg st="1" end="1"/>
                                            </p:txEl>
                                          </p:spTgt>
                                        </p:tgtEl>
                                        <p:attrNameLst>
                                          <p:attrName>style.visibility</p:attrName>
                                        </p:attrNameLst>
                                      </p:cBhvr>
                                      <p:to>
                                        <p:strVal val="visible"/>
                                      </p:to>
                                    </p:set>
                                    <p:animEffect transition="in" filter="fade">
                                      <p:cBhvr>
                                        <p:cTn id="14" dur="1000"/>
                                        <p:tgtEl>
                                          <p:spTgt spid="104">
                                            <p:txEl>
                                              <p:pRg st="1" end="1"/>
                                            </p:txEl>
                                          </p:spTgt>
                                        </p:tgtEl>
                                      </p:cBhvr>
                                    </p:animEffect>
                                    <p:anim calcmode="lin" valueType="num">
                                      <p:cBhvr>
                                        <p:cTn id="15" dur="1000" fill="hold"/>
                                        <p:tgtEl>
                                          <p:spTgt spid="104">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104">
                                            <p:txEl>
                                              <p:pRg st="1" end="1"/>
                                            </p:txEl>
                                          </p:spTgt>
                                        </p:tgtEl>
                                        <p:attrNameLst>
                                          <p:attrName>ppt_y</p:attrName>
                                        </p:attrNameLst>
                                      </p:cBhvr>
                                      <p:tavLst>
                                        <p:tav tm="0">
                                          <p:val>
                                            <p:strVal val="#ppt_y+.1"/>
                                          </p:val>
                                        </p:tav>
                                        <p:tav tm="100000">
                                          <p:val>
                                            <p:strVal val="#ppt_y"/>
                                          </p:val>
                                        </p:tav>
                                      </p:tavLst>
                                    </p:anim>
                                  </p:childTnLst>
                                </p:cTn>
                              </p:par>
                            </p:childTnLst>
                          </p:cTn>
                        </p:par>
                        <p:par>
                          <p:cTn id="17" fill="hold">
                            <p:stCondLst>
                              <p:cond delay="1000"/>
                            </p:stCondLst>
                            <p:childTnLst>
                              <p:par>
                                <p:cTn id="18" presetID="42" presetClass="entr" presetSubtype="0" fill="hold" grpId="0" nodeType="afterEffect">
                                  <p:stCondLst>
                                    <p:cond delay="0"/>
                                  </p:stCondLst>
                                  <p:childTnLst>
                                    <p:set>
                                      <p:cBhvr>
                                        <p:cTn id="19" dur="1" fill="hold">
                                          <p:stCondLst>
                                            <p:cond delay="0"/>
                                          </p:stCondLst>
                                        </p:cTn>
                                        <p:tgtEl>
                                          <p:spTgt spid="104">
                                            <p:txEl>
                                              <p:pRg st="2" end="2"/>
                                            </p:txEl>
                                          </p:spTgt>
                                        </p:tgtEl>
                                        <p:attrNameLst>
                                          <p:attrName>style.visibility</p:attrName>
                                        </p:attrNameLst>
                                      </p:cBhvr>
                                      <p:to>
                                        <p:strVal val="visible"/>
                                      </p:to>
                                    </p:set>
                                    <p:animEffect transition="in" filter="fade">
                                      <p:cBhvr>
                                        <p:cTn id="20" dur="1000"/>
                                        <p:tgtEl>
                                          <p:spTgt spid="104">
                                            <p:txEl>
                                              <p:pRg st="2" end="2"/>
                                            </p:txEl>
                                          </p:spTgt>
                                        </p:tgtEl>
                                      </p:cBhvr>
                                    </p:animEffect>
                                    <p:anim calcmode="lin" valueType="num">
                                      <p:cBhvr>
                                        <p:cTn id="21" dur="1000" fill="hold"/>
                                        <p:tgtEl>
                                          <p:spTgt spid="104">
                                            <p:txEl>
                                              <p:pRg st="2" end="2"/>
                                            </p:txEl>
                                          </p:spTgt>
                                        </p:tgtEl>
                                        <p:attrNameLst>
                                          <p:attrName>ppt_x</p:attrName>
                                        </p:attrNameLst>
                                      </p:cBhvr>
                                      <p:tavLst>
                                        <p:tav tm="0">
                                          <p:val>
                                            <p:strVal val="#ppt_x"/>
                                          </p:val>
                                        </p:tav>
                                        <p:tav tm="100000">
                                          <p:val>
                                            <p:strVal val="#ppt_x"/>
                                          </p:val>
                                        </p:tav>
                                      </p:tavLst>
                                    </p:anim>
                                    <p:anim calcmode="lin" valueType="num">
                                      <p:cBhvr>
                                        <p:cTn id="22" dur="1000" fill="hold"/>
                                        <p:tgtEl>
                                          <p:spTgt spid="104">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42" presetClass="entr" presetSubtype="0" fill="hold" grpId="0" nodeType="clickEffect">
                                  <p:stCondLst>
                                    <p:cond delay="0"/>
                                  </p:stCondLst>
                                  <p:childTnLst>
                                    <p:set>
                                      <p:cBhvr>
                                        <p:cTn id="26" dur="1" fill="hold">
                                          <p:stCondLst>
                                            <p:cond delay="0"/>
                                          </p:stCondLst>
                                        </p:cTn>
                                        <p:tgtEl>
                                          <p:spTgt spid="104">
                                            <p:txEl>
                                              <p:pRg st="3" end="3"/>
                                            </p:txEl>
                                          </p:spTgt>
                                        </p:tgtEl>
                                        <p:attrNameLst>
                                          <p:attrName>style.visibility</p:attrName>
                                        </p:attrNameLst>
                                      </p:cBhvr>
                                      <p:to>
                                        <p:strVal val="visible"/>
                                      </p:to>
                                    </p:set>
                                    <p:animEffect transition="in" filter="fade">
                                      <p:cBhvr>
                                        <p:cTn id="27" dur="1000"/>
                                        <p:tgtEl>
                                          <p:spTgt spid="104">
                                            <p:txEl>
                                              <p:pRg st="3" end="3"/>
                                            </p:txEl>
                                          </p:spTgt>
                                        </p:tgtEl>
                                      </p:cBhvr>
                                    </p:animEffect>
                                    <p:anim calcmode="lin" valueType="num">
                                      <p:cBhvr>
                                        <p:cTn id="28" dur="1000" fill="hold"/>
                                        <p:tgtEl>
                                          <p:spTgt spid="104">
                                            <p:txEl>
                                              <p:pRg st="3" end="3"/>
                                            </p:txEl>
                                          </p:spTgt>
                                        </p:tgtEl>
                                        <p:attrNameLst>
                                          <p:attrName>ppt_x</p:attrName>
                                        </p:attrNameLst>
                                      </p:cBhvr>
                                      <p:tavLst>
                                        <p:tav tm="0">
                                          <p:val>
                                            <p:strVal val="#ppt_x"/>
                                          </p:val>
                                        </p:tav>
                                        <p:tav tm="100000">
                                          <p:val>
                                            <p:strVal val="#ppt_x"/>
                                          </p:val>
                                        </p:tav>
                                      </p:tavLst>
                                    </p:anim>
                                    <p:anim calcmode="lin" valueType="num">
                                      <p:cBhvr>
                                        <p:cTn id="29" dur="1000" fill="hold"/>
                                        <p:tgtEl>
                                          <p:spTgt spid="104">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2"/>
          <p:cNvSpPr txBox="1">
            <a:spLocks noGrp="1"/>
          </p:cNvSpPr>
          <p:nvPr>
            <p:ph type="title"/>
          </p:nvPr>
        </p:nvSpPr>
        <p:spPr>
          <a:xfrm>
            <a:off x="0" y="0"/>
            <a:ext cx="9144000" cy="1066800"/>
          </a:xfrm>
          <a:prstGeom prst="rect">
            <a:avLst/>
          </a:prstGeom>
          <a:ln/>
        </p:spPr>
        <p:style>
          <a:lnRef idx="0">
            <a:schemeClr val="accent3"/>
          </a:lnRef>
          <a:fillRef idx="3">
            <a:schemeClr val="accent3"/>
          </a:fillRef>
          <a:effectRef idx="3">
            <a:schemeClr val="accent3"/>
          </a:effectRef>
          <a:fontRef idx="minor">
            <a:schemeClr val="lt1"/>
          </a:fontRef>
        </p:style>
        <p:txBody>
          <a:bodyPr spcFirstLastPara="1" wrap="square" lIns="91425" tIns="45700" rIns="91425" bIns="45700" anchor="ctr" anchorCtr="0">
            <a:normAutofit/>
          </a:bodyPr>
          <a:lstStyle/>
          <a:p>
            <a:pPr marL="0" lvl="0" indent="0" algn="ctr" rtl="0">
              <a:spcBef>
                <a:spcPts val="0"/>
              </a:spcBef>
              <a:spcAft>
                <a:spcPts val="0"/>
              </a:spcAft>
              <a:buClr>
                <a:srgbClr val="2A14AC"/>
              </a:buClr>
              <a:buSzPts val="4000"/>
              <a:buFont typeface="Calibri"/>
              <a:buNone/>
            </a:pPr>
            <a:r>
              <a:rPr lang="en-IN" b="1" dirty="0" smtClean="0">
                <a:solidFill>
                  <a:srgbClr val="2A14AC"/>
                </a:solidFill>
                <a:latin typeface="Calibri"/>
                <a:ea typeface="Calibri"/>
                <a:cs typeface="Calibri"/>
                <a:sym typeface="Calibri"/>
              </a:rPr>
              <a:t> File</a:t>
            </a:r>
            <a:endParaRPr b="1" dirty="0">
              <a:solidFill>
                <a:srgbClr val="2A14AC"/>
              </a:solidFill>
              <a:latin typeface="Calibri"/>
              <a:ea typeface="Calibri"/>
              <a:cs typeface="Calibri"/>
              <a:sym typeface="Calibri"/>
            </a:endParaRPr>
          </a:p>
        </p:txBody>
      </p:sp>
      <p:sp>
        <p:nvSpPr>
          <p:cNvPr id="104" name="Google Shape;104;p2"/>
          <p:cNvSpPr txBox="1">
            <a:spLocks noGrp="1"/>
          </p:cNvSpPr>
          <p:nvPr>
            <p:ph type="body" idx="1"/>
          </p:nvPr>
        </p:nvSpPr>
        <p:spPr>
          <a:xfrm>
            <a:off x="0" y="1047750"/>
            <a:ext cx="9144000" cy="5943600"/>
          </a:xfrm>
          <a:prstGeom prst="rect">
            <a:avLst/>
          </a:prstGeom>
          <a:noFill/>
          <a:ln>
            <a:noFill/>
          </a:ln>
        </p:spPr>
        <p:txBody>
          <a:bodyPr spcFirstLastPara="1" wrap="square" lIns="91425" tIns="45700" rIns="91425" bIns="45700" anchor="t" anchorCtr="0">
            <a:noAutofit/>
          </a:bodyPr>
          <a:lstStyle/>
          <a:p>
            <a:pPr marL="285750" indent="-285750" algn="just"/>
            <a:r>
              <a:rPr lang="en-US" sz="2400" dirty="0" smtClean="0"/>
              <a:t>A file is a named collection of related information that is recorded on secondary storage such as magnetic disks, magnetic tapes and optical disks.</a:t>
            </a:r>
          </a:p>
          <a:p>
            <a:pPr marL="285750" indent="-285750" algn="just"/>
            <a:endParaRPr lang="en-US" sz="2400" dirty="0" smtClean="0"/>
          </a:p>
          <a:p>
            <a:pPr marL="285750" indent="-285750" algn="just"/>
            <a:r>
              <a:rPr lang="en-US" sz="2400" dirty="0" smtClean="0"/>
              <a:t>Commonly files represent programs (source and object forms) and data. Data files may be numeric alphabetic, alphanumeric or binary.</a:t>
            </a:r>
          </a:p>
          <a:p>
            <a:pPr marL="285750" indent="-285750" algn="just"/>
            <a:endParaRPr lang="en-US" sz="2400" dirty="0" smtClean="0"/>
          </a:p>
          <a:p>
            <a:pPr marL="285750" indent="-285750" algn="just"/>
            <a:r>
              <a:rPr lang="en-US" sz="2400" dirty="0" smtClean="0"/>
              <a:t>In general a file is a sequence of bits, bytes lines or records whose meaning is defined by the file’s creator and user. The information in a file is defined by its creator.</a:t>
            </a:r>
          </a:p>
          <a:p>
            <a:pPr marL="285750" indent="-285750" algn="just"/>
            <a:endParaRPr lang="en-US" sz="2400" dirty="0" smtClean="0"/>
          </a:p>
          <a:p>
            <a:pPr marL="285750" indent="-285750" algn="just"/>
            <a:r>
              <a:rPr lang="en-US" sz="2400" dirty="0" smtClean="0"/>
              <a:t>Many different types of information may be stored in a file: Source programs, Object programs, Executable programs, Numeric Data, Text, Payroll records, Graphic Images, Sound recording and so on.</a:t>
            </a:r>
            <a:endParaRPr lang="en-US" sz="2400" dirty="0"/>
          </a:p>
        </p:txBody>
      </p:sp>
      <p:sp>
        <p:nvSpPr>
          <p:cNvPr id="105" name="Google Shape;105;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pPr marL="0" lvl="0" indent="0" algn="r" rtl="0">
                <a:spcBef>
                  <a:spcPts val="0"/>
                </a:spcBef>
                <a:spcAft>
                  <a:spcPts val="0"/>
                </a:spcAft>
                <a:buNone/>
              </a:pPr>
              <a:t>3</a:t>
            </a:fld>
            <a:endParaRPr/>
          </a:p>
        </p:txBody>
      </p:sp>
    </p:spTree>
    <p:extLst>
      <p:ext uri="{BB962C8B-B14F-4D97-AF65-F5344CB8AC3E}">
        <p14:creationId xmlns:p14="http://schemas.microsoft.com/office/powerpoint/2010/main" xmlns="" val="7237629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04">
                                            <p:txEl>
                                              <p:pRg st="0" end="0"/>
                                            </p:txEl>
                                          </p:spTgt>
                                        </p:tgtEl>
                                        <p:attrNameLst>
                                          <p:attrName>style.visibility</p:attrName>
                                        </p:attrNameLst>
                                      </p:cBhvr>
                                      <p:to>
                                        <p:strVal val="visible"/>
                                      </p:to>
                                    </p:set>
                                    <p:animEffect transition="in" filter="fade">
                                      <p:cBhvr>
                                        <p:cTn id="7" dur="1000"/>
                                        <p:tgtEl>
                                          <p:spTgt spid="104">
                                            <p:txEl>
                                              <p:pRg st="0" end="0"/>
                                            </p:txEl>
                                          </p:spTgt>
                                        </p:tgtEl>
                                      </p:cBhvr>
                                    </p:animEffect>
                                    <p:anim calcmode="lin" valueType="num">
                                      <p:cBhvr>
                                        <p:cTn id="8" dur="1000" fill="hold"/>
                                        <p:tgtEl>
                                          <p:spTgt spid="10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04">
                                            <p:txEl>
                                              <p:pRg st="0" end="0"/>
                                            </p:txEl>
                                          </p:spTgt>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grpId="0" nodeType="afterEffect">
                                  <p:stCondLst>
                                    <p:cond delay="0"/>
                                  </p:stCondLst>
                                  <p:childTnLst>
                                    <p:set>
                                      <p:cBhvr>
                                        <p:cTn id="12" dur="1" fill="hold">
                                          <p:stCondLst>
                                            <p:cond delay="0"/>
                                          </p:stCondLst>
                                        </p:cTn>
                                        <p:tgtEl>
                                          <p:spTgt spid="104">
                                            <p:txEl>
                                              <p:pRg st="2" end="2"/>
                                            </p:txEl>
                                          </p:spTgt>
                                        </p:tgtEl>
                                        <p:attrNameLst>
                                          <p:attrName>style.visibility</p:attrName>
                                        </p:attrNameLst>
                                      </p:cBhvr>
                                      <p:to>
                                        <p:strVal val="visible"/>
                                      </p:to>
                                    </p:set>
                                    <p:animEffect transition="in" filter="fade">
                                      <p:cBhvr>
                                        <p:cTn id="13" dur="1000"/>
                                        <p:tgtEl>
                                          <p:spTgt spid="104">
                                            <p:txEl>
                                              <p:pRg st="2" end="2"/>
                                            </p:txEl>
                                          </p:spTgt>
                                        </p:tgtEl>
                                      </p:cBhvr>
                                    </p:animEffect>
                                    <p:anim calcmode="lin" valueType="num">
                                      <p:cBhvr>
                                        <p:cTn id="14" dur="1000" fill="hold"/>
                                        <p:tgtEl>
                                          <p:spTgt spid="104">
                                            <p:txEl>
                                              <p:pRg st="2" end="2"/>
                                            </p:txEl>
                                          </p:spTgt>
                                        </p:tgtEl>
                                        <p:attrNameLst>
                                          <p:attrName>ppt_x</p:attrName>
                                        </p:attrNameLst>
                                      </p:cBhvr>
                                      <p:tavLst>
                                        <p:tav tm="0">
                                          <p:val>
                                            <p:strVal val="#ppt_x"/>
                                          </p:val>
                                        </p:tav>
                                        <p:tav tm="100000">
                                          <p:val>
                                            <p:strVal val="#ppt_x"/>
                                          </p:val>
                                        </p:tav>
                                      </p:tavLst>
                                    </p:anim>
                                    <p:anim calcmode="lin" valueType="num">
                                      <p:cBhvr>
                                        <p:cTn id="15" dur="1000" fill="hold"/>
                                        <p:tgtEl>
                                          <p:spTgt spid="104">
                                            <p:txEl>
                                              <p:pRg st="2" end="2"/>
                                            </p:txEl>
                                          </p:spTgt>
                                        </p:tgtEl>
                                        <p:attrNameLst>
                                          <p:attrName>ppt_y</p:attrName>
                                        </p:attrNameLst>
                                      </p:cBhvr>
                                      <p:tavLst>
                                        <p:tav tm="0">
                                          <p:val>
                                            <p:strVal val="#ppt_y+.1"/>
                                          </p:val>
                                        </p:tav>
                                        <p:tav tm="100000">
                                          <p:val>
                                            <p:strVal val="#ppt_y"/>
                                          </p:val>
                                        </p:tav>
                                      </p:tavLst>
                                    </p:anim>
                                  </p:childTnLst>
                                </p:cTn>
                              </p:par>
                            </p:childTnLst>
                          </p:cTn>
                        </p:par>
                        <p:par>
                          <p:cTn id="16" fill="hold">
                            <p:stCondLst>
                              <p:cond delay="2000"/>
                            </p:stCondLst>
                            <p:childTnLst>
                              <p:par>
                                <p:cTn id="17" presetID="42" presetClass="entr" presetSubtype="0" fill="hold" grpId="0" nodeType="afterEffect">
                                  <p:stCondLst>
                                    <p:cond delay="0"/>
                                  </p:stCondLst>
                                  <p:childTnLst>
                                    <p:set>
                                      <p:cBhvr>
                                        <p:cTn id="18" dur="1" fill="hold">
                                          <p:stCondLst>
                                            <p:cond delay="0"/>
                                          </p:stCondLst>
                                        </p:cTn>
                                        <p:tgtEl>
                                          <p:spTgt spid="104">
                                            <p:txEl>
                                              <p:pRg st="4" end="4"/>
                                            </p:txEl>
                                          </p:spTgt>
                                        </p:tgtEl>
                                        <p:attrNameLst>
                                          <p:attrName>style.visibility</p:attrName>
                                        </p:attrNameLst>
                                      </p:cBhvr>
                                      <p:to>
                                        <p:strVal val="visible"/>
                                      </p:to>
                                    </p:set>
                                    <p:animEffect transition="in" filter="fade">
                                      <p:cBhvr>
                                        <p:cTn id="19" dur="1000"/>
                                        <p:tgtEl>
                                          <p:spTgt spid="104">
                                            <p:txEl>
                                              <p:pRg st="4" end="4"/>
                                            </p:txEl>
                                          </p:spTgt>
                                        </p:tgtEl>
                                      </p:cBhvr>
                                    </p:animEffect>
                                    <p:anim calcmode="lin" valueType="num">
                                      <p:cBhvr>
                                        <p:cTn id="20" dur="1000" fill="hold"/>
                                        <p:tgtEl>
                                          <p:spTgt spid="104">
                                            <p:txEl>
                                              <p:pRg st="4" end="4"/>
                                            </p:txEl>
                                          </p:spTgt>
                                        </p:tgtEl>
                                        <p:attrNameLst>
                                          <p:attrName>ppt_x</p:attrName>
                                        </p:attrNameLst>
                                      </p:cBhvr>
                                      <p:tavLst>
                                        <p:tav tm="0">
                                          <p:val>
                                            <p:strVal val="#ppt_x"/>
                                          </p:val>
                                        </p:tav>
                                        <p:tav tm="100000">
                                          <p:val>
                                            <p:strVal val="#ppt_x"/>
                                          </p:val>
                                        </p:tav>
                                      </p:tavLst>
                                    </p:anim>
                                    <p:anim calcmode="lin" valueType="num">
                                      <p:cBhvr>
                                        <p:cTn id="21" dur="1000" fill="hold"/>
                                        <p:tgtEl>
                                          <p:spTgt spid="104">
                                            <p:txEl>
                                              <p:pRg st="4" end="4"/>
                                            </p:txEl>
                                          </p:spTgt>
                                        </p:tgtEl>
                                        <p:attrNameLst>
                                          <p:attrName>ppt_y</p:attrName>
                                        </p:attrNameLst>
                                      </p:cBhvr>
                                      <p:tavLst>
                                        <p:tav tm="0">
                                          <p:val>
                                            <p:strVal val="#ppt_y+.1"/>
                                          </p:val>
                                        </p:tav>
                                        <p:tav tm="100000">
                                          <p:val>
                                            <p:strVal val="#ppt_y"/>
                                          </p:val>
                                        </p:tav>
                                      </p:tavLst>
                                    </p:anim>
                                  </p:childTnLst>
                                </p:cTn>
                              </p:par>
                            </p:childTnLst>
                          </p:cTn>
                        </p:par>
                        <p:par>
                          <p:cTn id="22" fill="hold">
                            <p:stCondLst>
                              <p:cond delay="3000"/>
                            </p:stCondLst>
                            <p:childTnLst>
                              <p:par>
                                <p:cTn id="23" presetID="42" presetClass="entr" presetSubtype="0" fill="hold" grpId="0" nodeType="afterEffect">
                                  <p:stCondLst>
                                    <p:cond delay="0"/>
                                  </p:stCondLst>
                                  <p:childTnLst>
                                    <p:set>
                                      <p:cBhvr>
                                        <p:cTn id="24" dur="1" fill="hold">
                                          <p:stCondLst>
                                            <p:cond delay="0"/>
                                          </p:stCondLst>
                                        </p:cTn>
                                        <p:tgtEl>
                                          <p:spTgt spid="104">
                                            <p:txEl>
                                              <p:pRg st="6" end="6"/>
                                            </p:txEl>
                                          </p:spTgt>
                                        </p:tgtEl>
                                        <p:attrNameLst>
                                          <p:attrName>style.visibility</p:attrName>
                                        </p:attrNameLst>
                                      </p:cBhvr>
                                      <p:to>
                                        <p:strVal val="visible"/>
                                      </p:to>
                                    </p:set>
                                    <p:animEffect transition="in" filter="fade">
                                      <p:cBhvr>
                                        <p:cTn id="25" dur="1000"/>
                                        <p:tgtEl>
                                          <p:spTgt spid="104">
                                            <p:txEl>
                                              <p:pRg st="6" end="6"/>
                                            </p:txEl>
                                          </p:spTgt>
                                        </p:tgtEl>
                                      </p:cBhvr>
                                    </p:animEffect>
                                    <p:anim calcmode="lin" valueType="num">
                                      <p:cBhvr>
                                        <p:cTn id="26" dur="1000" fill="hold"/>
                                        <p:tgtEl>
                                          <p:spTgt spid="104">
                                            <p:txEl>
                                              <p:pRg st="6" end="6"/>
                                            </p:txEl>
                                          </p:spTgt>
                                        </p:tgtEl>
                                        <p:attrNameLst>
                                          <p:attrName>ppt_x</p:attrName>
                                        </p:attrNameLst>
                                      </p:cBhvr>
                                      <p:tavLst>
                                        <p:tav tm="0">
                                          <p:val>
                                            <p:strVal val="#ppt_x"/>
                                          </p:val>
                                        </p:tav>
                                        <p:tav tm="100000">
                                          <p:val>
                                            <p:strVal val="#ppt_x"/>
                                          </p:val>
                                        </p:tav>
                                      </p:tavLst>
                                    </p:anim>
                                    <p:anim calcmode="lin" valueType="num">
                                      <p:cBhvr>
                                        <p:cTn id="27" dur="1000" fill="hold"/>
                                        <p:tgtEl>
                                          <p:spTgt spid="104">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2"/>
          <p:cNvSpPr txBox="1">
            <a:spLocks noGrp="1"/>
          </p:cNvSpPr>
          <p:nvPr>
            <p:ph type="title"/>
          </p:nvPr>
        </p:nvSpPr>
        <p:spPr>
          <a:xfrm>
            <a:off x="0" y="0"/>
            <a:ext cx="9144000" cy="1066800"/>
          </a:xfrm>
          <a:prstGeom prst="rect">
            <a:avLst/>
          </a:prstGeom>
          <a:ln/>
        </p:spPr>
        <p:style>
          <a:lnRef idx="0">
            <a:schemeClr val="accent3"/>
          </a:lnRef>
          <a:fillRef idx="3">
            <a:schemeClr val="accent3"/>
          </a:fillRef>
          <a:effectRef idx="3">
            <a:schemeClr val="accent3"/>
          </a:effectRef>
          <a:fontRef idx="minor">
            <a:schemeClr val="lt1"/>
          </a:fontRef>
        </p:style>
        <p:txBody>
          <a:bodyPr spcFirstLastPara="1" wrap="square" lIns="91425" tIns="45700" rIns="91425" bIns="45700" anchor="ctr" anchorCtr="0">
            <a:normAutofit/>
          </a:bodyPr>
          <a:lstStyle/>
          <a:p>
            <a:pPr lvl="0">
              <a:spcBef>
                <a:spcPts val="0"/>
              </a:spcBef>
              <a:buClr>
                <a:srgbClr val="2A14AC"/>
              </a:buClr>
              <a:buSzPts val="4000"/>
            </a:pPr>
            <a:r>
              <a:rPr lang="en-US" b="1" dirty="0" smtClean="0">
                <a:ln w="1905"/>
                <a:solidFill>
                  <a:schemeClr val="tx1"/>
                </a:solidFill>
                <a:effectLst>
                  <a:innerShdw blurRad="69850" dist="43180" dir="5400000">
                    <a:srgbClr val="000000">
                      <a:alpha val="65000"/>
                    </a:srgbClr>
                  </a:innerShdw>
                </a:effectLst>
              </a:rPr>
              <a:t>File Attributes</a:t>
            </a:r>
            <a:endParaRPr b="1" dirty="0">
              <a:solidFill>
                <a:srgbClr val="2A14AC"/>
              </a:solidFill>
              <a:latin typeface="Calibri"/>
              <a:ea typeface="Calibri"/>
              <a:cs typeface="Calibri"/>
              <a:sym typeface="Calibri"/>
            </a:endParaRPr>
          </a:p>
        </p:txBody>
      </p:sp>
      <p:sp>
        <p:nvSpPr>
          <p:cNvPr id="104" name="Google Shape;104;p2"/>
          <p:cNvSpPr txBox="1">
            <a:spLocks noGrp="1"/>
          </p:cNvSpPr>
          <p:nvPr>
            <p:ph type="body" idx="1"/>
          </p:nvPr>
        </p:nvSpPr>
        <p:spPr>
          <a:xfrm>
            <a:off x="0" y="1047750"/>
            <a:ext cx="9144000" cy="5943600"/>
          </a:xfrm>
          <a:prstGeom prst="rect">
            <a:avLst/>
          </a:prstGeom>
          <a:noFill/>
          <a:ln>
            <a:noFill/>
          </a:ln>
        </p:spPr>
        <p:txBody>
          <a:bodyPr spcFirstLastPara="1" wrap="square" lIns="91425" tIns="45700" rIns="91425" bIns="45700" anchor="t" anchorCtr="0">
            <a:noAutofit/>
          </a:bodyPr>
          <a:lstStyle/>
          <a:p>
            <a:pPr marL="285750" indent="-285750" algn="just"/>
            <a:r>
              <a:rPr lang="en-US" sz="2100" b="1" dirty="0" smtClean="0"/>
              <a:t>Name: </a:t>
            </a:r>
            <a:r>
              <a:rPr lang="en-US" sz="2100" dirty="0" smtClean="0"/>
              <a:t>The symbolic file name is the only information kept in human readable form.</a:t>
            </a:r>
          </a:p>
          <a:p>
            <a:pPr marL="285750" indent="-285750" algn="just"/>
            <a:r>
              <a:rPr lang="en-US" sz="2100" b="1" dirty="0" smtClean="0"/>
              <a:t>Type: </a:t>
            </a:r>
            <a:r>
              <a:rPr lang="en-US" sz="2100" dirty="0" smtClean="0"/>
              <a:t>This information is needed for those systems that support different types.</a:t>
            </a:r>
          </a:p>
          <a:p>
            <a:pPr marL="285750" indent="-285750" algn="just"/>
            <a:r>
              <a:rPr lang="en-US" sz="2100" b="1" dirty="0" smtClean="0"/>
              <a:t>Location: </a:t>
            </a:r>
            <a:r>
              <a:rPr lang="en-US" sz="2100" dirty="0" smtClean="0"/>
              <a:t>This information is a pointer to a device and to the location of the file on that device.</a:t>
            </a:r>
          </a:p>
          <a:p>
            <a:pPr marL="285750" indent="-285750" algn="just"/>
            <a:r>
              <a:rPr lang="en-US" sz="2100" b="1" dirty="0" smtClean="0"/>
              <a:t>Size: </a:t>
            </a:r>
            <a:r>
              <a:rPr lang="en-US" sz="2100" dirty="0" smtClean="0"/>
              <a:t>The current size of the file (in bytes, words or blocks) and possibly the maximum allowed size are included in this attribute.</a:t>
            </a:r>
          </a:p>
          <a:p>
            <a:pPr marL="285750" indent="-285750" algn="just"/>
            <a:r>
              <a:rPr lang="en-US" sz="2100" b="1" dirty="0" smtClean="0"/>
              <a:t>Protection: </a:t>
            </a:r>
            <a:r>
              <a:rPr lang="en-US" sz="2100" dirty="0" smtClean="0"/>
              <a:t>Access control information controls that who can do reading, writing, executing and so on.</a:t>
            </a:r>
          </a:p>
          <a:p>
            <a:pPr marL="285750" indent="-285750" algn="just"/>
            <a:r>
              <a:rPr lang="en-US" sz="2100" b="1" dirty="0" smtClean="0"/>
              <a:t>Time, Date and User Identification: </a:t>
            </a:r>
            <a:r>
              <a:rPr lang="en-US" sz="2100" dirty="0" smtClean="0"/>
              <a:t>This information may be kept for creation, Last modification and last use. These data can be useful for protection, security and usage monitoring.</a:t>
            </a:r>
          </a:p>
          <a:p>
            <a:pPr marL="285750" indent="-285750" algn="just"/>
            <a:r>
              <a:rPr lang="en-US" sz="2100" b="1" dirty="0" smtClean="0"/>
              <a:t>Identifier: </a:t>
            </a:r>
            <a:r>
              <a:rPr lang="en-US" sz="2100" dirty="0" smtClean="0"/>
              <a:t>File system gives a unique tag or number that identifies file within file system and which is used to refer files internally.</a:t>
            </a:r>
          </a:p>
          <a:p>
            <a:pPr marL="285750" indent="-285750" algn="just"/>
            <a:r>
              <a:rPr lang="en-US" sz="2100" b="1" dirty="0" smtClean="0"/>
              <a:t>Creator or Owner: </a:t>
            </a:r>
            <a:r>
              <a:rPr lang="en-US" sz="2100" dirty="0" smtClean="0"/>
              <a:t>A creator is a user or a person who has created that file and the owner is a person who owns that file currently.</a:t>
            </a:r>
            <a:endParaRPr lang="en-US" sz="2100" dirty="0"/>
          </a:p>
        </p:txBody>
      </p:sp>
      <p:sp>
        <p:nvSpPr>
          <p:cNvPr id="105" name="Google Shape;105;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pPr marL="0" lvl="0" indent="0" algn="r" rtl="0">
                <a:spcBef>
                  <a:spcPts val="0"/>
                </a:spcBef>
                <a:spcAft>
                  <a:spcPts val="0"/>
                </a:spcAft>
                <a:buNone/>
              </a:pPr>
              <a:t>4</a:t>
            </a:fld>
            <a:endParaRPr/>
          </a:p>
        </p:txBody>
      </p:sp>
    </p:spTree>
    <p:extLst>
      <p:ext uri="{BB962C8B-B14F-4D97-AF65-F5344CB8AC3E}">
        <p14:creationId xmlns:p14="http://schemas.microsoft.com/office/powerpoint/2010/main" xmlns="" val="31007947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04">
                                            <p:txEl>
                                              <p:pRg st="0" end="0"/>
                                            </p:txEl>
                                          </p:spTgt>
                                        </p:tgtEl>
                                        <p:attrNameLst>
                                          <p:attrName>style.visibility</p:attrName>
                                        </p:attrNameLst>
                                      </p:cBhvr>
                                      <p:to>
                                        <p:strVal val="visible"/>
                                      </p:to>
                                    </p:set>
                                    <p:animEffect transition="in" filter="fade">
                                      <p:cBhvr>
                                        <p:cTn id="7" dur="1000"/>
                                        <p:tgtEl>
                                          <p:spTgt spid="104">
                                            <p:txEl>
                                              <p:pRg st="0" end="0"/>
                                            </p:txEl>
                                          </p:spTgt>
                                        </p:tgtEl>
                                      </p:cBhvr>
                                    </p:animEffect>
                                    <p:anim calcmode="lin" valueType="num">
                                      <p:cBhvr>
                                        <p:cTn id="8" dur="1000" fill="hold"/>
                                        <p:tgtEl>
                                          <p:spTgt spid="10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04">
                                            <p:txEl>
                                              <p:pRg st="0" end="0"/>
                                            </p:txEl>
                                          </p:spTgt>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grpId="0" nodeType="afterEffect">
                                  <p:stCondLst>
                                    <p:cond delay="0"/>
                                  </p:stCondLst>
                                  <p:childTnLst>
                                    <p:set>
                                      <p:cBhvr>
                                        <p:cTn id="12" dur="1" fill="hold">
                                          <p:stCondLst>
                                            <p:cond delay="0"/>
                                          </p:stCondLst>
                                        </p:cTn>
                                        <p:tgtEl>
                                          <p:spTgt spid="104">
                                            <p:txEl>
                                              <p:pRg st="1" end="1"/>
                                            </p:txEl>
                                          </p:spTgt>
                                        </p:tgtEl>
                                        <p:attrNameLst>
                                          <p:attrName>style.visibility</p:attrName>
                                        </p:attrNameLst>
                                      </p:cBhvr>
                                      <p:to>
                                        <p:strVal val="visible"/>
                                      </p:to>
                                    </p:set>
                                    <p:animEffect transition="in" filter="fade">
                                      <p:cBhvr>
                                        <p:cTn id="13" dur="1000"/>
                                        <p:tgtEl>
                                          <p:spTgt spid="104">
                                            <p:txEl>
                                              <p:pRg st="1" end="1"/>
                                            </p:txEl>
                                          </p:spTgt>
                                        </p:tgtEl>
                                      </p:cBhvr>
                                    </p:animEffect>
                                    <p:anim calcmode="lin" valueType="num">
                                      <p:cBhvr>
                                        <p:cTn id="14" dur="1000" fill="hold"/>
                                        <p:tgtEl>
                                          <p:spTgt spid="104">
                                            <p:txEl>
                                              <p:pRg st="1" end="1"/>
                                            </p:txEl>
                                          </p:spTgt>
                                        </p:tgtEl>
                                        <p:attrNameLst>
                                          <p:attrName>ppt_x</p:attrName>
                                        </p:attrNameLst>
                                      </p:cBhvr>
                                      <p:tavLst>
                                        <p:tav tm="0">
                                          <p:val>
                                            <p:strVal val="#ppt_x"/>
                                          </p:val>
                                        </p:tav>
                                        <p:tav tm="100000">
                                          <p:val>
                                            <p:strVal val="#ppt_x"/>
                                          </p:val>
                                        </p:tav>
                                      </p:tavLst>
                                    </p:anim>
                                    <p:anim calcmode="lin" valueType="num">
                                      <p:cBhvr>
                                        <p:cTn id="15" dur="1000" fill="hold"/>
                                        <p:tgtEl>
                                          <p:spTgt spid="104">
                                            <p:txEl>
                                              <p:pRg st="1" end="1"/>
                                            </p:txEl>
                                          </p:spTgt>
                                        </p:tgtEl>
                                        <p:attrNameLst>
                                          <p:attrName>ppt_y</p:attrName>
                                        </p:attrNameLst>
                                      </p:cBhvr>
                                      <p:tavLst>
                                        <p:tav tm="0">
                                          <p:val>
                                            <p:strVal val="#ppt_y+.1"/>
                                          </p:val>
                                        </p:tav>
                                        <p:tav tm="100000">
                                          <p:val>
                                            <p:strVal val="#ppt_y"/>
                                          </p:val>
                                        </p:tav>
                                      </p:tavLst>
                                    </p:anim>
                                  </p:childTnLst>
                                </p:cTn>
                              </p:par>
                            </p:childTnLst>
                          </p:cTn>
                        </p:par>
                        <p:par>
                          <p:cTn id="16" fill="hold">
                            <p:stCondLst>
                              <p:cond delay="2000"/>
                            </p:stCondLst>
                            <p:childTnLst>
                              <p:par>
                                <p:cTn id="17" presetID="42" presetClass="entr" presetSubtype="0" fill="hold" grpId="0" nodeType="afterEffect">
                                  <p:stCondLst>
                                    <p:cond delay="0"/>
                                  </p:stCondLst>
                                  <p:childTnLst>
                                    <p:set>
                                      <p:cBhvr>
                                        <p:cTn id="18" dur="1" fill="hold">
                                          <p:stCondLst>
                                            <p:cond delay="0"/>
                                          </p:stCondLst>
                                        </p:cTn>
                                        <p:tgtEl>
                                          <p:spTgt spid="104">
                                            <p:txEl>
                                              <p:pRg st="2" end="2"/>
                                            </p:txEl>
                                          </p:spTgt>
                                        </p:tgtEl>
                                        <p:attrNameLst>
                                          <p:attrName>style.visibility</p:attrName>
                                        </p:attrNameLst>
                                      </p:cBhvr>
                                      <p:to>
                                        <p:strVal val="visible"/>
                                      </p:to>
                                    </p:set>
                                    <p:animEffect transition="in" filter="fade">
                                      <p:cBhvr>
                                        <p:cTn id="19" dur="1000"/>
                                        <p:tgtEl>
                                          <p:spTgt spid="104">
                                            <p:txEl>
                                              <p:pRg st="2" end="2"/>
                                            </p:txEl>
                                          </p:spTgt>
                                        </p:tgtEl>
                                      </p:cBhvr>
                                    </p:animEffect>
                                    <p:anim calcmode="lin" valueType="num">
                                      <p:cBhvr>
                                        <p:cTn id="20" dur="1000" fill="hold"/>
                                        <p:tgtEl>
                                          <p:spTgt spid="104">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104">
                                            <p:txEl>
                                              <p:pRg st="2" end="2"/>
                                            </p:txEl>
                                          </p:spTgt>
                                        </p:tgtEl>
                                        <p:attrNameLst>
                                          <p:attrName>ppt_y</p:attrName>
                                        </p:attrNameLst>
                                      </p:cBhvr>
                                      <p:tavLst>
                                        <p:tav tm="0">
                                          <p:val>
                                            <p:strVal val="#ppt_y+.1"/>
                                          </p:val>
                                        </p:tav>
                                        <p:tav tm="100000">
                                          <p:val>
                                            <p:strVal val="#ppt_y"/>
                                          </p:val>
                                        </p:tav>
                                      </p:tavLst>
                                    </p:anim>
                                  </p:childTnLst>
                                </p:cTn>
                              </p:par>
                            </p:childTnLst>
                          </p:cTn>
                        </p:par>
                        <p:par>
                          <p:cTn id="22" fill="hold">
                            <p:stCondLst>
                              <p:cond delay="3000"/>
                            </p:stCondLst>
                            <p:childTnLst>
                              <p:par>
                                <p:cTn id="23" presetID="42" presetClass="entr" presetSubtype="0" fill="hold" grpId="0" nodeType="afterEffect">
                                  <p:stCondLst>
                                    <p:cond delay="0"/>
                                  </p:stCondLst>
                                  <p:childTnLst>
                                    <p:set>
                                      <p:cBhvr>
                                        <p:cTn id="24" dur="1" fill="hold">
                                          <p:stCondLst>
                                            <p:cond delay="0"/>
                                          </p:stCondLst>
                                        </p:cTn>
                                        <p:tgtEl>
                                          <p:spTgt spid="104">
                                            <p:txEl>
                                              <p:pRg st="3" end="3"/>
                                            </p:txEl>
                                          </p:spTgt>
                                        </p:tgtEl>
                                        <p:attrNameLst>
                                          <p:attrName>style.visibility</p:attrName>
                                        </p:attrNameLst>
                                      </p:cBhvr>
                                      <p:to>
                                        <p:strVal val="visible"/>
                                      </p:to>
                                    </p:set>
                                    <p:animEffect transition="in" filter="fade">
                                      <p:cBhvr>
                                        <p:cTn id="25" dur="1000"/>
                                        <p:tgtEl>
                                          <p:spTgt spid="104">
                                            <p:txEl>
                                              <p:pRg st="3" end="3"/>
                                            </p:txEl>
                                          </p:spTgt>
                                        </p:tgtEl>
                                      </p:cBhvr>
                                    </p:animEffect>
                                    <p:anim calcmode="lin" valueType="num">
                                      <p:cBhvr>
                                        <p:cTn id="26" dur="1000" fill="hold"/>
                                        <p:tgtEl>
                                          <p:spTgt spid="104">
                                            <p:txEl>
                                              <p:pRg st="3" end="3"/>
                                            </p:txEl>
                                          </p:spTgt>
                                        </p:tgtEl>
                                        <p:attrNameLst>
                                          <p:attrName>ppt_x</p:attrName>
                                        </p:attrNameLst>
                                      </p:cBhvr>
                                      <p:tavLst>
                                        <p:tav tm="0">
                                          <p:val>
                                            <p:strVal val="#ppt_x"/>
                                          </p:val>
                                        </p:tav>
                                        <p:tav tm="100000">
                                          <p:val>
                                            <p:strVal val="#ppt_x"/>
                                          </p:val>
                                        </p:tav>
                                      </p:tavLst>
                                    </p:anim>
                                    <p:anim calcmode="lin" valueType="num">
                                      <p:cBhvr>
                                        <p:cTn id="27" dur="1000" fill="hold"/>
                                        <p:tgtEl>
                                          <p:spTgt spid="104">
                                            <p:txEl>
                                              <p:pRg st="3" end="3"/>
                                            </p:txEl>
                                          </p:spTgt>
                                        </p:tgtEl>
                                        <p:attrNameLst>
                                          <p:attrName>ppt_y</p:attrName>
                                        </p:attrNameLst>
                                      </p:cBhvr>
                                      <p:tavLst>
                                        <p:tav tm="0">
                                          <p:val>
                                            <p:strVal val="#ppt_y+.1"/>
                                          </p:val>
                                        </p:tav>
                                        <p:tav tm="100000">
                                          <p:val>
                                            <p:strVal val="#ppt_y"/>
                                          </p:val>
                                        </p:tav>
                                      </p:tavLst>
                                    </p:anim>
                                  </p:childTnLst>
                                </p:cTn>
                              </p:par>
                            </p:childTnLst>
                          </p:cTn>
                        </p:par>
                        <p:par>
                          <p:cTn id="28" fill="hold">
                            <p:stCondLst>
                              <p:cond delay="4000"/>
                            </p:stCondLst>
                            <p:childTnLst>
                              <p:par>
                                <p:cTn id="29" presetID="42" presetClass="entr" presetSubtype="0" fill="hold" grpId="0" nodeType="afterEffect">
                                  <p:stCondLst>
                                    <p:cond delay="0"/>
                                  </p:stCondLst>
                                  <p:childTnLst>
                                    <p:set>
                                      <p:cBhvr>
                                        <p:cTn id="30" dur="1" fill="hold">
                                          <p:stCondLst>
                                            <p:cond delay="0"/>
                                          </p:stCondLst>
                                        </p:cTn>
                                        <p:tgtEl>
                                          <p:spTgt spid="104">
                                            <p:txEl>
                                              <p:pRg st="4" end="4"/>
                                            </p:txEl>
                                          </p:spTgt>
                                        </p:tgtEl>
                                        <p:attrNameLst>
                                          <p:attrName>style.visibility</p:attrName>
                                        </p:attrNameLst>
                                      </p:cBhvr>
                                      <p:to>
                                        <p:strVal val="visible"/>
                                      </p:to>
                                    </p:set>
                                    <p:animEffect transition="in" filter="fade">
                                      <p:cBhvr>
                                        <p:cTn id="31" dur="1000"/>
                                        <p:tgtEl>
                                          <p:spTgt spid="104">
                                            <p:txEl>
                                              <p:pRg st="4" end="4"/>
                                            </p:txEl>
                                          </p:spTgt>
                                        </p:tgtEl>
                                      </p:cBhvr>
                                    </p:animEffect>
                                    <p:anim calcmode="lin" valueType="num">
                                      <p:cBhvr>
                                        <p:cTn id="32" dur="1000" fill="hold"/>
                                        <p:tgtEl>
                                          <p:spTgt spid="104">
                                            <p:txEl>
                                              <p:pRg st="4" end="4"/>
                                            </p:txEl>
                                          </p:spTgt>
                                        </p:tgtEl>
                                        <p:attrNameLst>
                                          <p:attrName>ppt_x</p:attrName>
                                        </p:attrNameLst>
                                      </p:cBhvr>
                                      <p:tavLst>
                                        <p:tav tm="0">
                                          <p:val>
                                            <p:strVal val="#ppt_x"/>
                                          </p:val>
                                        </p:tav>
                                        <p:tav tm="100000">
                                          <p:val>
                                            <p:strVal val="#ppt_x"/>
                                          </p:val>
                                        </p:tav>
                                      </p:tavLst>
                                    </p:anim>
                                    <p:anim calcmode="lin" valueType="num">
                                      <p:cBhvr>
                                        <p:cTn id="33" dur="1000" fill="hold"/>
                                        <p:tgtEl>
                                          <p:spTgt spid="104">
                                            <p:txEl>
                                              <p:pRg st="4" end="4"/>
                                            </p:txEl>
                                          </p:spTgt>
                                        </p:tgtEl>
                                        <p:attrNameLst>
                                          <p:attrName>ppt_y</p:attrName>
                                        </p:attrNameLst>
                                      </p:cBhvr>
                                      <p:tavLst>
                                        <p:tav tm="0">
                                          <p:val>
                                            <p:strVal val="#ppt_y+.1"/>
                                          </p:val>
                                        </p:tav>
                                        <p:tav tm="100000">
                                          <p:val>
                                            <p:strVal val="#ppt_y"/>
                                          </p:val>
                                        </p:tav>
                                      </p:tavLst>
                                    </p:anim>
                                  </p:childTnLst>
                                </p:cTn>
                              </p:par>
                            </p:childTnLst>
                          </p:cTn>
                        </p:par>
                        <p:par>
                          <p:cTn id="34" fill="hold">
                            <p:stCondLst>
                              <p:cond delay="5000"/>
                            </p:stCondLst>
                            <p:childTnLst>
                              <p:par>
                                <p:cTn id="35" presetID="42" presetClass="entr" presetSubtype="0" fill="hold" grpId="0" nodeType="afterEffect">
                                  <p:stCondLst>
                                    <p:cond delay="0"/>
                                  </p:stCondLst>
                                  <p:childTnLst>
                                    <p:set>
                                      <p:cBhvr>
                                        <p:cTn id="36" dur="1" fill="hold">
                                          <p:stCondLst>
                                            <p:cond delay="0"/>
                                          </p:stCondLst>
                                        </p:cTn>
                                        <p:tgtEl>
                                          <p:spTgt spid="104">
                                            <p:txEl>
                                              <p:pRg st="5" end="5"/>
                                            </p:txEl>
                                          </p:spTgt>
                                        </p:tgtEl>
                                        <p:attrNameLst>
                                          <p:attrName>style.visibility</p:attrName>
                                        </p:attrNameLst>
                                      </p:cBhvr>
                                      <p:to>
                                        <p:strVal val="visible"/>
                                      </p:to>
                                    </p:set>
                                    <p:animEffect transition="in" filter="fade">
                                      <p:cBhvr>
                                        <p:cTn id="37" dur="1000"/>
                                        <p:tgtEl>
                                          <p:spTgt spid="104">
                                            <p:txEl>
                                              <p:pRg st="5" end="5"/>
                                            </p:txEl>
                                          </p:spTgt>
                                        </p:tgtEl>
                                      </p:cBhvr>
                                    </p:animEffect>
                                    <p:anim calcmode="lin" valueType="num">
                                      <p:cBhvr>
                                        <p:cTn id="38" dur="1000" fill="hold"/>
                                        <p:tgtEl>
                                          <p:spTgt spid="104">
                                            <p:txEl>
                                              <p:pRg st="5" end="5"/>
                                            </p:txEl>
                                          </p:spTgt>
                                        </p:tgtEl>
                                        <p:attrNameLst>
                                          <p:attrName>ppt_x</p:attrName>
                                        </p:attrNameLst>
                                      </p:cBhvr>
                                      <p:tavLst>
                                        <p:tav tm="0">
                                          <p:val>
                                            <p:strVal val="#ppt_x"/>
                                          </p:val>
                                        </p:tav>
                                        <p:tav tm="100000">
                                          <p:val>
                                            <p:strVal val="#ppt_x"/>
                                          </p:val>
                                        </p:tav>
                                      </p:tavLst>
                                    </p:anim>
                                    <p:anim calcmode="lin" valueType="num">
                                      <p:cBhvr>
                                        <p:cTn id="39" dur="1000" fill="hold"/>
                                        <p:tgtEl>
                                          <p:spTgt spid="104">
                                            <p:txEl>
                                              <p:pRg st="5" end="5"/>
                                            </p:txEl>
                                          </p:spTgt>
                                        </p:tgtEl>
                                        <p:attrNameLst>
                                          <p:attrName>ppt_y</p:attrName>
                                        </p:attrNameLst>
                                      </p:cBhvr>
                                      <p:tavLst>
                                        <p:tav tm="0">
                                          <p:val>
                                            <p:strVal val="#ppt_y+.1"/>
                                          </p:val>
                                        </p:tav>
                                        <p:tav tm="100000">
                                          <p:val>
                                            <p:strVal val="#ppt_y"/>
                                          </p:val>
                                        </p:tav>
                                      </p:tavLst>
                                    </p:anim>
                                  </p:childTnLst>
                                </p:cTn>
                              </p:par>
                            </p:childTnLst>
                          </p:cTn>
                        </p:par>
                        <p:par>
                          <p:cTn id="40" fill="hold">
                            <p:stCondLst>
                              <p:cond delay="6000"/>
                            </p:stCondLst>
                            <p:childTnLst>
                              <p:par>
                                <p:cTn id="41" presetID="42" presetClass="entr" presetSubtype="0" fill="hold" grpId="0" nodeType="afterEffect">
                                  <p:stCondLst>
                                    <p:cond delay="0"/>
                                  </p:stCondLst>
                                  <p:childTnLst>
                                    <p:set>
                                      <p:cBhvr>
                                        <p:cTn id="42" dur="1" fill="hold">
                                          <p:stCondLst>
                                            <p:cond delay="0"/>
                                          </p:stCondLst>
                                        </p:cTn>
                                        <p:tgtEl>
                                          <p:spTgt spid="104">
                                            <p:txEl>
                                              <p:pRg st="6" end="6"/>
                                            </p:txEl>
                                          </p:spTgt>
                                        </p:tgtEl>
                                        <p:attrNameLst>
                                          <p:attrName>style.visibility</p:attrName>
                                        </p:attrNameLst>
                                      </p:cBhvr>
                                      <p:to>
                                        <p:strVal val="visible"/>
                                      </p:to>
                                    </p:set>
                                    <p:animEffect transition="in" filter="fade">
                                      <p:cBhvr>
                                        <p:cTn id="43" dur="1000"/>
                                        <p:tgtEl>
                                          <p:spTgt spid="104">
                                            <p:txEl>
                                              <p:pRg st="6" end="6"/>
                                            </p:txEl>
                                          </p:spTgt>
                                        </p:tgtEl>
                                      </p:cBhvr>
                                    </p:animEffect>
                                    <p:anim calcmode="lin" valueType="num">
                                      <p:cBhvr>
                                        <p:cTn id="44" dur="1000" fill="hold"/>
                                        <p:tgtEl>
                                          <p:spTgt spid="104">
                                            <p:txEl>
                                              <p:pRg st="6" end="6"/>
                                            </p:txEl>
                                          </p:spTgt>
                                        </p:tgtEl>
                                        <p:attrNameLst>
                                          <p:attrName>ppt_x</p:attrName>
                                        </p:attrNameLst>
                                      </p:cBhvr>
                                      <p:tavLst>
                                        <p:tav tm="0">
                                          <p:val>
                                            <p:strVal val="#ppt_x"/>
                                          </p:val>
                                        </p:tav>
                                        <p:tav tm="100000">
                                          <p:val>
                                            <p:strVal val="#ppt_x"/>
                                          </p:val>
                                        </p:tav>
                                      </p:tavLst>
                                    </p:anim>
                                    <p:anim calcmode="lin" valueType="num">
                                      <p:cBhvr>
                                        <p:cTn id="45" dur="1000" fill="hold"/>
                                        <p:tgtEl>
                                          <p:spTgt spid="104">
                                            <p:txEl>
                                              <p:pRg st="6" end="6"/>
                                            </p:txEl>
                                          </p:spTgt>
                                        </p:tgtEl>
                                        <p:attrNameLst>
                                          <p:attrName>ppt_y</p:attrName>
                                        </p:attrNameLst>
                                      </p:cBhvr>
                                      <p:tavLst>
                                        <p:tav tm="0">
                                          <p:val>
                                            <p:strVal val="#ppt_y+.1"/>
                                          </p:val>
                                        </p:tav>
                                        <p:tav tm="100000">
                                          <p:val>
                                            <p:strVal val="#ppt_y"/>
                                          </p:val>
                                        </p:tav>
                                      </p:tavLst>
                                    </p:anim>
                                  </p:childTnLst>
                                </p:cTn>
                              </p:par>
                            </p:childTnLst>
                          </p:cTn>
                        </p:par>
                        <p:par>
                          <p:cTn id="46" fill="hold">
                            <p:stCondLst>
                              <p:cond delay="7000"/>
                            </p:stCondLst>
                            <p:childTnLst>
                              <p:par>
                                <p:cTn id="47" presetID="42" presetClass="entr" presetSubtype="0" fill="hold" grpId="0" nodeType="afterEffect">
                                  <p:stCondLst>
                                    <p:cond delay="0"/>
                                  </p:stCondLst>
                                  <p:childTnLst>
                                    <p:set>
                                      <p:cBhvr>
                                        <p:cTn id="48" dur="1" fill="hold">
                                          <p:stCondLst>
                                            <p:cond delay="0"/>
                                          </p:stCondLst>
                                        </p:cTn>
                                        <p:tgtEl>
                                          <p:spTgt spid="104">
                                            <p:txEl>
                                              <p:pRg st="7" end="7"/>
                                            </p:txEl>
                                          </p:spTgt>
                                        </p:tgtEl>
                                        <p:attrNameLst>
                                          <p:attrName>style.visibility</p:attrName>
                                        </p:attrNameLst>
                                      </p:cBhvr>
                                      <p:to>
                                        <p:strVal val="visible"/>
                                      </p:to>
                                    </p:set>
                                    <p:animEffect transition="in" filter="fade">
                                      <p:cBhvr>
                                        <p:cTn id="49" dur="1000"/>
                                        <p:tgtEl>
                                          <p:spTgt spid="104">
                                            <p:txEl>
                                              <p:pRg st="7" end="7"/>
                                            </p:txEl>
                                          </p:spTgt>
                                        </p:tgtEl>
                                      </p:cBhvr>
                                    </p:animEffect>
                                    <p:anim calcmode="lin" valueType="num">
                                      <p:cBhvr>
                                        <p:cTn id="50" dur="1000" fill="hold"/>
                                        <p:tgtEl>
                                          <p:spTgt spid="104">
                                            <p:txEl>
                                              <p:pRg st="7" end="7"/>
                                            </p:txEl>
                                          </p:spTgt>
                                        </p:tgtEl>
                                        <p:attrNameLst>
                                          <p:attrName>ppt_x</p:attrName>
                                        </p:attrNameLst>
                                      </p:cBhvr>
                                      <p:tavLst>
                                        <p:tav tm="0">
                                          <p:val>
                                            <p:strVal val="#ppt_x"/>
                                          </p:val>
                                        </p:tav>
                                        <p:tav tm="100000">
                                          <p:val>
                                            <p:strVal val="#ppt_x"/>
                                          </p:val>
                                        </p:tav>
                                      </p:tavLst>
                                    </p:anim>
                                    <p:anim calcmode="lin" valueType="num">
                                      <p:cBhvr>
                                        <p:cTn id="51" dur="1000" fill="hold"/>
                                        <p:tgtEl>
                                          <p:spTgt spid="104">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2"/>
          <p:cNvSpPr txBox="1">
            <a:spLocks noGrp="1"/>
          </p:cNvSpPr>
          <p:nvPr>
            <p:ph type="title"/>
          </p:nvPr>
        </p:nvSpPr>
        <p:spPr>
          <a:xfrm>
            <a:off x="0" y="0"/>
            <a:ext cx="9144000" cy="1066800"/>
          </a:xfrm>
          <a:prstGeom prst="rect">
            <a:avLst/>
          </a:prstGeom>
          <a:ln/>
        </p:spPr>
        <p:style>
          <a:lnRef idx="0">
            <a:schemeClr val="accent3"/>
          </a:lnRef>
          <a:fillRef idx="3">
            <a:schemeClr val="accent3"/>
          </a:fillRef>
          <a:effectRef idx="3">
            <a:schemeClr val="accent3"/>
          </a:effectRef>
          <a:fontRef idx="minor">
            <a:schemeClr val="lt1"/>
          </a:fontRef>
        </p:style>
        <p:txBody>
          <a:bodyPr spcFirstLastPara="1" wrap="square" lIns="91425" tIns="45700" rIns="91425" bIns="45700" anchor="ctr" anchorCtr="0">
            <a:normAutofit/>
          </a:bodyPr>
          <a:lstStyle/>
          <a:p>
            <a:pPr lvl="0">
              <a:defRPr/>
            </a:pPr>
            <a:r>
              <a:rPr lang="en-US" b="1" dirty="0">
                <a:ln w="1905"/>
                <a:solidFill>
                  <a:schemeClr val="tx1"/>
                </a:solidFill>
                <a:effectLst>
                  <a:innerShdw blurRad="69850" dist="43180" dir="5400000">
                    <a:srgbClr val="000000">
                      <a:alpha val="65000"/>
                    </a:srgbClr>
                  </a:innerShdw>
                </a:effectLst>
              </a:rPr>
              <a:t>File Operations</a:t>
            </a:r>
          </a:p>
        </p:txBody>
      </p:sp>
      <p:sp>
        <p:nvSpPr>
          <p:cNvPr id="104" name="Google Shape;104;p2"/>
          <p:cNvSpPr txBox="1">
            <a:spLocks noGrp="1"/>
          </p:cNvSpPr>
          <p:nvPr>
            <p:ph type="body" idx="1"/>
          </p:nvPr>
        </p:nvSpPr>
        <p:spPr>
          <a:xfrm>
            <a:off x="0" y="1047750"/>
            <a:ext cx="9144000" cy="5943600"/>
          </a:xfrm>
          <a:prstGeom prst="rect">
            <a:avLst/>
          </a:prstGeom>
          <a:noFill/>
          <a:ln>
            <a:noFill/>
          </a:ln>
        </p:spPr>
        <p:txBody>
          <a:bodyPr spcFirstLastPara="1" wrap="square" lIns="91425" tIns="45700" rIns="91425" bIns="45700" anchor="t" anchorCtr="0">
            <a:noAutofit/>
          </a:bodyPr>
          <a:lstStyle/>
          <a:p>
            <a:pPr marL="285750" indent="-285750" algn="just"/>
            <a:r>
              <a:rPr lang="en-US" sz="2100" b="1" dirty="0" smtClean="0"/>
              <a:t>Creating a file: </a:t>
            </a:r>
            <a:r>
              <a:rPr lang="en-US" sz="2100" dirty="0" smtClean="0"/>
              <a:t>Two steps are necessary to create a file. First space in the file system must be</a:t>
            </a:r>
          </a:p>
          <a:p>
            <a:pPr marL="285750" indent="-285750" algn="just"/>
            <a:r>
              <a:rPr lang="en-US" sz="2100" dirty="0" smtClean="0"/>
              <a:t>found for the file. Second an entry for the new file must be made in the directory. The directory entry records the name of the file and the location in the file system.</a:t>
            </a:r>
          </a:p>
          <a:p>
            <a:pPr marL="285750" indent="-285750" algn="just"/>
            <a:endParaRPr lang="en-US" sz="2100" dirty="0" smtClean="0"/>
          </a:p>
          <a:p>
            <a:pPr marL="285750" indent="-285750" algn="just"/>
            <a:r>
              <a:rPr lang="en-US" sz="2100" b="1" dirty="0" smtClean="0"/>
              <a:t>Writing a file: </a:t>
            </a:r>
            <a:r>
              <a:rPr lang="en-US" sz="2100" dirty="0" smtClean="0"/>
              <a:t>To write a file, we make a system call specifying both the name of the file and the information to be written to the file. Given the name of the file, the system searches the</a:t>
            </a:r>
          </a:p>
          <a:p>
            <a:pPr marL="285750" indent="-285750" algn="just"/>
            <a:r>
              <a:rPr lang="en-US" sz="2100" dirty="0" smtClean="0"/>
              <a:t>directory to find the location of file then the write pointer must be updated whenever a write occurs</a:t>
            </a:r>
          </a:p>
          <a:p>
            <a:pPr marL="285750" indent="-285750" algn="just"/>
            <a:endParaRPr lang="en-US" sz="2100" b="1" dirty="0" smtClean="0"/>
          </a:p>
          <a:p>
            <a:pPr marL="285750" indent="-285750" algn="just"/>
            <a:r>
              <a:rPr lang="en-US" sz="2100" b="1" dirty="0" smtClean="0"/>
              <a:t>Reading a file: </a:t>
            </a:r>
            <a:r>
              <a:rPr lang="en-US" sz="2100" dirty="0" smtClean="0"/>
              <a:t>To read from a file, we use a system call that specifies the name of the file and where (in memory) the next block of the file should be put. System needs to keep a read pointer to location in the file where the next read is to take place. Once the read has taken place, the read pointer is updated.</a:t>
            </a:r>
            <a:endParaRPr lang="en-US" sz="2100" dirty="0"/>
          </a:p>
        </p:txBody>
      </p:sp>
      <p:sp>
        <p:nvSpPr>
          <p:cNvPr id="105" name="Google Shape;105;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pPr marL="0" lvl="0" indent="0" algn="r" rtl="0">
                <a:spcBef>
                  <a:spcPts val="0"/>
                </a:spcBef>
                <a:spcAft>
                  <a:spcPts val="0"/>
                </a:spcAft>
                <a:buNone/>
              </a:pPr>
              <a:t>5</a:t>
            </a:fld>
            <a:endParaRPr/>
          </a:p>
        </p:txBody>
      </p:sp>
    </p:spTree>
    <p:extLst>
      <p:ext uri="{BB962C8B-B14F-4D97-AF65-F5344CB8AC3E}">
        <p14:creationId xmlns:p14="http://schemas.microsoft.com/office/powerpoint/2010/main" xmlns="" val="41678924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04">
                                            <p:txEl>
                                              <p:pRg st="0" end="0"/>
                                            </p:txEl>
                                          </p:spTgt>
                                        </p:tgtEl>
                                        <p:attrNameLst>
                                          <p:attrName>style.visibility</p:attrName>
                                        </p:attrNameLst>
                                      </p:cBhvr>
                                      <p:to>
                                        <p:strVal val="visible"/>
                                      </p:to>
                                    </p:set>
                                    <p:animEffect transition="in" filter="fade">
                                      <p:cBhvr>
                                        <p:cTn id="7" dur="1000"/>
                                        <p:tgtEl>
                                          <p:spTgt spid="104">
                                            <p:txEl>
                                              <p:pRg st="0" end="0"/>
                                            </p:txEl>
                                          </p:spTgt>
                                        </p:tgtEl>
                                      </p:cBhvr>
                                    </p:animEffect>
                                    <p:anim calcmode="lin" valueType="num">
                                      <p:cBhvr>
                                        <p:cTn id="8" dur="1000" fill="hold"/>
                                        <p:tgtEl>
                                          <p:spTgt spid="10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04">
                                            <p:txEl>
                                              <p:pRg st="0" end="0"/>
                                            </p:txEl>
                                          </p:spTgt>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grpId="0" nodeType="afterEffect">
                                  <p:stCondLst>
                                    <p:cond delay="0"/>
                                  </p:stCondLst>
                                  <p:childTnLst>
                                    <p:set>
                                      <p:cBhvr>
                                        <p:cTn id="12" dur="1" fill="hold">
                                          <p:stCondLst>
                                            <p:cond delay="0"/>
                                          </p:stCondLst>
                                        </p:cTn>
                                        <p:tgtEl>
                                          <p:spTgt spid="104">
                                            <p:txEl>
                                              <p:pRg st="1" end="1"/>
                                            </p:txEl>
                                          </p:spTgt>
                                        </p:tgtEl>
                                        <p:attrNameLst>
                                          <p:attrName>style.visibility</p:attrName>
                                        </p:attrNameLst>
                                      </p:cBhvr>
                                      <p:to>
                                        <p:strVal val="visible"/>
                                      </p:to>
                                    </p:set>
                                    <p:animEffect transition="in" filter="fade">
                                      <p:cBhvr>
                                        <p:cTn id="13" dur="1000"/>
                                        <p:tgtEl>
                                          <p:spTgt spid="104">
                                            <p:txEl>
                                              <p:pRg st="1" end="1"/>
                                            </p:txEl>
                                          </p:spTgt>
                                        </p:tgtEl>
                                      </p:cBhvr>
                                    </p:animEffect>
                                    <p:anim calcmode="lin" valueType="num">
                                      <p:cBhvr>
                                        <p:cTn id="14" dur="1000" fill="hold"/>
                                        <p:tgtEl>
                                          <p:spTgt spid="104">
                                            <p:txEl>
                                              <p:pRg st="1" end="1"/>
                                            </p:txEl>
                                          </p:spTgt>
                                        </p:tgtEl>
                                        <p:attrNameLst>
                                          <p:attrName>ppt_x</p:attrName>
                                        </p:attrNameLst>
                                      </p:cBhvr>
                                      <p:tavLst>
                                        <p:tav tm="0">
                                          <p:val>
                                            <p:strVal val="#ppt_x"/>
                                          </p:val>
                                        </p:tav>
                                        <p:tav tm="100000">
                                          <p:val>
                                            <p:strVal val="#ppt_x"/>
                                          </p:val>
                                        </p:tav>
                                      </p:tavLst>
                                    </p:anim>
                                    <p:anim calcmode="lin" valueType="num">
                                      <p:cBhvr>
                                        <p:cTn id="15" dur="1000" fill="hold"/>
                                        <p:tgtEl>
                                          <p:spTgt spid="104">
                                            <p:txEl>
                                              <p:pRg st="1" end="1"/>
                                            </p:txEl>
                                          </p:spTgt>
                                        </p:tgtEl>
                                        <p:attrNameLst>
                                          <p:attrName>ppt_y</p:attrName>
                                        </p:attrNameLst>
                                      </p:cBhvr>
                                      <p:tavLst>
                                        <p:tav tm="0">
                                          <p:val>
                                            <p:strVal val="#ppt_y+.1"/>
                                          </p:val>
                                        </p:tav>
                                        <p:tav tm="100000">
                                          <p:val>
                                            <p:strVal val="#ppt_y"/>
                                          </p:val>
                                        </p:tav>
                                      </p:tavLst>
                                    </p:anim>
                                  </p:childTnLst>
                                </p:cTn>
                              </p:par>
                            </p:childTnLst>
                          </p:cTn>
                        </p:par>
                        <p:par>
                          <p:cTn id="16" fill="hold">
                            <p:stCondLst>
                              <p:cond delay="2000"/>
                            </p:stCondLst>
                            <p:childTnLst>
                              <p:par>
                                <p:cTn id="17" presetID="42" presetClass="entr" presetSubtype="0" fill="hold" grpId="0" nodeType="afterEffect">
                                  <p:stCondLst>
                                    <p:cond delay="0"/>
                                  </p:stCondLst>
                                  <p:childTnLst>
                                    <p:set>
                                      <p:cBhvr>
                                        <p:cTn id="18" dur="1" fill="hold">
                                          <p:stCondLst>
                                            <p:cond delay="0"/>
                                          </p:stCondLst>
                                        </p:cTn>
                                        <p:tgtEl>
                                          <p:spTgt spid="104">
                                            <p:txEl>
                                              <p:pRg st="3" end="3"/>
                                            </p:txEl>
                                          </p:spTgt>
                                        </p:tgtEl>
                                        <p:attrNameLst>
                                          <p:attrName>style.visibility</p:attrName>
                                        </p:attrNameLst>
                                      </p:cBhvr>
                                      <p:to>
                                        <p:strVal val="visible"/>
                                      </p:to>
                                    </p:set>
                                    <p:animEffect transition="in" filter="fade">
                                      <p:cBhvr>
                                        <p:cTn id="19" dur="1000"/>
                                        <p:tgtEl>
                                          <p:spTgt spid="104">
                                            <p:txEl>
                                              <p:pRg st="3" end="3"/>
                                            </p:txEl>
                                          </p:spTgt>
                                        </p:tgtEl>
                                      </p:cBhvr>
                                    </p:animEffect>
                                    <p:anim calcmode="lin" valueType="num">
                                      <p:cBhvr>
                                        <p:cTn id="20" dur="1000" fill="hold"/>
                                        <p:tgtEl>
                                          <p:spTgt spid="104">
                                            <p:txEl>
                                              <p:pRg st="3" end="3"/>
                                            </p:txEl>
                                          </p:spTgt>
                                        </p:tgtEl>
                                        <p:attrNameLst>
                                          <p:attrName>ppt_x</p:attrName>
                                        </p:attrNameLst>
                                      </p:cBhvr>
                                      <p:tavLst>
                                        <p:tav tm="0">
                                          <p:val>
                                            <p:strVal val="#ppt_x"/>
                                          </p:val>
                                        </p:tav>
                                        <p:tav tm="100000">
                                          <p:val>
                                            <p:strVal val="#ppt_x"/>
                                          </p:val>
                                        </p:tav>
                                      </p:tavLst>
                                    </p:anim>
                                    <p:anim calcmode="lin" valueType="num">
                                      <p:cBhvr>
                                        <p:cTn id="21" dur="1000" fill="hold"/>
                                        <p:tgtEl>
                                          <p:spTgt spid="104">
                                            <p:txEl>
                                              <p:pRg st="3" end="3"/>
                                            </p:txEl>
                                          </p:spTgt>
                                        </p:tgtEl>
                                        <p:attrNameLst>
                                          <p:attrName>ppt_y</p:attrName>
                                        </p:attrNameLst>
                                      </p:cBhvr>
                                      <p:tavLst>
                                        <p:tav tm="0">
                                          <p:val>
                                            <p:strVal val="#ppt_y+.1"/>
                                          </p:val>
                                        </p:tav>
                                        <p:tav tm="100000">
                                          <p:val>
                                            <p:strVal val="#ppt_y"/>
                                          </p:val>
                                        </p:tav>
                                      </p:tavLst>
                                    </p:anim>
                                  </p:childTnLst>
                                </p:cTn>
                              </p:par>
                            </p:childTnLst>
                          </p:cTn>
                        </p:par>
                        <p:par>
                          <p:cTn id="22" fill="hold">
                            <p:stCondLst>
                              <p:cond delay="3000"/>
                            </p:stCondLst>
                            <p:childTnLst>
                              <p:par>
                                <p:cTn id="23" presetID="42" presetClass="entr" presetSubtype="0" fill="hold" grpId="0" nodeType="afterEffect">
                                  <p:stCondLst>
                                    <p:cond delay="0"/>
                                  </p:stCondLst>
                                  <p:childTnLst>
                                    <p:set>
                                      <p:cBhvr>
                                        <p:cTn id="24" dur="1" fill="hold">
                                          <p:stCondLst>
                                            <p:cond delay="0"/>
                                          </p:stCondLst>
                                        </p:cTn>
                                        <p:tgtEl>
                                          <p:spTgt spid="104">
                                            <p:txEl>
                                              <p:pRg st="4" end="4"/>
                                            </p:txEl>
                                          </p:spTgt>
                                        </p:tgtEl>
                                        <p:attrNameLst>
                                          <p:attrName>style.visibility</p:attrName>
                                        </p:attrNameLst>
                                      </p:cBhvr>
                                      <p:to>
                                        <p:strVal val="visible"/>
                                      </p:to>
                                    </p:set>
                                    <p:animEffect transition="in" filter="fade">
                                      <p:cBhvr>
                                        <p:cTn id="25" dur="1000"/>
                                        <p:tgtEl>
                                          <p:spTgt spid="104">
                                            <p:txEl>
                                              <p:pRg st="4" end="4"/>
                                            </p:txEl>
                                          </p:spTgt>
                                        </p:tgtEl>
                                      </p:cBhvr>
                                    </p:animEffect>
                                    <p:anim calcmode="lin" valueType="num">
                                      <p:cBhvr>
                                        <p:cTn id="26" dur="1000" fill="hold"/>
                                        <p:tgtEl>
                                          <p:spTgt spid="104">
                                            <p:txEl>
                                              <p:pRg st="4" end="4"/>
                                            </p:txEl>
                                          </p:spTgt>
                                        </p:tgtEl>
                                        <p:attrNameLst>
                                          <p:attrName>ppt_x</p:attrName>
                                        </p:attrNameLst>
                                      </p:cBhvr>
                                      <p:tavLst>
                                        <p:tav tm="0">
                                          <p:val>
                                            <p:strVal val="#ppt_x"/>
                                          </p:val>
                                        </p:tav>
                                        <p:tav tm="100000">
                                          <p:val>
                                            <p:strVal val="#ppt_x"/>
                                          </p:val>
                                        </p:tav>
                                      </p:tavLst>
                                    </p:anim>
                                    <p:anim calcmode="lin" valueType="num">
                                      <p:cBhvr>
                                        <p:cTn id="27" dur="1000" fill="hold"/>
                                        <p:tgtEl>
                                          <p:spTgt spid="104">
                                            <p:txEl>
                                              <p:pRg st="4" end="4"/>
                                            </p:txEl>
                                          </p:spTgt>
                                        </p:tgtEl>
                                        <p:attrNameLst>
                                          <p:attrName>ppt_y</p:attrName>
                                        </p:attrNameLst>
                                      </p:cBhvr>
                                      <p:tavLst>
                                        <p:tav tm="0">
                                          <p:val>
                                            <p:strVal val="#ppt_y+.1"/>
                                          </p:val>
                                        </p:tav>
                                        <p:tav tm="100000">
                                          <p:val>
                                            <p:strVal val="#ppt_y"/>
                                          </p:val>
                                        </p:tav>
                                      </p:tavLst>
                                    </p:anim>
                                  </p:childTnLst>
                                </p:cTn>
                              </p:par>
                            </p:childTnLst>
                          </p:cTn>
                        </p:par>
                        <p:par>
                          <p:cTn id="28" fill="hold">
                            <p:stCondLst>
                              <p:cond delay="4000"/>
                            </p:stCondLst>
                            <p:childTnLst>
                              <p:par>
                                <p:cTn id="29" presetID="42" presetClass="entr" presetSubtype="0" fill="hold" grpId="0" nodeType="afterEffect">
                                  <p:stCondLst>
                                    <p:cond delay="0"/>
                                  </p:stCondLst>
                                  <p:childTnLst>
                                    <p:set>
                                      <p:cBhvr>
                                        <p:cTn id="30" dur="1" fill="hold">
                                          <p:stCondLst>
                                            <p:cond delay="0"/>
                                          </p:stCondLst>
                                        </p:cTn>
                                        <p:tgtEl>
                                          <p:spTgt spid="104">
                                            <p:txEl>
                                              <p:pRg st="6" end="6"/>
                                            </p:txEl>
                                          </p:spTgt>
                                        </p:tgtEl>
                                        <p:attrNameLst>
                                          <p:attrName>style.visibility</p:attrName>
                                        </p:attrNameLst>
                                      </p:cBhvr>
                                      <p:to>
                                        <p:strVal val="visible"/>
                                      </p:to>
                                    </p:set>
                                    <p:animEffect transition="in" filter="fade">
                                      <p:cBhvr>
                                        <p:cTn id="31" dur="1000"/>
                                        <p:tgtEl>
                                          <p:spTgt spid="104">
                                            <p:txEl>
                                              <p:pRg st="6" end="6"/>
                                            </p:txEl>
                                          </p:spTgt>
                                        </p:tgtEl>
                                      </p:cBhvr>
                                    </p:animEffect>
                                    <p:anim calcmode="lin" valueType="num">
                                      <p:cBhvr>
                                        <p:cTn id="32" dur="1000" fill="hold"/>
                                        <p:tgtEl>
                                          <p:spTgt spid="104">
                                            <p:txEl>
                                              <p:pRg st="6" end="6"/>
                                            </p:txEl>
                                          </p:spTgt>
                                        </p:tgtEl>
                                        <p:attrNameLst>
                                          <p:attrName>ppt_x</p:attrName>
                                        </p:attrNameLst>
                                      </p:cBhvr>
                                      <p:tavLst>
                                        <p:tav tm="0">
                                          <p:val>
                                            <p:strVal val="#ppt_x"/>
                                          </p:val>
                                        </p:tav>
                                        <p:tav tm="100000">
                                          <p:val>
                                            <p:strVal val="#ppt_x"/>
                                          </p:val>
                                        </p:tav>
                                      </p:tavLst>
                                    </p:anim>
                                    <p:anim calcmode="lin" valueType="num">
                                      <p:cBhvr>
                                        <p:cTn id="33" dur="1000" fill="hold"/>
                                        <p:tgtEl>
                                          <p:spTgt spid="104">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2"/>
          <p:cNvSpPr txBox="1">
            <a:spLocks noGrp="1"/>
          </p:cNvSpPr>
          <p:nvPr>
            <p:ph type="title"/>
          </p:nvPr>
        </p:nvSpPr>
        <p:spPr>
          <a:xfrm>
            <a:off x="0" y="0"/>
            <a:ext cx="9144000" cy="1066800"/>
          </a:xfrm>
          <a:prstGeom prst="rect">
            <a:avLst/>
          </a:prstGeom>
          <a:ln/>
        </p:spPr>
        <p:style>
          <a:lnRef idx="0">
            <a:schemeClr val="accent3"/>
          </a:lnRef>
          <a:fillRef idx="3">
            <a:schemeClr val="accent3"/>
          </a:fillRef>
          <a:effectRef idx="3">
            <a:schemeClr val="accent3"/>
          </a:effectRef>
          <a:fontRef idx="minor">
            <a:schemeClr val="lt1"/>
          </a:fontRef>
        </p:style>
        <p:txBody>
          <a:bodyPr spcFirstLastPara="1" wrap="square" lIns="91425" tIns="45700" rIns="91425" bIns="45700" anchor="ctr" anchorCtr="0">
            <a:normAutofit/>
          </a:bodyPr>
          <a:lstStyle/>
          <a:p>
            <a:pPr lvl="0">
              <a:defRPr/>
            </a:pPr>
            <a:r>
              <a:rPr lang="en-US" b="1" dirty="0">
                <a:ln w="1905"/>
                <a:solidFill>
                  <a:schemeClr val="tx1"/>
                </a:solidFill>
                <a:effectLst>
                  <a:innerShdw blurRad="69850" dist="43180" dir="5400000">
                    <a:srgbClr val="000000">
                      <a:alpha val="65000"/>
                    </a:srgbClr>
                  </a:innerShdw>
                </a:effectLst>
              </a:rPr>
              <a:t>File Operations</a:t>
            </a:r>
          </a:p>
        </p:txBody>
      </p:sp>
      <p:sp>
        <p:nvSpPr>
          <p:cNvPr id="104" name="Google Shape;104;p2"/>
          <p:cNvSpPr txBox="1">
            <a:spLocks noGrp="1"/>
          </p:cNvSpPr>
          <p:nvPr>
            <p:ph type="body" idx="1"/>
          </p:nvPr>
        </p:nvSpPr>
        <p:spPr>
          <a:xfrm>
            <a:off x="0" y="1047750"/>
            <a:ext cx="9144000" cy="5943600"/>
          </a:xfrm>
          <a:prstGeom prst="rect">
            <a:avLst/>
          </a:prstGeom>
          <a:noFill/>
          <a:ln>
            <a:noFill/>
          </a:ln>
        </p:spPr>
        <p:txBody>
          <a:bodyPr spcFirstLastPara="1" wrap="square" lIns="91425" tIns="45700" rIns="91425" bIns="45700" anchor="t" anchorCtr="0">
            <a:noAutofit/>
          </a:bodyPr>
          <a:lstStyle/>
          <a:p>
            <a:pPr marL="285750" indent="-285750" algn="just"/>
            <a:r>
              <a:rPr lang="en-US" sz="2100" b="1" dirty="0" smtClean="0"/>
              <a:t>Repositioning within a file: </a:t>
            </a:r>
            <a:r>
              <a:rPr lang="en-US" sz="2100" dirty="0" smtClean="0"/>
              <a:t>The directory is searched for the appropriate entry, and the current file position is set to a given value. Repositioning within a file does not need to involve any actual I/O. This file operation is also known as a file seeks.</a:t>
            </a:r>
          </a:p>
          <a:p>
            <a:pPr marL="285750" indent="-285750" algn="just"/>
            <a:endParaRPr lang="en-US" sz="2100" dirty="0" smtClean="0"/>
          </a:p>
          <a:p>
            <a:pPr marL="285750" indent="-285750" algn="just"/>
            <a:r>
              <a:rPr lang="en-US" sz="2100" b="1" dirty="0" smtClean="0"/>
              <a:t>Deleting a file: </a:t>
            </a:r>
            <a:r>
              <a:rPr lang="en-US" sz="2100" dirty="0" smtClean="0"/>
              <a:t>To delete a file, we search the directory for the named file. Having found the associated directory entry, we release all file space and erase the directory entry.</a:t>
            </a:r>
          </a:p>
          <a:p>
            <a:pPr marL="285750" indent="-285750" algn="just"/>
            <a:endParaRPr lang="en-US" sz="2100" dirty="0" smtClean="0"/>
          </a:p>
          <a:p>
            <a:pPr marL="285750" indent="-285750" algn="just"/>
            <a:r>
              <a:rPr lang="en-US" sz="2100" b="1" dirty="0" smtClean="0"/>
              <a:t>Truncating a file: </a:t>
            </a:r>
            <a:r>
              <a:rPr lang="en-US" sz="2100" dirty="0" smtClean="0"/>
              <a:t>Instead of deleting a file and then recreate it, this function allows all attributes to remain unchanged but for the file to be reset to length zero. User wants to erase the contents of the file.</a:t>
            </a:r>
          </a:p>
          <a:p>
            <a:pPr marL="285750" indent="-285750" algn="just"/>
            <a:endParaRPr lang="en-US" sz="2100" dirty="0" smtClean="0"/>
          </a:p>
          <a:p>
            <a:pPr marL="285750" indent="-285750" algn="just"/>
            <a:r>
              <a:rPr lang="en-US" sz="2100" dirty="0" smtClean="0"/>
              <a:t>Other common operations include appending new information to the end of an existing file, and renaming an existing file.</a:t>
            </a:r>
            <a:endParaRPr lang="en-US" sz="2100" dirty="0"/>
          </a:p>
        </p:txBody>
      </p:sp>
      <p:sp>
        <p:nvSpPr>
          <p:cNvPr id="105" name="Google Shape;105;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pPr marL="0" lvl="0" indent="0" algn="r" rtl="0">
                <a:spcBef>
                  <a:spcPts val="0"/>
                </a:spcBef>
                <a:spcAft>
                  <a:spcPts val="0"/>
                </a:spcAft>
                <a:buNone/>
              </a:pPr>
              <a:t>6</a:t>
            </a:fld>
            <a:endParaRPr/>
          </a:p>
        </p:txBody>
      </p:sp>
    </p:spTree>
    <p:extLst>
      <p:ext uri="{BB962C8B-B14F-4D97-AF65-F5344CB8AC3E}">
        <p14:creationId xmlns:p14="http://schemas.microsoft.com/office/powerpoint/2010/main" xmlns="" val="27412123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04">
                                            <p:txEl>
                                              <p:pRg st="0" end="0"/>
                                            </p:txEl>
                                          </p:spTgt>
                                        </p:tgtEl>
                                        <p:attrNameLst>
                                          <p:attrName>style.visibility</p:attrName>
                                        </p:attrNameLst>
                                      </p:cBhvr>
                                      <p:to>
                                        <p:strVal val="visible"/>
                                      </p:to>
                                    </p:set>
                                    <p:animEffect transition="in" filter="fade">
                                      <p:cBhvr>
                                        <p:cTn id="7" dur="1000"/>
                                        <p:tgtEl>
                                          <p:spTgt spid="104">
                                            <p:txEl>
                                              <p:pRg st="0" end="0"/>
                                            </p:txEl>
                                          </p:spTgt>
                                        </p:tgtEl>
                                      </p:cBhvr>
                                    </p:animEffect>
                                    <p:anim calcmode="lin" valueType="num">
                                      <p:cBhvr>
                                        <p:cTn id="8" dur="1000" fill="hold"/>
                                        <p:tgtEl>
                                          <p:spTgt spid="10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04">
                                            <p:txEl>
                                              <p:pRg st="0" end="0"/>
                                            </p:txEl>
                                          </p:spTgt>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grpId="0" nodeType="afterEffect">
                                  <p:stCondLst>
                                    <p:cond delay="0"/>
                                  </p:stCondLst>
                                  <p:childTnLst>
                                    <p:set>
                                      <p:cBhvr>
                                        <p:cTn id="12" dur="1" fill="hold">
                                          <p:stCondLst>
                                            <p:cond delay="0"/>
                                          </p:stCondLst>
                                        </p:cTn>
                                        <p:tgtEl>
                                          <p:spTgt spid="104">
                                            <p:txEl>
                                              <p:pRg st="2" end="2"/>
                                            </p:txEl>
                                          </p:spTgt>
                                        </p:tgtEl>
                                        <p:attrNameLst>
                                          <p:attrName>style.visibility</p:attrName>
                                        </p:attrNameLst>
                                      </p:cBhvr>
                                      <p:to>
                                        <p:strVal val="visible"/>
                                      </p:to>
                                    </p:set>
                                    <p:animEffect transition="in" filter="fade">
                                      <p:cBhvr>
                                        <p:cTn id="13" dur="1000"/>
                                        <p:tgtEl>
                                          <p:spTgt spid="104">
                                            <p:txEl>
                                              <p:pRg st="2" end="2"/>
                                            </p:txEl>
                                          </p:spTgt>
                                        </p:tgtEl>
                                      </p:cBhvr>
                                    </p:animEffect>
                                    <p:anim calcmode="lin" valueType="num">
                                      <p:cBhvr>
                                        <p:cTn id="14" dur="1000" fill="hold"/>
                                        <p:tgtEl>
                                          <p:spTgt spid="104">
                                            <p:txEl>
                                              <p:pRg st="2" end="2"/>
                                            </p:txEl>
                                          </p:spTgt>
                                        </p:tgtEl>
                                        <p:attrNameLst>
                                          <p:attrName>ppt_x</p:attrName>
                                        </p:attrNameLst>
                                      </p:cBhvr>
                                      <p:tavLst>
                                        <p:tav tm="0">
                                          <p:val>
                                            <p:strVal val="#ppt_x"/>
                                          </p:val>
                                        </p:tav>
                                        <p:tav tm="100000">
                                          <p:val>
                                            <p:strVal val="#ppt_x"/>
                                          </p:val>
                                        </p:tav>
                                      </p:tavLst>
                                    </p:anim>
                                    <p:anim calcmode="lin" valueType="num">
                                      <p:cBhvr>
                                        <p:cTn id="15" dur="1000" fill="hold"/>
                                        <p:tgtEl>
                                          <p:spTgt spid="104">
                                            <p:txEl>
                                              <p:pRg st="2" end="2"/>
                                            </p:txEl>
                                          </p:spTgt>
                                        </p:tgtEl>
                                        <p:attrNameLst>
                                          <p:attrName>ppt_y</p:attrName>
                                        </p:attrNameLst>
                                      </p:cBhvr>
                                      <p:tavLst>
                                        <p:tav tm="0">
                                          <p:val>
                                            <p:strVal val="#ppt_y+.1"/>
                                          </p:val>
                                        </p:tav>
                                        <p:tav tm="100000">
                                          <p:val>
                                            <p:strVal val="#ppt_y"/>
                                          </p:val>
                                        </p:tav>
                                      </p:tavLst>
                                    </p:anim>
                                  </p:childTnLst>
                                </p:cTn>
                              </p:par>
                            </p:childTnLst>
                          </p:cTn>
                        </p:par>
                        <p:par>
                          <p:cTn id="16" fill="hold">
                            <p:stCondLst>
                              <p:cond delay="2000"/>
                            </p:stCondLst>
                            <p:childTnLst>
                              <p:par>
                                <p:cTn id="17" presetID="42" presetClass="entr" presetSubtype="0" fill="hold" grpId="0" nodeType="afterEffect">
                                  <p:stCondLst>
                                    <p:cond delay="0"/>
                                  </p:stCondLst>
                                  <p:childTnLst>
                                    <p:set>
                                      <p:cBhvr>
                                        <p:cTn id="18" dur="1" fill="hold">
                                          <p:stCondLst>
                                            <p:cond delay="0"/>
                                          </p:stCondLst>
                                        </p:cTn>
                                        <p:tgtEl>
                                          <p:spTgt spid="104">
                                            <p:txEl>
                                              <p:pRg st="4" end="4"/>
                                            </p:txEl>
                                          </p:spTgt>
                                        </p:tgtEl>
                                        <p:attrNameLst>
                                          <p:attrName>style.visibility</p:attrName>
                                        </p:attrNameLst>
                                      </p:cBhvr>
                                      <p:to>
                                        <p:strVal val="visible"/>
                                      </p:to>
                                    </p:set>
                                    <p:animEffect transition="in" filter="fade">
                                      <p:cBhvr>
                                        <p:cTn id="19" dur="1000"/>
                                        <p:tgtEl>
                                          <p:spTgt spid="104">
                                            <p:txEl>
                                              <p:pRg st="4" end="4"/>
                                            </p:txEl>
                                          </p:spTgt>
                                        </p:tgtEl>
                                      </p:cBhvr>
                                    </p:animEffect>
                                    <p:anim calcmode="lin" valueType="num">
                                      <p:cBhvr>
                                        <p:cTn id="20" dur="1000" fill="hold"/>
                                        <p:tgtEl>
                                          <p:spTgt spid="104">
                                            <p:txEl>
                                              <p:pRg st="4" end="4"/>
                                            </p:txEl>
                                          </p:spTgt>
                                        </p:tgtEl>
                                        <p:attrNameLst>
                                          <p:attrName>ppt_x</p:attrName>
                                        </p:attrNameLst>
                                      </p:cBhvr>
                                      <p:tavLst>
                                        <p:tav tm="0">
                                          <p:val>
                                            <p:strVal val="#ppt_x"/>
                                          </p:val>
                                        </p:tav>
                                        <p:tav tm="100000">
                                          <p:val>
                                            <p:strVal val="#ppt_x"/>
                                          </p:val>
                                        </p:tav>
                                      </p:tavLst>
                                    </p:anim>
                                    <p:anim calcmode="lin" valueType="num">
                                      <p:cBhvr>
                                        <p:cTn id="21" dur="1000" fill="hold"/>
                                        <p:tgtEl>
                                          <p:spTgt spid="104">
                                            <p:txEl>
                                              <p:pRg st="4" end="4"/>
                                            </p:txEl>
                                          </p:spTgt>
                                        </p:tgtEl>
                                        <p:attrNameLst>
                                          <p:attrName>ppt_y</p:attrName>
                                        </p:attrNameLst>
                                      </p:cBhvr>
                                      <p:tavLst>
                                        <p:tav tm="0">
                                          <p:val>
                                            <p:strVal val="#ppt_y+.1"/>
                                          </p:val>
                                        </p:tav>
                                        <p:tav tm="100000">
                                          <p:val>
                                            <p:strVal val="#ppt_y"/>
                                          </p:val>
                                        </p:tav>
                                      </p:tavLst>
                                    </p:anim>
                                  </p:childTnLst>
                                </p:cTn>
                              </p:par>
                            </p:childTnLst>
                          </p:cTn>
                        </p:par>
                        <p:par>
                          <p:cTn id="22" fill="hold">
                            <p:stCondLst>
                              <p:cond delay="3000"/>
                            </p:stCondLst>
                            <p:childTnLst>
                              <p:par>
                                <p:cTn id="23" presetID="42" presetClass="entr" presetSubtype="0" fill="hold" grpId="0" nodeType="afterEffect">
                                  <p:stCondLst>
                                    <p:cond delay="0"/>
                                  </p:stCondLst>
                                  <p:childTnLst>
                                    <p:set>
                                      <p:cBhvr>
                                        <p:cTn id="24" dur="1" fill="hold">
                                          <p:stCondLst>
                                            <p:cond delay="0"/>
                                          </p:stCondLst>
                                        </p:cTn>
                                        <p:tgtEl>
                                          <p:spTgt spid="104">
                                            <p:txEl>
                                              <p:pRg st="6" end="6"/>
                                            </p:txEl>
                                          </p:spTgt>
                                        </p:tgtEl>
                                        <p:attrNameLst>
                                          <p:attrName>style.visibility</p:attrName>
                                        </p:attrNameLst>
                                      </p:cBhvr>
                                      <p:to>
                                        <p:strVal val="visible"/>
                                      </p:to>
                                    </p:set>
                                    <p:animEffect transition="in" filter="fade">
                                      <p:cBhvr>
                                        <p:cTn id="25" dur="1000"/>
                                        <p:tgtEl>
                                          <p:spTgt spid="104">
                                            <p:txEl>
                                              <p:pRg st="6" end="6"/>
                                            </p:txEl>
                                          </p:spTgt>
                                        </p:tgtEl>
                                      </p:cBhvr>
                                    </p:animEffect>
                                    <p:anim calcmode="lin" valueType="num">
                                      <p:cBhvr>
                                        <p:cTn id="26" dur="1000" fill="hold"/>
                                        <p:tgtEl>
                                          <p:spTgt spid="104">
                                            <p:txEl>
                                              <p:pRg st="6" end="6"/>
                                            </p:txEl>
                                          </p:spTgt>
                                        </p:tgtEl>
                                        <p:attrNameLst>
                                          <p:attrName>ppt_x</p:attrName>
                                        </p:attrNameLst>
                                      </p:cBhvr>
                                      <p:tavLst>
                                        <p:tav tm="0">
                                          <p:val>
                                            <p:strVal val="#ppt_x"/>
                                          </p:val>
                                        </p:tav>
                                        <p:tav tm="100000">
                                          <p:val>
                                            <p:strVal val="#ppt_x"/>
                                          </p:val>
                                        </p:tav>
                                      </p:tavLst>
                                    </p:anim>
                                    <p:anim calcmode="lin" valueType="num">
                                      <p:cBhvr>
                                        <p:cTn id="27" dur="1000" fill="hold"/>
                                        <p:tgtEl>
                                          <p:spTgt spid="104">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2"/>
          <p:cNvSpPr txBox="1">
            <a:spLocks noGrp="1"/>
          </p:cNvSpPr>
          <p:nvPr>
            <p:ph type="title"/>
          </p:nvPr>
        </p:nvSpPr>
        <p:spPr>
          <a:xfrm>
            <a:off x="0" y="0"/>
            <a:ext cx="9144000" cy="1066800"/>
          </a:xfrm>
          <a:prstGeom prst="rect">
            <a:avLst/>
          </a:prstGeom>
          <a:ln/>
        </p:spPr>
        <p:style>
          <a:lnRef idx="0">
            <a:schemeClr val="accent3"/>
          </a:lnRef>
          <a:fillRef idx="3">
            <a:schemeClr val="accent3"/>
          </a:fillRef>
          <a:effectRef idx="3">
            <a:schemeClr val="accent3"/>
          </a:effectRef>
          <a:fontRef idx="minor">
            <a:schemeClr val="lt1"/>
          </a:fontRef>
        </p:style>
        <p:txBody>
          <a:bodyPr spcFirstLastPara="1" wrap="square" lIns="91425" tIns="45700" rIns="91425" bIns="45700" anchor="ctr" anchorCtr="0">
            <a:normAutofit/>
          </a:bodyPr>
          <a:lstStyle/>
          <a:p>
            <a:pPr lvl="0">
              <a:defRPr/>
            </a:pPr>
            <a:r>
              <a:rPr lang="en-US" b="1" dirty="0">
                <a:ln w="1905"/>
                <a:solidFill>
                  <a:schemeClr val="tx1"/>
                </a:solidFill>
                <a:effectLst>
                  <a:innerShdw blurRad="69850" dist="43180" dir="5400000">
                    <a:srgbClr val="000000">
                      <a:alpha val="65000"/>
                    </a:srgbClr>
                  </a:innerShdw>
                </a:effectLst>
              </a:rPr>
              <a:t>File Structure</a:t>
            </a:r>
          </a:p>
        </p:txBody>
      </p:sp>
      <p:sp>
        <p:nvSpPr>
          <p:cNvPr id="105" name="Google Shape;105;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pPr marL="0" lvl="0" indent="0" algn="r" rtl="0">
                <a:spcBef>
                  <a:spcPts val="0"/>
                </a:spcBef>
                <a:spcAft>
                  <a:spcPts val="0"/>
                </a:spcAft>
                <a:buNone/>
              </a:pPr>
              <a:t>7</a:t>
            </a:fld>
            <a:endParaRPr/>
          </a:p>
        </p:txBody>
      </p:sp>
      <p:pic>
        <p:nvPicPr>
          <p:cNvPr id="5" name="Picture 3"/>
          <p:cNvPicPr>
            <a:picLocks noChangeAspect="1" noChangeArrowheads="1"/>
          </p:cNvPicPr>
          <p:nvPr/>
        </p:nvPicPr>
        <p:blipFill>
          <a:blip r:embed="rId3">
            <a:extLst>
              <a:ext uri="{28A0092B-C50C-407E-A947-70E740481C1C}">
                <a14:useLocalDpi xmlns:a14="http://schemas.microsoft.com/office/drawing/2010/main" xmlns="" val="0"/>
              </a:ext>
            </a:extLst>
          </a:blip>
          <a:srcRect/>
          <a:stretch>
            <a:fillRect/>
          </a:stretch>
        </p:blipFill>
        <p:spPr bwMode="auto">
          <a:xfrm>
            <a:off x="152400" y="1219200"/>
            <a:ext cx="8915400" cy="539090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29984782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2"/>
          <p:cNvSpPr txBox="1">
            <a:spLocks noGrp="1"/>
          </p:cNvSpPr>
          <p:nvPr>
            <p:ph type="title"/>
          </p:nvPr>
        </p:nvSpPr>
        <p:spPr>
          <a:xfrm>
            <a:off x="0" y="0"/>
            <a:ext cx="9144000" cy="1066800"/>
          </a:xfrm>
          <a:prstGeom prst="rect">
            <a:avLst/>
          </a:prstGeom>
          <a:ln/>
        </p:spPr>
        <p:style>
          <a:lnRef idx="0">
            <a:schemeClr val="accent3"/>
          </a:lnRef>
          <a:fillRef idx="3">
            <a:schemeClr val="accent3"/>
          </a:fillRef>
          <a:effectRef idx="3">
            <a:schemeClr val="accent3"/>
          </a:effectRef>
          <a:fontRef idx="minor">
            <a:schemeClr val="lt1"/>
          </a:fontRef>
        </p:style>
        <p:txBody>
          <a:bodyPr spcFirstLastPara="1" wrap="square" lIns="91425" tIns="45700" rIns="91425" bIns="45700" anchor="ctr" anchorCtr="0">
            <a:normAutofit/>
          </a:bodyPr>
          <a:lstStyle/>
          <a:p>
            <a:pPr lvl="0">
              <a:defRPr/>
            </a:pPr>
            <a:r>
              <a:rPr lang="en-US" b="1" dirty="0">
                <a:ln w="1905"/>
                <a:solidFill>
                  <a:schemeClr val="tx1"/>
                </a:solidFill>
                <a:effectLst>
                  <a:innerShdw blurRad="69850" dist="43180" dir="5400000">
                    <a:srgbClr val="000000">
                      <a:alpha val="65000"/>
                    </a:srgbClr>
                  </a:innerShdw>
                </a:effectLst>
              </a:rPr>
              <a:t>Serial File</a:t>
            </a:r>
          </a:p>
        </p:txBody>
      </p:sp>
      <p:sp>
        <p:nvSpPr>
          <p:cNvPr id="105" name="Google Shape;105;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pPr marL="0" lvl="0" indent="0" algn="r" rtl="0">
                <a:spcBef>
                  <a:spcPts val="0"/>
                </a:spcBef>
                <a:spcAft>
                  <a:spcPts val="0"/>
                </a:spcAft>
                <a:buNone/>
              </a:pPr>
              <a:t>8</a:t>
            </a:fld>
            <a:endParaRPr/>
          </a:p>
        </p:txBody>
      </p:sp>
      <p:sp>
        <p:nvSpPr>
          <p:cNvPr id="5" name="TextBox 4"/>
          <p:cNvSpPr txBox="1"/>
          <p:nvPr/>
        </p:nvSpPr>
        <p:spPr>
          <a:xfrm>
            <a:off x="76201" y="1177871"/>
            <a:ext cx="5410200" cy="5693866"/>
          </a:xfrm>
          <a:prstGeom prst="rect">
            <a:avLst/>
          </a:prstGeom>
          <a:noFill/>
        </p:spPr>
        <p:txBody>
          <a:bodyPr wrap="square" rtlCol="0">
            <a:spAutoFit/>
          </a:bodyPr>
          <a:lstStyle/>
          <a:p>
            <a:pPr marL="285750" indent="-285750" algn="just">
              <a:buFont typeface="Arial" pitchFamily="34" charset="0"/>
              <a:buChar char="•"/>
            </a:pPr>
            <a:r>
              <a:rPr lang="en-US" sz="2800" dirty="0"/>
              <a:t>The least complicated form of file </a:t>
            </a:r>
            <a:r>
              <a:rPr lang="en-US" sz="2800" dirty="0" smtClean="0"/>
              <a:t>organization is </a:t>
            </a:r>
            <a:r>
              <a:rPr lang="en-US" sz="2800" dirty="0"/>
              <a:t>the serial file or pile. Data are collected in </a:t>
            </a:r>
            <a:r>
              <a:rPr lang="en-US" sz="2800" dirty="0" smtClean="0"/>
              <a:t>the order </a:t>
            </a:r>
            <a:r>
              <a:rPr lang="en-US" sz="2800" dirty="0"/>
              <a:t>in which they arrive.</a:t>
            </a:r>
          </a:p>
          <a:p>
            <a:pPr marL="285750" indent="-285750" algn="just">
              <a:buFont typeface="Arial" pitchFamily="34" charset="0"/>
              <a:buChar char="•"/>
            </a:pPr>
            <a:endParaRPr lang="en-US" sz="2800" dirty="0" smtClean="0"/>
          </a:p>
          <a:p>
            <a:pPr marL="285750" indent="-285750" algn="just">
              <a:buFont typeface="Arial" pitchFamily="34" charset="0"/>
              <a:buChar char="•"/>
            </a:pPr>
            <a:r>
              <a:rPr lang="en-US" sz="2800" dirty="0" smtClean="0"/>
              <a:t>The </a:t>
            </a:r>
            <a:r>
              <a:rPr lang="en-US" sz="2800" dirty="0"/>
              <a:t>purpose of this file is simply </a:t>
            </a:r>
            <a:r>
              <a:rPr lang="en-US" sz="2800" dirty="0" smtClean="0"/>
              <a:t>accumulating the </a:t>
            </a:r>
            <a:r>
              <a:rPr lang="en-US" sz="2800" dirty="0"/>
              <a:t>mass of data and save it. Records may </a:t>
            </a:r>
            <a:r>
              <a:rPr lang="en-US" sz="2800" dirty="0" smtClean="0"/>
              <a:t>have different </a:t>
            </a:r>
            <a:r>
              <a:rPr lang="en-US" sz="2800" dirty="0"/>
              <a:t>fields, or similar fields in </a:t>
            </a:r>
            <a:r>
              <a:rPr lang="en-US" sz="2800" dirty="0" smtClean="0"/>
              <a:t>different orders</a:t>
            </a:r>
            <a:r>
              <a:rPr lang="en-US" sz="2800" dirty="0"/>
              <a:t>. Thus, each field should be </a:t>
            </a:r>
            <a:r>
              <a:rPr lang="en-US" sz="2800" dirty="0" smtClean="0"/>
              <a:t>self describing including </a:t>
            </a:r>
            <a:r>
              <a:rPr lang="en-US" sz="2800" dirty="0"/>
              <a:t>a field name as well as </a:t>
            </a:r>
            <a:r>
              <a:rPr lang="en-US" sz="2800" dirty="0" smtClean="0"/>
              <a:t>a value</a:t>
            </a:r>
            <a:r>
              <a:rPr lang="en-US" sz="2800" dirty="0"/>
              <a:t>.</a:t>
            </a:r>
          </a:p>
        </p:txBody>
      </p:sp>
      <p:pic>
        <p:nvPicPr>
          <p:cNvPr id="6" name="Picture 2"/>
          <p:cNvPicPr>
            <a:picLocks noChangeAspect="1" noChangeArrowheads="1"/>
          </p:cNvPicPr>
          <p:nvPr/>
        </p:nvPicPr>
        <p:blipFill>
          <a:blip r:embed="rId3">
            <a:extLst>
              <a:ext uri="{28A0092B-C50C-407E-A947-70E740481C1C}">
                <a14:useLocalDpi xmlns:a14="http://schemas.microsoft.com/office/drawing/2010/main" xmlns="" val="0"/>
              </a:ext>
            </a:extLst>
          </a:blip>
          <a:srcRect/>
          <a:stretch>
            <a:fillRect/>
          </a:stretch>
        </p:blipFill>
        <p:spPr bwMode="auto">
          <a:xfrm>
            <a:off x="5563892" y="1285389"/>
            <a:ext cx="3152775" cy="526781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329428166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2"/>
          <p:cNvSpPr txBox="1">
            <a:spLocks noGrp="1"/>
          </p:cNvSpPr>
          <p:nvPr>
            <p:ph type="title"/>
          </p:nvPr>
        </p:nvSpPr>
        <p:spPr>
          <a:xfrm>
            <a:off x="0" y="0"/>
            <a:ext cx="9144000" cy="1066800"/>
          </a:xfrm>
          <a:prstGeom prst="rect">
            <a:avLst/>
          </a:prstGeom>
          <a:ln/>
        </p:spPr>
        <p:style>
          <a:lnRef idx="0">
            <a:schemeClr val="accent3"/>
          </a:lnRef>
          <a:fillRef idx="3">
            <a:schemeClr val="accent3"/>
          </a:fillRef>
          <a:effectRef idx="3">
            <a:schemeClr val="accent3"/>
          </a:effectRef>
          <a:fontRef idx="minor">
            <a:schemeClr val="lt1"/>
          </a:fontRef>
        </p:style>
        <p:txBody>
          <a:bodyPr spcFirstLastPara="1" wrap="square" lIns="91425" tIns="45700" rIns="91425" bIns="45700" anchor="ctr" anchorCtr="0">
            <a:normAutofit/>
          </a:bodyPr>
          <a:lstStyle/>
          <a:p>
            <a:pPr lvl="0">
              <a:defRPr/>
            </a:pPr>
            <a:r>
              <a:rPr lang="en-US" b="1" dirty="0">
                <a:ln w="1905"/>
                <a:solidFill>
                  <a:schemeClr val="tx1"/>
                </a:solidFill>
                <a:effectLst>
                  <a:innerShdw blurRad="69850" dist="43180" dir="5400000">
                    <a:srgbClr val="000000">
                      <a:alpha val="65000"/>
                    </a:srgbClr>
                  </a:innerShdw>
                </a:effectLst>
              </a:rPr>
              <a:t>Serial File</a:t>
            </a:r>
          </a:p>
        </p:txBody>
      </p:sp>
      <p:sp>
        <p:nvSpPr>
          <p:cNvPr id="104" name="Google Shape;104;p2"/>
          <p:cNvSpPr txBox="1">
            <a:spLocks noGrp="1"/>
          </p:cNvSpPr>
          <p:nvPr>
            <p:ph type="body" idx="1"/>
          </p:nvPr>
        </p:nvSpPr>
        <p:spPr>
          <a:xfrm>
            <a:off x="0" y="1047750"/>
            <a:ext cx="9144000" cy="5943600"/>
          </a:xfrm>
          <a:prstGeom prst="rect">
            <a:avLst/>
          </a:prstGeom>
          <a:noFill/>
          <a:ln>
            <a:noFill/>
          </a:ln>
        </p:spPr>
        <p:txBody>
          <a:bodyPr spcFirstLastPara="1" wrap="square" lIns="91425" tIns="45700" rIns="91425" bIns="45700" anchor="t" anchorCtr="0">
            <a:noAutofit/>
          </a:bodyPr>
          <a:lstStyle/>
          <a:p>
            <a:r>
              <a:rPr lang="en-US" sz="2400" b="1" dirty="0" smtClean="0"/>
              <a:t>Advantages of Serial File:</a:t>
            </a:r>
          </a:p>
          <a:p>
            <a:r>
              <a:rPr lang="en-US" sz="2400" dirty="0" smtClean="0"/>
              <a:t>1. Simple organization.</a:t>
            </a:r>
          </a:p>
          <a:p>
            <a:r>
              <a:rPr lang="en-US" sz="2400" dirty="0" smtClean="0"/>
              <a:t>2. Data usually stored prior to processing.</a:t>
            </a:r>
          </a:p>
          <a:p>
            <a:r>
              <a:rPr lang="en-US" sz="2400" dirty="0" smtClean="0"/>
              <a:t>3. Less complexity and good efficiency for variable sized record.</a:t>
            </a:r>
          </a:p>
          <a:p>
            <a:r>
              <a:rPr lang="en-US" sz="2400" dirty="0" smtClean="0"/>
              <a:t>4. Utilizes space very well for varying data structure.</a:t>
            </a:r>
          </a:p>
          <a:p>
            <a:endParaRPr lang="en-US" sz="2400" b="1" dirty="0" smtClean="0"/>
          </a:p>
          <a:p>
            <a:r>
              <a:rPr lang="en-US" sz="2400" b="1" dirty="0" smtClean="0"/>
              <a:t>Disadvantages of Serial File:</a:t>
            </a:r>
          </a:p>
          <a:p>
            <a:r>
              <a:rPr lang="en-US" sz="2400" dirty="0" smtClean="0"/>
              <a:t>1. Because there is no structure to these file, record access is very difficult.</a:t>
            </a:r>
          </a:p>
          <a:p>
            <a:r>
              <a:rPr lang="en-US" sz="2400" dirty="0" smtClean="0"/>
              <a:t>2. Required more searching time.</a:t>
            </a:r>
          </a:p>
          <a:p>
            <a:r>
              <a:rPr lang="en-US" sz="2400" dirty="0" smtClean="0"/>
              <a:t>3. Records are not arrange in proper manner.</a:t>
            </a:r>
            <a:endParaRPr lang="en-US" sz="2400" dirty="0"/>
          </a:p>
        </p:txBody>
      </p:sp>
      <p:sp>
        <p:nvSpPr>
          <p:cNvPr id="105" name="Google Shape;105;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pPr marL="0" lvl="0" indent="0" algn="r" rtl="0">
                <a:spcBef>
                  <a:spcPts val="0"/>
                </a:spcBef>
                <a:spcAft>
                  <a:spcPts val="0"/>
                </a:spcAft>
                <a:buNone/>
              </a:pPr>
              <a:t>9</a:t>
            </a:fld>
            <a:endParaRPr/>
          </a:p>
        </p:txBody>
      </p:sp>
    </p:spTree>
    <p:extLst>
      <p:ext uri="{BB962C8B-B14F-4D97-AF65-F5344CB8AC3E}">
        <p14:creationId xmlns:p14="http://schemas.microsoft.com/office/powerpoint/2010/main" xmlns="" val="25681241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04">
                                            <p:txEl>
                                              <p:pRg st="0" end="0"/>
                                            </p:txEl>
                                          </p:spTgt>
                                        </p:tgtEl>
                                        <p:attrNameLst>
                                          <p:attrName>style.visibility</p:attrName>
                                        </p:attrNameLst>
                                      </p:cBhvr>
                                      <p:to>
                                        <p:strVal val="visible"/>
                                      </p:to>
                                    </p:set>
                                    <p:animEffect transition="in" filter="fade">
                                      <p:cBhvr>
                                        <p:cTn id="7" dur="1000"/>
                                        <p:tgtEl>
                                          <p:spTgt spid="104">
                                            <p:txEl>
                                              <p:pRg st="0" end="0"/>
                                            </p:txEl>
                                          </p:spTgt>
                                        </p:tgtEl>
                                      </p:cBhvr>
                                    </p:animEffect>
                                    <p:anim calcmode="lin" valueType="num">
                                      <p:cBhvr>
                                        <p:cTn id="8" dur="1000" fill="hold"/>
                                        <p:tgtEl>
                                          <p:spTgt spid="10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04">
                                            <p:txEl>
                                              <p:pRg st="0" end="0"/>
                                            </p:txEl>
                                          </p:spTgt>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grpId="0" nodeType="afterEffect">
                                  <p:stCondLst>
                                    <p:cond delay="0"/>
                                  </p:stCondLst>
                                  <p:childTnLst>
                                    <p:set>
                                      <p:cBhvr>
                                        <p:cTn id="12" dur="1" fill="hold">
                                          <p:stCondLst>
                                            <p:cond delay="0"/>
                                          </p:stCondLst>
                                        </p:cTn>
                                        <p:tgtEl>
                                          <p:spTgt spid="104">
                                            <p:txEl>
                                              <p:pRg st="1" end="1"/>
                                            </p:txEl>
                                          </p:spTgt>
                                        </p:tgtEl>
                                        <p:attrNameLst>
                                          <p:attrName>style.visibility</p:attrName>
                                        </p:attrNameLst>
                                      </p:cBhvr>
                                      <p:to>
                                        <p:strVal val="visible"/>
                                      </p:to>
                                    </p:set>
                                    <p:animEffect transition="in" filter="fade">
                                      <p:cBhvr>
                                        <p:cTn id="13" dur="1000"/>
                                        <p:tgtEl>
                                          <p:spTgt spid="104">
                                            <p:txEl>
                                              <p:pRg st="1" end="1"/>
                                            </p:txEl>
                                          </p:spTgt>
                                        </p:tgtEl>
                                      </p:cBhvr>
                                    </p:animEffect>
                                    <p:anim calcmode="lin" valueType="num">
                                      <p:cBhvr>
                                        <p:cTn id="14" dur="1000" fill="hold"/>
                                        <p:tgtEl>
                                          <p:spTgt spid="104">
                                            <p:txEl>
                                              <p:pRg st="1" end="1"/>
                                            </p:txEl>
                                          </p:spTgt>
                                        </p:tgtEl>
                                        <p:attrNameLst>
                                          <p:attrName>ppt_x</p:attrName>
                                        </p:attrNameLst>
                                      </p:cBhvr>
                                      <p:tavLst>
                                        <p:tav tm="0">
                                          <p:val>
                                            <p:strVal val="#ppt_x"/>
                                          </p:val>
                                        </p:tav>
                                        <p:tav tm="100000">
                                          <p:val>
                                            <p:strVal val="#ppt_x"/>
                                          </p:val>
                                        </p:tav>
                                      </p:tavLst>
                                    </p:anim>
                                    <p:anim calcmode="lin" valueType="num">
                                      <p:cBhvr>
                                        <p:cTn id="15" dur="1000" fill="hold"/>
                                        <p:tgtEl>
                                          <p:spTgt spid="104">
                                            <p:txEl>
                                              <p:pRg st="1" end="1"/>
                                            </p:txEl>
                                          </p:spTgt>
                                        </p:tgtEl>
                                        <p:attrNameLst>
                                          <p:attrName>ppt_y</p:attrName>
                                        </p:attrNameLst>
                                      </p:cBhvr>
                                      <p:tavLst>
                                        <p:tav tm="0">
                                          <p:val>
                                            <p:strVal val="#ppt_y+.1"/>
                                          </p:val>
                                        </p:tav>
                                        <p:tav tm="100000">
                                          <p:val>
                                            <p:strVal val="#ppt_y"/>
                                          </p:val>
                                        </p:tav>
                                      </p:tavLst>
                                    </p:anim>
                                  </p:childTnLst>
                                </p:cTn>
                              </p:par>
                            </p:childTnLst>
                          </p:cTn>
                        </p:par>
                        <p:par>
                          <p:cTn id="16" fill="hold">
                            <p:stCondLst>
                              <p:cond delay="2000"/>
                            </p:stCondLst>
                            <p:childTnLst>
                              <p:par>
                                <p:cTn id="17" presetID="42" presetClass="entr" presetSubtype="0" fill="hold" grpId="0" nodeType="afterEffect">
                                  <p:stCondLst>
                                    <p:cond delay="0"/>
                                  </p:stCondLst>
                                  <p:childTnLst>
                                    <p:set>
                                      <p:cBhvr>
                                        <p:cTn id="18" dur="1" fill="hold">
                                          <p:stCondLst>
                                            <p:cond delay="0"/>
                                          </p:stCondLst>
                                        </p:cTn>
                                        <p:tgtEl>
                                          <p:spTgt spid="104">
                                            <p:txEl>
                                              <p:pRg st="2" end="2"/>
                                            </p:txEl>
                                          </p:spTgt>
                                        </p:tgtEl>
                                        <p:attrNameLst>
                                          <p:attrName>style.visibility</p:attrName>
                                        </p:attrNameLst>
                                      </p:cBhvr>
                                      <p:to>
                                        <p:strVal val="visible"/>
                                      </p:to>
                                    </p:set>
                                    <p:animEffect transition="in" filter="fade">
                                      <p:cBhvr>
                                        <p:cTn id="19" dur="1000"/>
                                        <p:tgtEl>
                                          <p:spTgt spid="104">
                                            <p:txEl>
                                              <p:pRg st="2" end="2"/>
                                            </p:txEl>
                                          </p:spTgt>
                                        </p:tgtEl>
                                      </p:cBhvr>
                                    </p:animEffect>
                                    <p:anim calcmode="lin" valueType="num">
                                      <p:cBhvr>
                                        <p:cTn id="20" dur="1000" fill="hold"/>
                                        <p:tgtEl>
                                          <p:spTgt spid="104">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104">
                                            <p:txEl>
                                              <p:pRg st="2" end="2"/>
                                            </p:txEl>
                                          </p:spTgt>
                                        </p:tgtEl>
                                        <p:attrNameLst>
                                          <p:attrName>ppt_y</p:attrName>
                                        </p:attrNameLst>
                                      </p:cBhvr>
                                      <p:tavLst>
                                        <p:tav tm="0">
                                          <p:val>
                                            <p:strVal val="#ppt_y+.1"/>
                                          </p:val>
                                        </p:tav>
                                        <p:tav tm="100000">
                                          <p:val>
                                            <p:strVal val="#ppt_y"/>
                                          </p:val>
                                        </p:tav>
                                      </p:tavLst>
                                    </p:anim>
                                  </p:childTnLst>
                                </p:cTn>
                              </p:par>
                            </p:childTnLst>
                          </p:cTn>
                        </p:par>
                        <p:par>
                          <p:cTn id="22" fill="hold">
                            <p:stCondLst>
                              <p:cond delay="3000"/>
                            </p:stCondLst>
                            <p:childTnLst>
                              <p:par>
                                <p:cTn id="23" presetID="42" presetClass="entr" presetSubtype="0" fill="hold" grpId="0" nodeType="afterEffect">
                                  <p:stCondLst>
                                    <p:cond delay="0"/>
                                  </p:stCondLst>
                                  <p:childTnLst>
                                    <p:set>
                                      <p:cBhvr>
                                        <p:cTn id="24" dur="1" fill="hold">
                                          <p:stCondLst>
                                            <p:cond delay="0"/>
                                          </p:stCondLst>
                                        </p:cTn>
                                        <p:tgtEl>
                                          <p:spTgt spid="104">
                                            <p:txEl>
                                              <p:pRg st="3" end="3"/>
                                            </p:txEl>
                                          </p:spTgt>
                                        </p:tgtEl>
                                        <p:attrNameLst>
                                          <p:attrName>style.visibility</p:attrName>
                                        </p:attrNameLst>
                                      </p:cBhvr>
                                      <p:to>
                                        <p:strVal val="visible"/>
                                      </p:to>
                                    </p:set>
                                    <p:animEffect transition="in" filter="fade">
                                      <p:cBhvr>
                                        <p:cTn id="25" dur="1000"/>
                                        <p:tgtEl>
                                          <p:spTgt spid="104">
                                            <p:txEl>
                                              <p:pRg st="3" end="3"/>
                                            </p:txEl>
                                          </p:spTgt>
                                        </p:tgtEl>
                                      </p:cBhvr>
                                    </p:animEffect>
                                    <p:anim calcmode="lin" valueType="num">
                                      <p:cBhvr>
                                        <p:cTn id="26" dur="1000" fill="hold"/>
                                        <p:tgtEl>
                                          <p:spTgt spid="104">
                                            <p:txEl>
                                              <p:pRg st="3" end="3"/>
                                            </p:txEl>
                                          </p:spTgt>
                                        </p:tgtEl>
                                        <p:attrNameLst>
                                          <p:attrName>ppt_x</p:attrName>
                                        </p:attrNameLst>
                                      </p:cBhvr>
                                      <p:tavLst>
                                        <p:tav tm="0">
                                          <p:val>
                                            <p:strVal val="#ppt_x"/>
                                          </p:val>
                                        </p:tav>
                                        <p:tav tm="100000">
                                          <p:val>
                                            <p:strVal val="#ppt_x"/>
                                          </p:val>
                                        </p:tav>
                                      </p:tavLst>
                                    </p:anim>
                                    <p:anim calcmode="lin" valueType="num">
                                      <p:cBhvr>
                                        <p:cTn id="27" dur="1000" fill="hold"/>
                                        <p:tgtEl>
                                          <p:spTgt spid="104">
                                            <p:txEl>
                                              <p:pRg st="3" end="3"/>
                                            </p:txEl>
                                          </p:spTgt>
                                        </p:tgtEl>
                                        <p:attrNameLst>
                                          <p:attrName>ppt_y</p:attrName>
                                        </p:attrNameLst>
                                      </p:cBhvr>
                                      <p:tavLst>
                                        <p:tav tm="0">
                                          <p:val>
                                            <p:strVal val="#ppt_y+.1"/>
                                          </p:val>
                                        </p:tav>
                                        <p:tav tm="100000">
                                          <p:val>
                                            <p:strVal val="#ppt_y"/>
                                          </p:val>
                                        </p:tav>
                                      </p:tavLst>
                                    </p:anim>
                                  </p:childTnLst>
                                </p:cTn>
                              </p:par>
                            </p:childTnLst>
                          </p:cTn>
                        </p:par>
                        <p:par>
                          <p:cTn id="28" fill="hold">
                            <p:stCondLst>
                              <p:cond delay="4000"/>
                            </p:stCondLst>
                            <p:childTnLst>
                              <p:par>
                                <p:cTn id="29" presetID="42" presetClass="entr" presetSubtype="0" fill="hold" grpId="0" nodeType="afterEffect">
                                  <p:stCondLst>
                                    <p:cond delay="0"/>
                                  </p:stCondLst>
                                  <p:childTnLst>
                                    <p:set>
                                      <p:cBhvr>
                                        <p:cTn id="30" dur="1" fill="hold">
                                          <p:stCondLst>
                                            <p:cond delay="0"/>
                                          </p:stCondLst>
                                        </p:cTn>
                                        <p:tgtEl>
                                          <p:spTgt spid="104">
                                            <p:txEl>
                                              <p:pRg st="4" end="4"/>
                                            </p:txEl>
                                          </p:spTgt>
                                        </p:tgtEl>
                                        <p:attrNameLst>
                                          <p:attrName>style.visibility</p:attrName>
                                        </p:attrNameLst>
                                      </p:cBhvr>
                                      <p:to>
                                        <p:strVal val="visible"/>
                                      </p:to>
                                    </p:set>
                                    <p:animEffect transition="in" filter="fade">
                                      <p:cBhvr>
                                        <p:cTn id="31" dur="1000"/>
                                        <p:tgtEl>
                                          <p:spTgt spid="104">
                                            <p:txEl>
                                              <p:pRg st="4" end="4"/>
                                            </p:txEl>
                                          </p:spTgt>
                                        </p:tgtEl>
                                      </p:cBhvr>
                                    </p:animEffect>
                                    <p:anim calcmode="lin" valueType="num">
                                      <p:cBhvr>
                                        <p:cTn id="32" dur="1000" fill="hold"/>
                                        <p:tgtEl>
                                          <p:spTgt spid="104">
                                            <p:txEl>
                                              <p:pRg st="4" end="4"/>
                                            </p:txEl>
                                          </p:spTgt>
                                        </p:tgtEl>
                                        <p:attrNameLst>
                                          <p:attrName>ppt_x</p:attrName>
                                        </p:attrNameLst>
                                      </p:cBhvr>
                                      <p:tavLst>
                                        <p:tav tm="0">
                                          <p:val>
                                            <p:strVal val="#ppt_x"/>
                                          </p:val>
                                        </p:tav>
                                        <p:tav tm="100000">
                                          <p:val>
                                            <p:strVal val="#ppt_x"/>
                                          </p:val>
                                        </p:tav>
                                      </p:tavLst>
                                    </p:anim>
                                    <p:anim calcmode="lin" valueType="num">
                                      <p:cBhvr>
                                        <p:cTn id="33" dur="1000" fill="hold"/>
                                        <p:tgtEl>
                                          <p:spTgt spid="104">
                                            <p:txEl>
                                              <p:pRg st="4" end="4"/>
                                            </p:txEl>
                                          </p:spTgt>
                                        </p:tgtEl>
                                        <p:attrNameLst>
                                          <p:attrName>ppt_y</p:attrName>
                                        </p:attrNameLst>
                                      </p:cBhvr>
                                      <p:tavLst>
                                        <p:tav tm="0">
                                          <p:val>
                                            <p:strVal val="#ppt_y+.1"/>
                                          </p:val>
                                        </p:tav>
                                        <p:tav tm="100000">
                                          <p:val>
                                            <p:strVal val="#ppt_y"/>
                                          </p:val>
                                        </p:tav>
                                      </p:tavLst>
                                    </p:anim>
                                  </p:childTnLst>
                                </p:cTn>
                              </p:par>
                            </p:childTnLst>
                          </p:cTn>
                        </p:par>
                        <p:par>
                          <p:cTn id="34" fill="hold">
                            <p:stCondLst>
                              <p:cond delay="5000"/>
                            </p:stCondLst>
                            <p:childTnLst>
                              <p:par>
                                <p:cTn id="35" presetID="42" presetClass="entr" presetSubtype="0" fill="hold" grpId="0" nodeType="afterEffect">
                                  <p:stCondLst>
                                    <p:cond delay="0"/>
                                  </p:stCondLst>
                                  <p:childTnLst>
                                    <p:set>
                                      <p:cBhvr>
                                        <p:cTn id="36" dur="1" fill="hold">
                                          <p:stCondLst>
                                            <p:cond delay="0"/>
                                          </p:stCondLst>
                                        </p:cTn>
                                        <p:tgtEl>
                                          <p:spTgt spid="104">
                                            <p:txEl>
                                              <p:pRg st="6" end="6"/>
                                            </p:txEl>
                                          </p:spTgt>
                                        </p:tgtEl>
                                        <p:attrNameLst>
                                          <p:attrName>style.visibility</p:attrName>
                                        </p:attrNameLst>
                                      </p:cBhvr>
                                      <p:to>
                                        <p:strVal val="visible"/>
                                      </p:to>
                                    </p:set>
                                    <p:animEffect transition="in" filter="fade">
                                      <p:cBhvr>
                                        <p:cTn id="37" dur="1000"/>
                                        <p:tgtEl>
                                          <p:spTgt spid="104">
                                            <p:txEl>
                                              <p:pRg st="6" end="6"/>
                                            </p:txEl>
                                          </p:spTgt>
                                        </p:tgtEl>
                                      </p:cBhvr>
                                    </p:animEffect>
                                    <p:anim calcmode="lin" valueType="num">
                                      <p:cBhvr>
                                        <p:cTn id="38" dur="1000" fill="hold"/>
                                        <p:tgtEl>
                                          <p:spTgt spid="104">
                                            <p:txEl>
                                              <p:pRg st="6" end="6"/>
                                            </p:txEl>
                                          </p:spTgt>
                                        </p:tgtEl>
                                        <p:attrNameLst>
                                          <p:attrName>ppt_x</p:attrName>
                                        </p:attrNameLst>
                                      </p:cBhvr>
                                      <p:tavLst>
                                        <p:tav tm="0">
                                          <p:val>
                                            <p:strVal val="#ppt_x"/>
                                          </p:val>
                                        </p:tav>
                                        <p:tav tm="100000">
                                          <p:val>
                                            <p:strVal val="#ppt_x"/>
                                          </p:val>
                                        </p:tav>
                                      </p:tavLst>
                                    </p:anim>
                                    <p:anim calcmode="lin" valueType="num">
                                      <p:cBhvr>
                                        <p:cTn id="39" dur="1000" fill="hold"/>
                                        <p:tgtEl>
                                          <p:spTgt spid="104">
                                            <p:txEl>
                                              <p:pRg st="6" end="6"/>
                                            </p:txEl>
                                          </p:spTgt>
                                        </p:tgtEl>
                                        <p:attrNameLst>
                                          <p:attrName>ppt_y</p:attrName>
                                        </p:attrNameLst>
                                      </p:cBhvr>
                                      <p:tavLst>
                                        <p:tav tm="0">
                                          <p:val>
                                            <p:strVal val="#ppt_y+.1"/>
                                          </p:val>
                                        </p:tav>
                                        <p:tav tm="100000">
                                          <p:val>
                                            <p:strVal val="#ppt_y"/>
                                          </p:val>
                                        </p:tav>
                                      </p:tavLst>
                                    </p:anim>
                                  </p:childTnLst>
                                </p:cTn>
                              </p:par>
                            </p:childTnLst>
                          </p:cTn>
                        </p:par>
                        <p:par>
                          <p:cTn id="40" fill="hold">
                            <p:stCondLst>
                              <p:cond delay="6000"/>
                            </p:stCondLst>
                            <p:childTnLst>
                              <p:par>
                                <p:cTn id="41" presetID="42" presetClass="entr" presetSubtype="0" fill="hold" grpId="0" nodeType="afterEffect">
                                  <p:stCondLst>
                                    <p:cond delay="0"/>
                                  </p:stCondLst>
                                  <p:childTnLst>
                                    <p:set>
                                      <p:cBhvr>
                                        <p:cTn id="42" dur="1" fill="hold">
                                          <p:stCondLst>
                                            <p:cond delay="0"/>
                                          </p:stCondLst>
                                        </p:cTn>
                                        <p:tgtEl>
                                          <p:spTgt spid="104">
                                            <p:txEl>
                                              <p:pRg st="7" end="7"/>
                                            </p:txEl>
                                          </p:spTgt>
                                        </p:tgtEl>
                                        <p:attrNameLst>
                                          <p:attrName>style.visibility</p:attrName>
                                        </p:attrNameLst>
                                      </p:cBhvr>
                                      <p:to>
                                        <p:strVal val="visible"/>
                                      </p:to>
                                    </p:set>
                                    <p:animEffect transition="in" filter="fade">
                                      <p:cBhvr>
                                        <p:cTn id="43" dur="1000"/>
                                        <p:tgtEl>
                                          <p:spTgt spid="104">
                                            <p:txEl>
                                              <p:pRg st="7" end="7"/>
                                            </p:txEl>
                                          </p:spTgt>
                                        </p:tgtEl>
                                      </p:cBhvr>
                                    </p:animEffect>
                                    <p:anim calcmode="lin" valueType="num">
                                      <p:cBhvr>
                                        <p:cTn id="44" dur="1000" fill="hold"/>
                                        <p:tgtEl>
                                          <p:spTgt spid="104">
                                            <p:txEl>
                                              <p:pRg st="7" end="7"/>
                                            </p:txEl>
                                          </p:spTgt>
                                        </p:tgtEl>
                                        <p:attrNameLst>
                                          <p:attrName>ppt_x</p:attrName>
                                        </p:attrNameLst>
                                      </p:cBhvr>
                                      <p:tavLst>
                                        <p:tav tm="0">
                                          <p:val>
                                            <p:strVal val="#ppt_x"/>
                                          </p:val>
                                        </p:tav>
                                        <p:tav tm="100000">
                                          <p:val>
                                            <p:strVal val="#ppt_x"/>
                                          </p:val>
                                        </p:tav>
                                      </p:tavLst>
                                    </p:anim>
                                    <p:anim calcmode="lin" valueType="num">
                                      <p:cBhvr>
                                        <p:cTn id="45" dur="1000" fill="hold"/>
                                        <p:tgtEl>
                                          <p:spTgt spid="104">
                                            <p:txEl>
                                              <p:pRg st="7" end="7"/>
                                            </p:txEl>
                                          </p:spTgt>
                                        </p:tgtEl>
                                        <p:attrNameLst>
                                          <p:attrName>ppt_y</p:attrName>
                                        </p:attrNameLst>
                                      </p:cBhvr>
                                      <p:tavLst>
                                        <p:tav tm="0">
                                          <p:val>
                                            <p:strVal val="#ppt_y+.1"/>
                                          </p:val>
                                        </p:tav>
                                        <p:tav tm="100000">
                                          <p:val>
                                            <p:strVal val="#ppt_y"/>
                                          </p:val>
                                        </p:tav>
                                      </p:tavLst>
                                    </p:anim>
                                  </p:childTnLst>
                                </p:cTn>
                              </p:par>
                            </p:childTnLst>
                          </p:cTn>
                        </p:par>
                        <p:par>
                          <p:cTn id="46" fill="hold">
                            <p:stCondLst>
                              <p:cond delay="7000"/>
                            </p:stCondLst>
                            <p:childTnLst>
                              <p:par>
                                <p:cTn id="47" presetID="42" presetClass="entr" presetSubtype="0" fill="hold" grpId="0" nodeType="afterEffect">
                                  <p:stCondLst>
                                    <p:cond delay="0"/>
                                  </p:stCondLst>
                                  <p:childTnLst>
                                    <p:set>
                                      <p:cBhvr>
                                        <p:cTn id="48" dur="1" fill="hold">
                                          <p:stCondLst>
                                            <p:cond delay="0"/>
                                          </p:stCondLst>
                                        </p:cTn>
                                        <p:tgtEl>
                                          <p:spTgt spid="104">
                                            <p:txEl>
                                              <p:pRg st="8" end="8"/>
                                            </p:txEl>
                                          </p:spTgt>
                                        </p:tgtEl>
                                        <p:attrNameLst>
                                          <p:attrName>style.visibility</p:attrName>
                                        </p:attrNameLst>
                                      </p:cBhvr>
                                      <p:to>
                                        <p:strVal val="visible"/>
                                      </p:to>
                                    </p:set>
                                    <p:animEffect transition="in" filter="fade">
                                      <p:cBhvr>
                                        <p:cTn id="49" dur="1000"/>
                                        <p:tgtEl>
                                          <p:spTgt spid="104">
                                            <p:txEl>
                                              <p:pRg st="8" end="8"/>
                                            </p:txEl>
                                          </p:spTgt>
                                        </p:tgtEl>
                                      </p:cBhvr>
                                    </p:animEffect>
                                    <p:anim calcmode="lin" valueType="num">
                                      <p:cBhvr>
                                        <p:cTn id="50" dur="1000" fill="hold"/>
                                        <p:tgtEl>
                                          <p:spTgt spid="104">
                                            <p:txEl>
                                              <p:pRg st="8" end="8"/>
                                            </p:txEl>
                                          </p:spTgt>
                                        </p:tgtEl>
                                        <p:attrNameLst>
                                          <p:attrName>ppt_x</p:attrName>
                                        </p:attrNameLst>
                                      </p:cBhvr>
                                      <p:tavLst>
                                        <p:tav tm="0">
                                          <p:val>
                                            <p:strVal val="#ppt_x"/>
                                          </p:val>
                                        </p:tav>
                                        <p:tav tm="100000">
                                          <p:val>
                                            <p:strVal val="#ppt_x"/>
                                          </p:val>
                                        </p:tav>
                                      </p:tavLst>
                                    </p:anim>
                                    <p:anim calcmode="lin" valueType="num">
                                      <p:cBhvr>
                                        <p:cTn id="51" dur="1000" fill="hold"/>
                                        <p:tgtEl>
                                          <p:spTgt spid="104">
                                            <p:txEl>
                                              <p:pRg st="8" end="8"/>
                                            </p:txEl>
                                          </p:spTgt>
                                        </p:tgtEl>
                                        <p:attrNameLst>
                                          <p:attrName>ppt_y</p:attrName>
                                        </p:attrNameLst>
                                      </p:cBhvr>
                                      <p:tavLst>
                                        <p:tav tm="0">
                                          <p:val>
                                            <p:strVal val="#ppt_y+.1"/>
                                          </p:val>
                                        </p:tav>
                                        <p:tav tm="100000">
                                          <p:val>
                                            <p:strVal val="#ppt_y"/>
                                          </p:val>
                                        </p:tav>
                                      </p:tavLst>
                                    </p:anim>
                                  </p:childTnLst>
                                </p:cTn>
                              </p:par>
                            </p:childTnLst>
                          </p:cTn>
                        </p:par>
                        <p:par>
                          <p:cTn id="52" fill="hold">
                            <p:stCondLst>
                              <p:cond delay="8000"/>
                            </p:stCondLst>
                            <p:childTnLst>
                              <p:par>
                                <p:cTn id="53" presetID="42" presetClass="entr" presetSubtype="0" fill="hold" grpId="0" nodeType="afterEffect">
                                  <p:stCondLst>
                                    <p:cond delay="0"/>
                                  </p:stCondLst>
                                  <p:childTnLst>
                                    <p:set>
                                      <p:cBhvr>
                                        <p:cTn id="54" dur="1" fill="hold">
                                          <p:stCondLst>
                                            <p:cond delay="0"/>
                                          </p:stCondLst>
                                        </p:cTn>
                                        <p:tgtEl>
                                          <p:spTgt spid="104">
                                            <p:txEl>
                                              <p:pRg st="9" end="9"/>
                                            </p:txEl>
                                          </p:spTgt>
                                        </p:tgtEl>
                                        <p:attrNameLst>
                                          <p:attrName>style.visibility</p:attrName>
                                        </p:attrNameLst>
                                      </p:cBhvr>
                                      <p:to>
                                        <p:strVal val="visible"/>
                                      </p:to>
                                    </p:set>
                                    <p:animEffect transition="in" filter="fade">
                                      <p:cBhvr>
                                        <p:cTn id="55" dur="1000"/>
                                        <p:tgtEl>
                                          <p:spTgt spid="104">
                                            <p:txEl>
                                              <p:pRg st="9" end="9"/>
                                            </p:txEl>
                                          </p:spTgt>
                                        </p:tgtEl>
                                      </p:cBhvr>
                                    </p:animEffect>
                                    <p:anim calcmode="lin" valueType="num">
                                      <p:cBhvr>
                                        <p:cTn id="56" dur="1000" fill="hold"/>
                                        <p:tgtEl>
                                          <p:spTgt spid="104">
                                            <p:txEl>
                                              <p:pRg st="9" end="9"/>
                                            </p:txEl>
                                          </p:spTgt>
                                        </p:tgtEl>
                                        <p:attrNameLst>
                                          <p:attrName>ppt_x</p:attrName>
                                        </p:attrNameLst>
                                      </p:cBhvr>
                                      <p:tavLst>
                                        <p:tav tm="0">
                                          <p:val>
                                            <p:strVal val="#ppt_x"/>
                                          </p:val>
                                        </p:tav>
                                        <p:tav tm="100000">
                                          <p:val>
                                            <p:strVal val="#ppt_x"/>
                                          </p:val>
                                        </p:tav>
                                      </p:tavLst>
                                    </p:anim>
                                    <p:anim calcmode="lin" valueType="num">
                                      <p:cBhvr>
                                        <p:cTn id="57" dur="1000" fill="hold"/>
                                        <p:tgtEl>
                                          <p:spTgt spid="104">
                                            <p:txEl>
                                              <p:pRg st="9" end="9"/>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2"/>
          <p:cNvSpPr txBox="1">
            <a:spLocks noGrp="1"/>
          </p:cNvSpPr>
          <p:nvPr>
            <p:ph type="title"/>
          </p:nvPr>
        </p:nvSpPr>
        <p:spPr>
          <a:xfrm>
            <a:off x="0" y="0"/>
            <a:ext cx="9144000" cy="1066800"/>
          </a:xfrm>
          <a:prstGeom prst="rect">
            <a:avLst/>
          </a:prstGeom>
          <a:ln/>
        </p:spPr>
        <p:style>
          <a:lnRef idx="0">
            <a:schemeClr val="accent3"/>
          </a:lnRef>
          <a:fillRef idx="3">
            <a:schemeClr val="accent3"/>
          </a:fillRef>
          <a:effectRef idx="3">
            <a:schemeClr val="accent3"/>
          </a:effectRef>
          <a:fontRef idx="minor">
            <a:schemeClr val="lt1"/>
          </a:fontRef>
        </p:style>
        <p:txBody>
          <a:bodyPr spcFirstLastPara="1" wrap="square" lIns="91425" tIns="45700" rIns="91425" bIns="45700" anchor="ctr" anchorCtr="0">
            <a:normAutofit/>
          </a:bodyPr>
          <a:lstStyle/>
          <a:p>
            <a:pPr lvl="0">
              <a:defRPr/>
            </a:pPr>
            <a:r>
              <a:rPr lang="en-US" b="1" dirty="0">
                <a:ln w="1905"/>
                <a:solidFill>
                  <a:schemeClr val="tx1"/>
                </a:solidFill>
                <a:effectLst>
                  <a:innerShdw blurRad="69850" dist="43180" dir="5400000">
                    <a:srgbClr val="000000">
                      <a:alpha val="65000"/>
                    </a:srgbClr>
                  </a:innerShdw>
                </a:effectLst>
              </a:rPr>
              <a:t>Sequential File Access</a:t>
            </a:r>
          </a:p>
        </p:txBody>
      </p:sp>
      <p:sp>
        <p:nvSpPr>
          <p:cNvPr id="105" name="Google Shape;105;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pPr marL="0" lvl="0" indent="0" algn="r" rtl="0">
                <a:spcBef>
                  <a:spcPts val="0"/>
                </a:spcBef>
                <a:spcAft>
                  <a:spcPts val="0"/>
                </a:spcAft>
                <a:buNone/>
              </a:pPr>
              <a:t>10</a:t>
            </a:fld>
            <a:endParaRPr/>
          </a:p>
        </p:txBody>
      </p:sp>
      <p:sp>
        <p:nvSpPr>
          <p:cNvPr id="5" name="TextBox 4"/>
          <p:cNvSpPr txBox="1"/>
          <p:nvPr/>
        </p:nvSpPr>
        <p:spPr>
          <a:xfrm>
            <a:off x="1" y="1131376"/>
            <a:ext cx="8915400" cy="2862322"/>
          </a:xfrm>
          <a:prstGeom prst="rect">
            <a:avLst/>
          </a:prstGeom>
          <a:noFill/>
        </p:spPr>
        <p:txBody>
          <a:bodyPr wrap="square" rtlCol="0">
            <a:spAutoFit/>
          </a:bodyPr>
          <a:lstStyle/>
          <a:p>
            <a:pPr marL="285750" indent="-285750" algn="just">
              <a:buFont typeface="Arial" pitchFamily="34" charset="0"/>
              <a:buChar char="•"/>
            </a:pPr>
            <a:r>
              <a:rPr lang="en-US" sz="2000" dirty="0"/>
              <a:t>The simplest access method is sequential access. Information in the file is processed in order, </a:t>
            </a:r>
            <a:r>
              <a:rPr lang="en-US" sz="2000" dirty="0" smtClean="0"/>
              <a:t>one record </a:t>
            </a:r>
            <a:r>
              <a:rPr lang="en-US" sz="2000" dirty="0"/>
              <a:t>after the other.</a:t>
            </a:r>
          </a:p>
          <a:p>
            <a:pPr marL="285750" indent="-285750" algn="just">
              <a:buFont typeface="Arial" pitchFamily="34" charset="0"/>
              <a:buChar char="•"/>
            </a:pPr>
            <a:r>
              <a:rPr lang="en-US" sz="2000" dirty="0" smtClean="0"/>
              <a:t>The </a:t>
            </a:r>
            <a:r>
              <a:rPr lang="en-US" sz="2000" dirty="0"/>
              <a:t>bulk of the operations on a file are reads and writes. The read and write operations on </a:t>
            </a:r>
            <a:r>
              <a:rPr lang="en-US" sz="2000" dirty="0" smtClean="0"/>
              <a:t>the sequential </a:t>
            </a:r>
            <a:r>
              <a:rPr lang="en-US" sz="2000" dirty="0"/>
              <a:t>file are done in sequential order.</a:t>
            </a:r>
          </a:p>
          <a:p>
            <a:pPr marL="285750" indent="-285750" algn="just">
              <a:buFont typeface="Arial" pitchFamily="34" charset="0"/>
              <a:buChar char="•"/>
            </a:pPr>
            <a:r>
              <a:rPr lang="en-US" sz="2000" dirty="0" smtClean="0"/>
              <a:t>A </a:t>
            </a:r>
            <a:r>
              <a:rPr lang="en-US" sz="2000" dirty="0"/>
              <a:t>read operation reads the next portion of the file and automatically advances a file pointer, </a:t>
            </a:r>
            <a:r>
              <a:rPr lang="en-US" sz="2000" dirty="0" smtClean="0"/>
              <a:t>which tracks </a:t>
            </a:r>
            <a:r>
              <a:rPr lang="en-US" sz="2000" dirty="0"/>
              <a:t>the I/O location. Similarly a write appends to the end of the file and advances to the end of </a:t>
            </a:r>
            <a:r>
              <a:rPr lang="en-US" sz="2000" dirty="0" smtClean="0"/>
              <a:t>the newly </a:t>
            </a:r>
            <a:r>
              <a:rPr lang="en-US" sz="2000" dirty="0"/>
              <a:t>written material.</a:t>
            </a:r>
          </a:p>
          <a:p>
            <a:pPr marL="285750" indent="-285750" algn="just">
              <a:buFont typeface="Arial" pitchFamily="34" charset="0"/>
              <a:buChar char="•"/>
            </a:pPr>
            <a:r>
              <a:rPr lang="en-US" sz="2000" dirty="0" smtClean="0"/>
              <a:t>Such </a:t>
            </a:r>
            <a:r>
              <a:rPr lang="en-US" sz="2000" dirty="0"/>
              <a:t>a file can be reset to the beginning and on some systems a program may be able to skip </a:t>
            </a:r>
            <a:r>
              <a:rPr lang="en-US" sz="2000" dirty="0" smtClean="0"/>
              <a:t>forward or </a:t>
            </a:r>
            <a:r>
              <a:rPr lang="en-US" sz="2000" dirty="0"/>
              <a:t>backward ‘n’ records for some integer ‘n’.</a:t>
            </a:r>
          </a:p>
        </p:txBody>
      </p:sp>
      <p:pic>
        <p:nvPicPr>
          <p:cNvPr id="6" name="Picture 2"/>
          <p:cNvPicPr>
            <a:picLocks noChangeAspect="1" noChangeArrowheads="1"/>
          </p:cNvPicPr>
          <p:nvPr/>
        </p:nvPicPr>
        <p:blipFill>
          <a:blip r:embed="rId3">
            <a:extLst>
              <a:ext uri="{28A0092B-C50C-407E-A947-70E740481C1C}">
                <a14:useLocalDpi xmlns:a14="http://schemas.microsoft.com/office/drawing/2010/main" xmlns="" val="0"/>
              </a:ext>
            </a:extLst>
          </a:blip>
          <a:srcRect/>
          <a:stretch>
            <a:fillRect/>
          </a:stretch>
        </p:blipFill>
        <p:spPr bwMode="auto">
          <a:xfrm>
            <a:off x="228600" y="4267200"/>
            <a:ext cx="8762999" cy="22860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205745743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2"/>
          <p:cNvSpPr txBox="1">
            <a:spLocks noGrp="1"/>
          </p:cNvSpPr>
          <p:nvPr>
            <p:ph type="title"/>
          </p:nvPr>
        </p:nvSpPr>
        <p:spPr>
          <a:xfrm>
            <a:off x="0" y="0"/>
            <a:ext cx="9144000" cy="1066800"/>
          </a:xfrm>
          <a:prstGeom prst="rect">
            <a:avLst/>
          </a:prstGeom>
          <a:ln/>
        </p:spPr>
        <p:style>
          <a:lnRef idx="0">
            <a:schemeClr val="accent3"/>
          </a:lnRef>
          <a:fillRef idx="3">
            <a:schemeClr val="accent3"/>
          </a:fillRef>
          <a:effectRef idx="3">
            <a:schemeClr val="accent3"/>
          </a:effectRef>
          <a:fontRef idx="minor">
            <a:schemeClr val="lt1"/>
          </a:fontRef>
        </p:style>
        <p:txBody>
          <a:bodyPr spcFirstLastPara="1" wrap="square" lIns="91425" tIns="45700" rIns="91425" bIns="45700" anchor="ctr" anchorCtr="0">
            <a:normAutofit/>
          </a:bodyPr>
          <a:lstStyle/>
          <a:p>
            <a:pPr lvl="0">
              <a:defRPr/>
            </a:pPr>
            <a:r>
              <a:rPr lang="en-US" b="1" dirty="0">
                <a:ln w="1905"/>
                <a:solidFill>
                  <a:schemeClr val="tx1"/>
                </a:solidFill>
                <a:effectLst>
                  <a:innerShdw blurRad="69850" dist="43180" dir="5400000">
                    <a:srgbClr val="000000">
                      <a:alpha val="65000"/>
                    </a:srgbClr>
                  </a:innerShdw>
                </a:effectLst>
              </a:rPr>
              <a:t>Sequential File Access</a:t>
            </a:r>
          </a:p>
        </p:txBody>
      </p:sp>
      <p:sp>
        <p:nvSpPr>
          <p:cNvPr id="104" name="Google Shape;104;p2"/>
          <p:cNvSpPr txBox="1">
            <a:spLocks noGrp="1"/>
          </p:cNvSpPr>
          <p:nvPr>
            <p:ph type="body" idx="1"/>
          </p:nvPr>
        </p:nvSpPr>
        <p:spPr>
          <a:xfrm>
            <a:off x="0" y="1047750"/>
            <a:ext cx="9144000" cy="5943600"/>
          </a:xfrm>
          <a:prstGeom prst="rect">
            <a:avLst/>
          </a:prstGeom>
          <a:noFill/>
          <a:ln>
            <a:noFill/>
          </a:ln>
        </p:spPr>
        <p:txBody>
          <a:bodyPr spcFirstLastPara="1" wrap="square" lIns="91425" tIns="45700" rIns="91425" bIns="45700" anchor="t" anchorCtr="0">
            <a:noAutofit/>
          </a:bodyPr>
          <a:lstStyle/>
          <a:p>
            <a:pPr algn="just"/>
            <a:r>
              <a:rPr lang="en-US" sz="2100" b="1" dirty="0" smtClean="0"/>
              <a:t>Advantages of Sequential File:</a:t>
            </a:r>
          </a:p>
          <a:p>
            <a:pPr algn="just"/>
            <a:r>
              <a:rPr lang="en-US" sz="2100" dirty="0" smtClean="0"/>
              <a:t>1. Easy to access the next record.</a:t>
            </a:r>
          </a:p>
          <a:p>
            <a:pPr algn="just"/>
            <a:r>
              <a:rPr lang="en-US" sz="2100" dirty="0" smtClean="0"/>
              <a:t>2. Data organization is very simple.</a:t>
            </a:r>
          </a:p>
          <a:p>
            <a:pPr algn="just"/>
            <a:r>
              <a:rPr lang="en-US" sz="2100" dirty="0" smtClean="0"/>
              <a:t>3. Absence of data structures.</a:t>
            </a:r>
          </a:p>
          <a:p>
            <a:pPr algn="just"/>
            <a:r>
              <a:rPr lang="en-US" sz="2100" dirty="0" smtClean="0"/>
              <a:t>4. They are easily stored on tapes as well as disks.</a:t>
            </a:r>
          </a:p>
          <a:p>
            <a:pPr algn="just"/>
            <a:r>
              <a:rPr lang="en-US" sz="2100" dirty="0" smtClean="0"/>
              <a:t>5. Automatic backup copy is created.</a:t>
            </a:r>
          </a:p>
          <a:p>
            <a:pPr algn="just"/>
            <a:endParaRPr lang="en-US" sz="2100" b="1" dirty="0" smtClean="0"/>
          </a:p>
          <a:p>
            <a:pPr algn="just"/>
            <a:r>
              <a:rPr lang="en-US" sz="2100" b="1" dirty="0" smtClean="0"/>
              <a:t>Disadvantages of Sequential File:</a:t>
            </a:r>
          </a:p>
          <a:p>
            <a:pPr algn="just"/>
            <a:r>
              <a:rPr lang="en-US" sz="2100" dirty="0" smtClean="0"/>
              <a:t>1. Wastage of memory space because of master file and transaction file.</a:t>
            </a:r>
          </a:p>
          <a:p>
            <a:pPr algn="just"/>
            <a:r>
              <a:rPr lang="en-US" sz="2100" dirty="0" smtClean="0"/>
              <a:t>2. For interactive applications that involve queries and/or updates of individual records, the</a:t>
            </a:r>
          </a:p>
          <a:p>
            <a:pPr algn="just"/>
            <a:r>
              <a:rPr lang="en-US" sz="2100" dirty="0" smtClean="0"/>
              <a:t>sequential file provides poor performance.</a:t>
            </a:r>
          </a:p>
          <a:p>
            <a:pPr algn="just"/>
            <a:r>
              <a:rPr lang="en-US" sz="2100" dirty="0" smtClean="0"/>
              <a:t>3. It is more time consuming since, reading, writing and searching always start from beginning of file.</a:t>
            </a:r>
            <a:endParaRPr lang="en-US" sz="2100" dirty="0"/>
          </a:p>
        </p:txBody>
      </p:sp>
      <p:sp>
        <p:nvSpPr>
          <p:cNvPr id="105" name="Google Shape;105;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pPr marL="0" lvl="0" indent="0" algn="r" rtl="0">
                <a:spcBef>
                  <a:spcPts val="0"/>
                </a:spcBef>
                <a:spcAft>
                  <a:spcPts val="0"/>
                </a:spcAft>
                <a:buNone/>
              </a:pPr>
              <a:t>11</a:t>
            </a:fld>
            <a:endParaRPr/>
          </a:p>
        </p:txBody>
      </p:sp>
    </p:spTree>
    <p:extLst>
      <p:ext uri="{BB962C8B-B14F-4D97-AF65-F5344CB8AC3E}">
        <p14:creationId xmlns:p14="http://schemas.microsoft.com/office/powerpoint/2010/main" xmlns="" val="40357854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04">
                                            <p:txEl>
                                              <p:pRg st="0" end="0"/>
                                            </p:txEl>
                                          </p:spTgt>
                                        </p:tgtEl>
                                        <p:attrNameLst>
                                          <p:attrName>style.visibility</p:attrName>
                                        </p:attrNameLst>
                                      </p:cBhvr>
                                      <p:to>
                                        <p:strVal val="visible"/>
                                      </p:to>
                                    </p:set>
                                    <p:animEffect transition="in" filter="fade">
                                      <p:cBhvr>
                                        <p:cTn id="7" dur="1000"/>
                                        <p:tgtEl>
                                          <p:spTgt spid="104">
                                            <p:txEl>
                                              <p:pRg st="0" end="0"/>
                                            </p:txEl>
                                          </p:spTgt>
                                        </p:tgtEl>
                                      </p:cBhvr>
                                    </p:animEffect>
                                    <p:anim calcmode="lin" valueType="num">
                                      <p:cBhvr>
                                        <p:cTn id="8" dur="1000" fill="hold"/>
                                        <p:tgtEl>
                                          <p:spTgt spid="10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04">
                                            <p:txEl>
                                              <p:pRg st="0" end="0"/>
                                            </p:txEl>
                                          </p:spTgt>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grpId="0" nodeType="afterEffect">
                                  <p:stCondLst>
                                    <p:cond delay="0"/>
                                  </p:stCondLst>
                                  <p:childTnLst>
                                    <p:set>
                                      <p:cBhvr>
                                        <p:cTn id="12" dur="1" fill="hold">
                                          <p:stCondLst>
                                            <p:cond delay="0"/>
                                          </p:stCondLst>
                                        </p:cTn>
                                        <p:tgtEl>
                                          <p:spTgt spid="104">
                                            <p:txEl>
                                              <p:pRg st="1" end="1"/>
                                            </p:txEl>
                                          </p:spTgt>
                                        </p:tgtEl>
                                        <p:attrNameLst>
                                          <p:attrName>style.visibility</p:attrName>
                                        </p:attrNameLst>
                                      </p:cBhvr>
                                      <p:to>
                                        <p:strVal val="visible"/>
                                      </p:to>
                                    </p:set>
                                    <p:animEffect transition="in" filter="fade">
                                      <p:cBhvr>
                                        <p:cTn id="13" dur="1000"/>
                                        <p:tgtEl>
                                          <p:spTgt spid="104">
                                            <p:txEl>
                                              <p:pRg st="1" end="1"/>
                                            </p:txEl>
                                          </p:spTgt>
                                        </p:tgtEl>
                                      </p:cBhvr>
                                    </p:animEffect>
                                    <p:anim calcmode="lin" valueType="num">
                                      <p:cBhvr>
                                        <p:cTn id="14" dur="1000" fill="hold"/>
                                        <p:tgtEl>
                                          <p:spTgt spid="104">
                                            <p:txEl>
                                              <p:pRg st="1" end="1"/>
                                            </p:txEl>
                                          </p:spTgt>
                                        </p:tgtEl>
                                        <p:attrNameLst>
                                          <p:attrName>ppt_x</p:attrName>
                                        </p:attrNameLst>
                                      </p:cBhvr>
                                      <p:tavLst>
                                        <p:tav tm="0">
                                          <p:val>
                                            <p:strVal val="#ppt_x"/>
                                          </p:val>
                                        </p:tav>
                                        <p:tav tm="100000">
                                          <p:val>
                                            <p:strVal val="#ppt_x"/>
                                          </p:val>
                                        </p:tav>
                                      </p:tavLst>
                                    </p:anim>
                                    <p:anim calcmode="lin" valueType="num">
                                      <p:cBhvr>
                                        <p:cTn id="15" dur="1000" fill="hold"/>
                                        <p:tgtEl>
                                          <p:spTgt spid="104">
                                            <p:txEl>
                                              <p:pRg st="1" end="1"/>
                                            </p:txEl>
                                          </p:spTgt>
                                        </p:tgtEl>
                                        <p:attrNameLst>
                                          <p:attrName>ppt_y</p:attrName>
                                        </p:attrNameLst>
                                      </p:cBhvr>
                                      <p:tavLst>
                                        <p:tav tm="0">
                                          <p:val>
                                            <p:strVal val="#ppt_y+.1"/>
                                          </p:val>
                                        </p:tav>
                                        <p:tav tm="100000">
                                          <p:val>
                                            <p:strVal val="#ppt_y"/>
                                          </p:val>
                                        </p:tav>
                                      </p:tavLst>
                                    </p:anim>
                                  </p:childTnLst>
                                </p:cTn>
                              </p:par>
                            </p:childTnLst>
                          </p:cTn>
                        </p:par>
                        <p:par>
                          <p:cTn id="16" fill="hold">
                            <p:stCondLst>
                              <p:cond delay="2000"/>
                            </p:stCondLst>
                            <p:childTnLst>
                              <p:par>
                                <p:cTn id="17" presetID="42" presetClass="entr" presetSubtype="0" fill="hold" grpId="0" nodeType="afterEffect">
                                  <p:stCondLst>
                                    <p:cond delay="0"/>
                                  </p:stCondLst>
                                  <p:childTnLst>
                                    <p:set>
                                      <p:cBhvr>
                                        <p:cTn id="18" dur="1" fill="hold">
                                          <p:stCondLst>
                                            <p:cond delay="0"/>
                                          </p:stCondLst>
                                        </p:cTn>
                                        <p:tgtEl>
                                          <p:spTgt spid="104">
                                            <p:txEl>
                                              <p:pRg st="2" end="2"/>
                                            </p:txEl>
                                          </p:spTgt>
                                        </p:tgtEl>
                                        <p:attrNameLst>
                                          <p:attrName>style.visibility</p:attrName>
                                        </p:attrNameLst>
                                      </p:cBhvr>
                                      <p:to>
                                        <p:strVal val="visible"/>
                                      </p:to>
                                    </p:set>
                                    <p:animEffect transition="in" filter="fade">
                                      <p:cBhvr>
                                        <p:cTn id="19" dur="1000"/>
                                        <p:tgtEl>
                                          <p:spTgt spid="104">
                                            <p:txEl>
                                              <p:pRg st="2" end="2"/>
                                            </p:txEl>
                                          </p:spTgt>
                                        </p:tgtEl>
                                      </p:cBhvr>
                                    </p:animEffect>
                                    <p:anim calcmode="lin" valueType="num">
                                      <p:cBhvr>
                                        <p:cTn id="20" dur="1000" fill="hold"/>
                                        <p:tgtEl>
                                          <p:spTgt spid="104">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104">
                                            <p:txEl>
                                              <p:pRg st="2" end="2"/>
                                            </p:txEl>
                                          </p:spTgt>
                                        </p:tgtEl>
                                        <p:attrNameLst>
                                          <p:attrName>ppt_y</p:attrName>
                                        </p:attrNameLst>
                                      </p:cBhvr>
                                      <p:tavLst>
                                        <p:tav tm="0">
                                          <p:val>
                                            <p:strVal val="#ppt_y+.1"/>
                                          </p:val>
                                        </p:tav>
                                        <p:tav tm="100000">
                                          <p:val>
                                            <p:strVal val="#ppt_y"/>
                                          </p:val>
                                        </p:tav>
                                      </p:tavLst>
                                    </p:anim>
                                  </p:childTnLst>
                                </p:cTn>
                              </p:par>
                            </p:childTnLst>
                          </p:cTn>
                        </p:par>
                        <p:par>
                          <p:cTn id="22" fill="hold">
                            <p:stCondLst>
                              <p:cond delay="3000"/>
                            </p:stCondLst>
                            <p:childTnLst>
                              <p:par>
                                <p:cTn id="23" presetID="42" presetClass="entr" presetSubtype="0" fill="hold" grpId="0" nodeType="afterEffect">
                                  <p:stCondLst>
                                    <p:cond delay="0"/>
                                  </p:stCondLst>
                                  <p:childTnLst>
                                    <p:set>
                                      <p:cBhvr>
                                        <p:cTn id="24" dur="1" fill="hold">
                                          <p:stCondLst>
                                            <p:cond delay="0"/>
                                          </p:stCondLst>
                                        </p:cTn>
                                        <p:tgtEl>
                                          <p:spTgt spid="104">
                                            <p:txEl>
                                              <p:pRg st="3" end="3"/>
                                            </p:txEl>
                                          </p:spTgt>
                                        </p:tgtEl>
                                        <p:attrNameLst>
                                          <p:attrName>style.visibility</p:attrName>
                                        </p:attrNameLst>
                                      </p:cBhvr>
                                      <p:to>
                                        <p:strVal val="visible"/>
                                      </p:to>
                                    </p:set>
                                    <p:animEffect transition="in" filter="fade">
                                      <p:cBhvr>
                                        <p:cTn id="25" dur="1000"/>
                                        <p:tgtEl>
                                          <p:spTgt spid="104">
                                            <p:txEl>
                                              <p:pRg st="3" end="3"/>
                                            </p:txEl>
                                          </p:spTgt>
                                        </p:tgtEl>
                                      </p:cBhvr>
                                    </p:animEffect>
                                    <p:anim calcmode="lin" valueType="num">
                                      <p:cBhvr>
                                        <p:cTn id="26" dur="1000" fill="hold"/>
                                        <p:tgtEl>
                                          <p:spTgt spid="104">
                                            <p:txEl>
                                              <p:pRg st="3" end="3"/>
                                            </p:txEl>
                                          </p:spTgt>
                                        </p:tgtEl>
                                        <p:attrNameLst>
                                          <p:attrName>ppt_x</p:attrName>
                                        </p:attrNameLst>
                                      </p:cBhvr>
                                      <p:tavLst>
                                        <p:tav tm="0">
                                          <p:val>
                                            <p:strVal val="#ppt_x"/>
                                          </p:val>
                                        </p:tav>
                                        <p:tav tm="100000">
                                          <p:val>
                                            <p:strVal val="#ppt_x"/>
                                          </p:val>
                                        </p:tav>
                                      </p:tavLst>
                                    </p:anim>
                                    <p:anim calcmode="lin" valueType="num">
                                      <p:cBhvr>
                                        <p:cTn id="27" dur="1000" fill="hold"/>
                                        <p:tgtEl>
                                          <p:spTgt spid="104">
                                            <p:txEl>
                                              <p:pRg st="3" end="3"/>
                                            </p:txEl>
                                          </p:spTgt>
                                        </p:tgtEl>
                                        <p:attrNameLst>
                                          <p:attrName>ppt_y</p:attrName>
                                        </p:attrNameLst>
                                      </p:cBhvr>
                                      <p:tavLst>
                                        <p:tav tm="0">
                                          <p:val>
                                            <p:strVal val="#ppt_y+.1"/>
                                          </p:val>
                                        </p:tav>
                                        <p:tav tm="100000">
                                          <p:val>
                                            <p:strVal val="#ppt_y"/>
                                          </p:val>
                                        </p:tav>
                                      </p:tavLst>
                                    </p:anim>
                                  </p:childTnLst>
                                </p:cTn>
                              </p:par>
                            </p:childTnLst>
                          </p:cTn>
                        </p:par>
                        <p:par>
                          <p:cTn id="28" fill="hold">
                            <p:stCondLst>
                              <p:cond delay="4000"/>
                            </p:stCondLst>
                            <p:childTnLst>
                              <p:par>
                                <p:cTn id="29" presetID="42" presetClass="entr" presetSubtype="0" fill="hold" grpId="0" nodeType="afterEffect">
                                  <p:stCondLst>
                                    <p:cond delay="0"/>
                                  </p:stCondLst>
                                  <p:childTnLst>
                                    <p:set>
                                      <p:cBhvr>
                                        <p:cTn id="30" dur="1" fill="hold">
                                          <p:stCondLst>
                                            <p:cond delay="0"/>
                                          </p:stCondLst>
                                        </p:cTn>
                                        <p:tgtEl>
                                          <p:spTgt spid="104">
                                            <p:txEl>
                                              <p:pRg st="4" end="4"/>
                                            </p:txEl>
                                          </p:spTgt>
                                        </p:tgtEl>
                                        <p:attrNameLst>
                                          <p:attrName>style.visibility</p:attrName>
                                        </p:attrNameLst>
                                      </p:cBhvr>
                                      <p:to>
                                        <p:strVal val="visible"/>
                                      </p:to>
                                    </p:set>
                                    <p:animEffect transition="in" filter="fade">
                                      <p:cBhvr>
                                        <p:cTn id="31" dur="1000"/>
                                        <p:tgtEl>
                                          <p:spTgt spid="104">
                                            <p:txEl>
                                              <p:pRg st="4" end="4"/>
                                            </p:txEl>
                                          </p:spTgt>
                                        </p:tgtEl>
                                      </p:cBhvr>
                                    </p:animEffect>
                                    <p:anim calcmode="lin" valueType="num">
                                      <p:cBhvr>
                                        <p:cTn id="32" dur="1000" fill="hold"/>
                                        <p:tgtEl>
                                          <p:spTgt spid="104">
                                            <p:txEl>
                                              <p:pRg st="4" end="4"/>
                                            </p:txEl>
                                          </p:spTgt>
                                        </p:tgtEl>
                                        <p:attrNameLst>
                                          <p:attrName>ppt_x</p:attrName>
                                        </p:attrNameLst>
                                      </p:cBhvr>
                                      <p:tavLst>
                                        <p:tav tm="0">
                                          <p:val>
                                            <p:strVal val="#ppt_x"/>
                                          </p:val>
                                        </p:tav>
                                        <p:tav tm="100000">
                                          <p:val>
                                            <p:strVal val="#ppt_x"/>
                                          </p:val>
                                        </p:tav>
                                      </p:tavLst>
                                    </p:anim>
                                    <p:anim calcmode="lin" valueType="num">
                                      <p:cBhvr>
                                        <p:cTn id="33" dur="1000" fill="hold"/>
                                        <p:tgtEl>
                                          <p:spTgt spid="104">
                                            <p:txEl>
                                              <p:pRg st="4" end="4"/>
                                            </p:txEl>
                                          </p:spTgt>
                                        </p:tgtEl>
                                        <p:attrNameLst>
                                          <p:attrName>ppt_y</p:attrName>
                                        </p:attrNameLst>
                                      </p:cBhvr>
                                      <p:tavLst>
                                        <p:tav tm="0">
                                          <p:val>
                                            <p:strVal val="#ppt_y+.1"/>
                                          </p:val>
                                        </p:tav>
                                        <p:tav tm="100000">
                                          <p:val>
                                            <p:strVal val="#ppt_y"/>
                                          </p:val>
                                        </p:tav>
                                      </p:tavLst>
                                    </p:anim>
                                  </p:childTnLst>
                                </p:cTn>
                              </p:par>
                            </p:childTnLst>
                          </p:cTn>
                        </p:par>
                        <p:par>
                          <p:cTn id="34" fill="hold">
                            <p:stCondLst>
                              <p:cond delay="5000"/>
                            </p:stCondLst>
                            <p:childTnLst>
                              <p:par>
                                <p:cTn id="35" presetID="42" presetClass="entr" presetSubtype="0" fill="hold" grpId="0" nodeType="afterEffect">
                                  <p:stCondLst>
                                    <p:cond delay="0"/>
                                  </p:stCondLst>
                                  <p:childTnLst>
                                    <p:set>
                                      <p:cBhvr>
                                        <p:cTn id="36" dur="1" fill="hold">
                                          <p:stCondLst>
                                            <p:cond delay="0"/>
                                          </p:stCondLst>
                                        </p:cTn>
                                        <p:tgtEl>
                                          <p:spTgt spid="104">
                                            <p:txEl>
                                              <p:pRg st="5" end="5"/>
                                            </p:txEl>
                                          </p:spTgt>
                                        </p:tgtEl>
                                        <p:attrNameLst>
                                          <p:attrName>style.visibility</p:attrName>
                                        </p:attrNameLst>
                                      </p:cBhvr>
                                      <p:to>
                                        <p:strVal val="visible"/>
                                      </p:to>
                                    </p:set>
                                    <p:animEffect transition="in" filter="fade">
                                      <p:cBhvr>
                                        <p:cTn id="37" dur="1000"/>
                                        <p:tgtEl>
                                          <p:spTgt spid="104">
                                            <p:txEl>
                                              <p:pRg st="5" end="5"/>
                                            </p:txEl>
                                          </p:spTgt>
                                        </p:tgtEl>
                                      </p:cBhvr>
                                    </p:animEffect>
                                    <p:anim calcmode="lin" valueType="num">
                                      <p:cBhvr>
                                        <p:cTn id="38" dur="1000" fill="hold"/>
                                        <p:tgtEl>
                                          <p:spTgt spid="104">
                                            <p:txEl>
                                              <p:pRg st="5" end="5"/>
                                            </p:txEl>
                                          </p:spTgt>
                                        </p:tgtEl>
                                        <p:attrNameLst>
                                          <p:attrName>ppt_x</p:attrName>
                                        </p:attrNameLst>
                                      </p:cBhvr>
                                      <p:tavLst>
                                        <p:tav tm="0">
                                          <p:val>
                                            <p:strVal val="#ppt_x"/>
                                          </p:val>
                                        </p:tav>
                                        <p:tav tm="100000">
                                          <p:val>
                                            <p:strVal val="#ppt_x"/>
                                          </p:val>
                                        </p:tav>
                                      </p:tavLst>
                                    </p:anim>
                                    <p:anim calcmode="lin" valueType="num">
                                      <p:cBhvr>
                                        <p:cTn id="39" dur="1000" fill="hold"/>
                                        <p:tgtEl>
                                          <p:spTgt spid="104">
                                            <p:txEl>
                                              <p:pRg st="5" end="5"/>
                                            </p:txEl>
                                          </p:spTgt>
                                        </p:tgtEl>
                                        <p:attrNameLst>
                                          <p:attrName>ppt_y</p:attrName>
                                        </p:attrNameLst>
                                      </p:cBhvr>
                                      <p:tavLst>
                                        <p:tav tm="0">
                                          <p:val>
                                            <p:strVal val="#ppt_y+.1"/>
                                          </p:val>
                                        </p:tav>
                                        <p:tav tm="100000">
                                          <p:val>
                                            <p:strVal val="#ppt_y"/>
                                          </p:val>
                                        </p:tav>
                                      </p:tavLst>
                                    </p:anim>
                                  </p:childTnLst>
                                </p:cTn>
                              </p:par>
                            </p:childTnLst>
                          </p:cTn>
                        </p:par>
                        <p:par>
                          <p:cTn id="40" fill="hold">
                            <p:stCondLst>
                              <p:cond delay="6000"/>
                            </p:stCondLst>
                            <p:childTnLst>
                              <p:par>
                                <p:cTn id="41" presetID="42" presetClass="entr" presetSubtype="0" fill="hold" grpId="0" nodeType="afterEffect">
                                  <p:stCondLst>
                                    <p:cond delay="0"/>
                                  </p:stCondLst>
                                  <p:childTnLst>
                                    <p:set>
                                      <p:cBhvr>
                                        <p:cTn id="42" dur="1" fill="hold">
                                          <p:stCondLst>
                                            <p:cond delay="0"/>
                                          </p:stCondLst>
                                        </p:cTn>
                                        <p:tgtEl>
                                          <p:spTgt spid="104">
                                            <p:txEl>
                                              <p:pRg st="7" end="7"/>
                                            </p:txEl>
                                          </p:spTgt>
                                        </p:tgtEl>
                                        <p:attrNameLst>
                                          <p:attrName>style.visibility</p:attrName>
                                        </p:attrNameLst>
                                      </p:cBhvr>
                                      <p:to>
                                        <p:strVal val="visible"/>
                                      </p:to>
                                    </p:set>
                                    <p:animEffect transition="in" filter="fade">
                                      <p:cBhvr>
                                        <p:cTn id="43" dur="1000"/>
                                        <p:tgtEl>
                                          <p:spTgt spid="104">
                                            <p:txEl>
                                              <p:pRg st="7" end="7"/>
                                            </p:txEl>
                                          </p:spTgt>
                                        </p:tgtEl>
                                      </p:cBhvr>
                                    </p:animEffect>
                                    <p:anim calcmode="lin" valueType="num">
                                      <p:cBhvr>
                                        <p:cTn id="44" dur="1000" fill="hold"/>
                                        <p:tgtEl>
                                          <p:spTgt spid="104">
                                            <p:txEl>
                                              <p:pRg st="7" end="7"/>
                                            </p:txEl>
                                          </p:spTgt>
                                        </p:tgtEl>
                                        <p:attrNameLst>
                                          <p:attrName>ppt_x</p:attrName>
                                        </p:attrNameLst>
                                      </p:cBhvr>
                                      <p:tavLst>
                                        <p:tav tm="0">
                                          <p:val>
                                            <p:strVal val="#ppt_x"/>
                                          </p:val>
                                        </p:tav>
                                        <p:tav tm="100000">
                                          <p:val>
                                            <p:strVal val="#ppt_x"/>
                                          </p:val>
                                        </p:tav>
                                      </p:tavLst>
                                    </p:anim>
                                    <p:anim calcmode="lin" valueType="num">
                                      <p:cBhvr>
                                        <p:cTn id="45" dur="1000" fill="hold"/>
                                        <p:tgtEl>
                                          <p:spTgt spid="104">
                                            <p:txEl>
                                              <p:pRg st="7" end="7"/>
                                            </p:txEl>
                                          </p:spTgt>
                                        </p:tgtEl>
                                        <p:attrNameLst>
                                          <p:attrName>ppt_y</p:attrName>
                                        </p:attrNameLst>
                                      </p:cBhvr>
                                      <p:tavLst>
                                        <p:tav tm="0">
                                          <p:val>
                                            <p:strVal val="#ppt_y+.1"/>
                                          </p:val>
                                        </p:tav>
                                        <p:tav tm="100000">
                                          <p:val>
                                            <p:strVal val="#ppt_y"/>
                                          </p:val>
                                        </p:tav>
                                      </p:tavLst>
                                    </p:anim>
                                  </p:childTnLst>
                                </p:cTn>
                              </p:par>
                            </p:childTnLst>
                          </p:cTn>
                        </p:par>
                        <p:par>
                          <p:cTn id="46" fill="hold">
                            <p:stCondLst>
                              <p:cond delay="7000"/>
                            </p:stCondLst>
                            <p:childTnLst>
                              <p:par>
                                <p:cTn id="47" presetID="42" presetClass="entr" presetSubtype="0" fill="hold" grpId="0" nodeType="afterEffect">
                                  <p:stCondLst>
                                    <p:cond delay="0"/>
                                  </p:stCondLst>
                                  <p:childTnLst>
                                    <p:set>
                                      <p:cBhvr>
                                        <p:cTn id="48" dur="1" fill="hold">
                                          <p:stCondLst>
                                            <p:cond delay="0"/>
                                          </p:stCondLst>
                                        </p:cTn>
                                        <p:tgtEl>
                                          <p:spTgt spid="104">
                                            <p:txEl>
                                              <p:pRg st="8" end="8"/>
                                            </p:txEl>
                                          </p:spTgt>
                                        </p:tgtEl>
                                        <p:attrNameLst>
                                          <p:attrName>style.visibility</p:attrName>
                                        </p:attrNameLst>
                                      </p:cBhvr>
                                      <p:to>
                                        <p:strVal val="visible"/>
                                      </p:to>
                                    </p:set>
                                    <p:animEffect transition="in" filter="fade">
                                      <p:cBhvr>
                                        <p:cTn id="49" dur="1000"/>
                                        <p:tgtEl>
                                          <p:spTgt spid="104">
                                            <p:txEl>
                                              <p:pRg st="8" end="8"/>
                                            </p:txEl>
                                          </p:spTgt>
                                        </p:tgtEl>
                                      </p:cBhvr>
                                    </p:animEffect>
                                    <p:anim calcmode="lin" valueType="num">
                                      <p:cBhvr>
                                        <p:cTn id="50" dur="1000" fill="hold"/>
                                        <p:tgtEl>
                                          <p:spTgt spid="104">
                                            <p:txEl>
                                              <p:pRg st="8" end="8"/>
                                            </p:txEl>
                                          </p:spTgt>
                                        </p:tgtEl>
                                        <p:attrNameLst>
                                          <p:attrName>ppt_x</p:attrName>
                                        </p:attrNameLst>
                                      </p:cBhvr>
                                      <p:tavLst>
                                        <p:tav tm="0">
                                          <p:val>
                                            <p:strVal val="#ppt_x"/>
                                          </p:val>
                                        </p:tav>
                                        <p:tav tm="100000">
                                          <p:val>
                                            <p:strVal val="#ppt_x"/>
                                          </p:val>
                                        </p:tav>
                                      </p:tavLst>
                                    </p:anim>
                                    <p:anim calcmode="lin" valueType="num">
                                      <p:cBhvr>
                                        <p:cTn id="51" dur="1000" fill="hold"/>
                                        <p:tgtEl>
                                          <p:spTgt spid="104">
                                            <p:txEl>
                                              <p:pRg st="8" end="8"/>
                                            </p:txEl>
                                          </p:spTgt>
                                        </p:tgtEl>
                                        <p:attrNameLst>
                                          <p:attrName>ppt_y</p:attrName>
                                        </p:attrNameLst>
                                      </p:cBhvr>
                                      <p:tavLst>
                                        <p:tav tm="0">
                                          <p:val>
                                            <p:strVal val="#ppt_y+.1"/>
                                          </p:val>
                                        </p:tav>
                                        <p:tav tm="100000">
                                          <p:val>
                                            <p:strVal val="#ppt_y"/>
                                          </p:val>
                                        </p:tav>
                                      </p:tavLst>
                                    </p:anim>
                                  </p:childTnLst>
                                </p:cTn>
                              </p:par>
                            </p:childTnLst>
                          </p:cTn>
                        </p:par>
                        <p:par>
                          <p:cTn id="52" fill="hold">
                            <p:stCondLst>
                              <p:cond delay="8000"/>
                            </p:stCondLst>
                            <p:childTnLst>
                              <p:par>
                                <p:cTn id="53" presetID="42" presetClass="entr" presetSubtype="0" fill="hold" grpId="0" nodeType="afterEffect">
                                  <p:stCondLst>
                                    <p:cond delay="0"/>
                                  </p:stCondLst>
                                  <p:childTnLst>
                                    <p:set>
                                      <p:cBhvr>
                                        <p:cTn id="54" dur="1" fill="hold">
                                          <p:stCondLst>
                                            <p:cond delay="0"/>
                                          </p:stCondLst>
                                        </p:cTn>
                                        <p:tgtEl>
                                          <p:spTgt spid="104">
                                            <p:txEl>
                                              <p:pRg st="9" end="9"/>
                                            </p:txEl>
                                          </p:spTgt>
                                        </p:tgtEl>
                                        <p:attrNameLst>
                                          <p:attrName>style.visibility</p:attrName>
                                        </p:attrNameLst>
                                      </p:cBhvr>
                                      <p:to>
                                        <p:strVal val="visible"/>
                                      </p:to>
                                    </p:set>
                                    <p:animEffect transition="in" filter="fade">
                                      <p:cBhvr>
                                        <p:cTn id="55" dur="1000"/>
                                        <p:tgtEl>
                                          <p:spTgt spid="104">
                                            <p:txEl>
                                              <p:pRg st="9" end="9"/>
                                            </p:txEl>
                                          </p:spTgt>
                                        </p:tgtEl>
                                      </p:cBhvr>
                                    </p:animEffect>
                                    <p:anim calcmode="lin" valueType="num">
                                      <p:cBhvr>
                                        <p:cTn id="56" dur="1000" fill="hold"/>
                                        <p:tgtEl>
                                          <p:spTgt spid="104">
                                            <p:txEl>
                                              <p:pRg st="9" end="9"/>
                                            </p:txEl>
                                          </p:spTgt>
                                        </p:tgtEl>
                                        <p:attrNameLst>
                                          <p:attrName>ppt_x</p:attrName>
                                        </p:attrNameLst>
                                      </p:cBhvr>
                                      <p:tavLst>
                                        <p:tav tm="0">
                                          <p:val>
                                            <p:strVal val="#ppt_x"/>
                                          </p:val>
                                        </p:tav>
                                        <p:tav tm="100000">
                                          <p:val>
                                            <p:strVal val="#ppt_x"/>
                                          </p:val>
                                        </p:tav>
                                      </p:tavLst>
                                    </p:anim>
                                    <p:anim calcmode="lin" valueType="num">
                                      <p:cBhvr>
                                        <p:cTn id="57" dur="1000" fill="hold"/>
                                        <p:tgtEl>
                                          <p:spTgt spid="104">
                                            <p:txEl>
                                              <p:pRg st="9" end="9"/>
                                            </p:txEl>
                                          </p:spTgt>
                                        </p:tgtEl>
                                        <p:attrNameLst>
                                          <p:attrName>ppt_y</p:attrName>
                                        </p:attrNameLst>
                                      </p:cBhvr>
                                      <p:tavLst>
                                        <p:tav tm="0">
                                          <p:val>
                                            <p:strVal val="#ppt_y+.1"/>
                                          </p:val>
                                        </p:tav>
                                        <p:tav tm="100000">
                                          <p:val>
                                            <p:strVal val="#ppt_y"/>
                                          </p:val>
                                        </p:tav>
                                      </p:tavLst>
                                    </p:anim>
                                  </p:childTnLst>
                                </p:cTn>
                              </p:par>
                            </p:childTnLst>
                          </p:cTn>
                        </p:par>
                        <p:par>
                          <p:cTn id="58" fill="hold">
                            <p:stCondLst>
                              <p:cond delay="9000"/>
                            </p:stCondLst>
                            <p:childTnLst>
                              <p:par>
                                <p:cTn id="59" presetID="42" presetClass="entr" presetSubtype="0" fill="hold" grpId="0" nodeType="afterEffect">
                                  <p:stCondLst>
                                    <p:cond delay="0"/>
                                  </p:stCondLst>
                                  <p:childTnLst>
                                    <p:set>
                                      <p:cBhvr>
                                        <p:cTn id="60" dur="1" fill="hold">
                                          <p:stCondLst>
                                            <p:cond delay="0"/>
                                          </p:stCondLst>
                                        </p:cTn>
                                        <p:tgtEl>
                                          <p:spTgt spid="104">
                                            <p:txEl>
                                              <p:pRg st="10" end="10"/>
                                            </p:txEl>
                                          </p:spTgt>
                                        </p:tgtEl>
                                        <p:attrNameLst>
                                          <p:attrName>style.visibility</p:attrName>
                                        </p:attrNameLst>
                                      </p:cBhvr>
                                      <p:to>
                                        <p:strVal val="visible"/>
                                      </p:to>
                                    </p:set>
                                    <p:animEffect transition="in" filter="fade">
                                      <p:cBhvr>
                                        <p:cTn id="61" dur="1000"/>
                                        <p:tgtEl>
                                          <p:spTgt spid="104">
                                            <p:txEl>
                                              <p:pRg st="10" end="10"/>
                                            </p:txEl>
                                          </p:spTgt>
                                        </p:tgtEl>
                                      </p:cBhvr>
                                    </p:animEffect>
                                    <p:anim calcmode="lin" valueType="num">
                                      <p:cBhvr>
                                        <p:cTn id="62" dur="1000" fill="hold"/>
                                        <p:tgtEl>
                                          <p:spTgt spid="104">
                                            <p:txEl>
                                              <p:pRg st="10" end="10"/>
                                            </p:txEl>
                                          </p:spTgt>
                                        </p:tgtEl>
                                        <p:attrNameLst>
                                          <p:attrName>ppt_x</p:attrName>
                                        </p:attrNameLst>
                                      </p:cBhvr>
                                      <p:tavLst>
                                        <p:tav tm="0">
                                          <p:val>
                                            <p:strVal val="#ppt_x"/>
                                          </p:val>
                                        </p:tav>
                                        <p:tav tm="100000">
                                          <p:val>
                                            <p:strVal val="#ppt_x"/>
                                          </p:val>
                                        </p:tav>
                                      </p:tavLst>
                                    </p:anim>
                                    <p:anim calcmode="lin" valueType="num">
                                      <p:cBhvr>
                                        <p:cTn id="63" dur="1000" fill="hold"/>
                                        <p:tgtEl>
                                          <p:spTgt spid="104">
                                            <p:txEl>
                                              <p:pRg st="10" end="10"/>
                                            </p:txEl>
                                          </p:spTgt>
                                        </p:tgtEl>
                                        <p:attrNameLst>
                                          <p:attrName>ppt_y</p:attrName>
                                        </p:attrNameLst>
                                      </p:cBhvr>
                                      <p:tavLst>
                                        <p:tav tm="0">
                                          <p:val>
                                            <p:strVal val="#ppt_y+.1"/>
                                          </p:val>
                                        </p:tav>
                                        <p:tav tm="100000">
                                          <p:val>
                                            <p:strVal val="#ppt_y"/>
                                          </p:val>
                                        </p:tav>
                                      </p:tavLst>
                                    </p:anim>
                                  </p:childTnLst>
                                </p:cTn>
                              </p:par>
                            </p:childTnLst>
                          </p:cTn>
                        </p:par>
                        <p:par>
                          <p:cTn id="64" fill="hold">
                            <p:stCondLst>
                              <p:cond delay="10000"/>
                            </p:stCondLst>
                            <p:childTnLst>
                              <p:par>
                                <p:cTn id="65" presetID="42" presetClass="entr" presetSubtype="0" fill="hold" grpId="0" nodeType="afterEffect">
                                  <p:stCondLst>
                                    <p:cond delay="0"/>
                                  </p:stCondLst>
                                  <p:childTnLst>
                                    <p:set>
                                      <p:cBhvr>
                                        <p:cTn id="66" dur="1" fill="hold">
                                          <p:stCondLst>
                                            <p:cond delay="0"/>
                                          </p:stCondLst>
                                        </p:cTn>
                                        <p:tgtEl>
                                          <p:spTgt spid="104">
                                            <p:txEl>
                                              <p:pRg st="11" end="11"/>
                                            </p:txEl>
                                          </p:spTgt>
                                        </p:tgtEl>
                                        <p:attrNameLst>
                                          <p:attrName>style.visibility</p:attrName>
                                        </p:attrNameLst>
                                      </p:cBhvr>
                                      <p:to>
                                        <p:strVal val="visible"/>
                                      </p:to>
                                    </p:set>
                                    <p:animEffect transition="in" filter="fade">
                                      <p:cBhvr>
                                        <p:cTn id="67" dur="1000"/>
                                        <p:tgtEl>
                                          <p:spTgt spid="104">
                                            <p:txEl>
                                              <p:pRg st="11" end="11"/>
                                            </p:txEl>
                                          </p:spTgt>
                                        </p:tgtEl>
                                      </p:cBhvr>
                                    </p:animEffect>
                                    <p:anim calcmode="lin" valueType="num">
                                      <p:cBhvr>
                                        <p:cTn id="68" dur="1000" fill="hold"/>
                                        <p:tgtEl>
                                          <p:spTgt spid="104">
                                            <p:txEl>
                                              <p:pRg st="11" end="11"/>
                                            </p:txEl>
                                          </p:spTgt>
                                        </p:tgtEl>
                                        <p:attrNameLst>
                                          <p:attrName>ppt_x</p:attrName>
                                        </p:attrNameLst>
                                      </p:cBhvr>
                                      <p:tavLst>
                                        <p:tav tm="0">
                                          <p:val>
                                            <p:strVal val="#ppt_x"/>
                                          </p:val>
                                        </p:tav>
                                        <p:tav tm="100000">
                                          <p:val>
                                            <p:strVal val="#ppt_x"/>
                                          </p:val>
                                        </p:tav>
                                      </p:tavLst>
                                    </p:anim>
                                    <p:anim calcmode="lin" valueType="num">
                                      <p:cBhvr>
                                        <p:cTn id="69" dur="1000" fill="hold"/>
                                        <p:tgtEl>
                                          <p:spTgt spid="104">
                                            <p:txEl>
                                              <p:pRg st="11" end="1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2"/>
          <p:cNvSpPr txBox="1">
            <a:spLocks noGrp="1"/>
          </p:cNvSpPr>
          <p:nvPr>
            <p:ph type="title"/>
          </p:nvPr>
        </p:nvSpPr>
        <p:spPr>
          <a:xfrm>
            <a:off x="0" y="0"/>
            <a:ext cx="9144000" cy="1066800"/>
          </a:xfrm>
          <a:prstGeom prst="rect">
            <a:avLst/>
          </a:prstGeom>
          <a:ln/>
        </p:spPr>
        <p:style>
          <a:lnRef idx="0">
            <a:schemeClr val="accent3"/>
          </a:lnRef>
          <a:fillRef idx="3">
            <a:schemeClr val="accent3"/>
          </a:fillRef>
          <a:effectRef idx="3">
            <a:schemeClr val="accent3"/>
          </a:effectRef>
          <a:fontRef idx="minor">
            <a:schemeClr val="lt1"/>
          </a:fontRef>
        </p:style>
        <p:txBody>
          <a:bodyPr spcFirstLastPara="1" wrap="square" lIns="91425" tIns="45700" rIns="91425" bIns="45700" anchor="ctr" anchorCtr="0">
            <a:normAutofit/>
          </a:bodyPr>
          <a:lstStyle/>
          <a:p>
            <a:pPr lvl="0">
              <a:defRPr/>
            </a:pPr>
            <a:r>
              <a:rPr lang="en-US" b="1" dirty="0">
                <a:ln w="1905"/>
                <a:solidFill>
                  <a:schemeClr val="tx1"/>
                </a:solidFill>
                <a:effectLst>
                  <a:innerShdw blurRad="69850" dist="43180" dir="5400000">
                    <a:srgbClr val="000000">
                      <a:alpha val="65000"/>
                    </a:srgbClr>
                  </a:innerShdw>
                </a:effectLst>
              </a:rPr>
              <a:t>Index Sequential File</a:t>
            </a:r>
          </a:p>
        </p:txBody>
      </p:sp>
      <p:sp>
        <p:nvSpPr>
          <p:cNvPr id="104" name="Google Shape;104;p2"/>
          <p:cNvSpPr txBox="1">
            <a:spLocks noGrp="1"/>
          </p:cNvSpPr>
          <p:nvPr>
            <p:ph type="body" idx="1"/>
          </p:nvPr>
        </p:nvSpPr>
        <p:spPr>
          <a:xfrm>
            <a:off x="0" y="1047750"/>
            <a:ext cx="9144000" cy="5943600"/>
          </a:xfrm>
          <a:prstGeom prst="rect">
            <a:avLst/>
          </a:prstGeom>
          <a:noFill/>
          <a:ln>
            <a:noFill/>
          </a:ln>
        </p:spPr>
        <p:txBody>
          <a:bodyPr spcFirstLastPara="1" wrap="square" lIns="91425" tIns="45700" rIns="91425" bIns="45700" anchor="t" anchorCtr="0">
            <a:noAutofit/>
          </a:bodyPr>
          <a:lstStyle/>
          <a:p>
            <a:pPr algn="just"/>
            <a:r>
              <a:rPr lang="en-US" sz="2400" dirty="0" smtClean="0"/>
              <a:t>These additional methods generally involve the construction of an index for the file. The index, like an index in the back of a book, contains pointers to the various blocks. To find an entry in the file we first search the index and then use the pointer to directly access the file and find the desired entry. From this search we would know exactly which block contains the desired entry and access that block. This structure allows us to search a large file with very little Input/Output.</a:t>
            </a:r>
          </a:p>
          <a:p>
            <a:pPr algn="just"/>
            <a:endParaRPr lang="en-US" sz="2400" dirty="0" smtClean="0"/>
          </a:p>
          <a:p>
            <a:pPr algn="just"/>
            <a:r>
              <a:rPr lang="en-US" sz="2400" dirty="0" smtClean="0"/>
              <a:t>	With large files, the index file itself may become too large to be kept in memory. One solution is then to create an index for the index file. The primary index file would contain pointers to secondary index files, which then point to the actual data items.</a:t>
            </a:r>
          </a:p>
          <a:p>
            <a:endParaRPr lang="en-US" sz="2400" dirty="0"/>
          </a:p>
        </p:txBody>
      </p:sp>
      <p:sp>
        <p:nvSpPr>
          <p:cNvPr id="105" name="Google Shape;105;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pPr marL="0" lvl="0" indent="0" algn="r" rtl="0">
                <a:spcBef>
                  <a:spcPts val="0"/>
                </a:spcBef>
                <a:spcAft>
                  <a:spcPts val="0"/>
                </a:spcAft>
                <a:buNone/>
              </a:pPr>
              <a:t>12</a:t>
            </a:fld>
            <a:endParaRPr/>
          </a:p>
        </p:txBody>
      </p:sp>
    </p:spTree>
    <p:extLst>
      <p:ext uri="{BB962C8B-B14F-4D97-AF65-F5344CB8AC3E}">
        <p14:creationId xmlns:p14="http://schemas.microsoft.com/office/powerpoint/2010/main" xmlns="" val="3284877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04">
                                            <p:txEl>
                                              <p:pRg st="0" end="0"/>
                                            </p:txEl>
                                          </p:spTgt>
                                        </p:tgtEl>
                                        <p:attrNameLst>
                                          <p:attrName>style.visibility</p:attrName>
                                        </p:attrNameLst>
                                      </p:cBhvr>
                                      <p:to>
                                        <p:strVal val="visible"/>
                                      </p:to>
                                    </p:set>
                                    <p:animEffect transition="in" filter="fade">
                                      <p:cBhvr>
                                        <p:cTn id="7" dur="1000"/>
                                        <p:tgtEl>
                                          <p:spTgt spid="104">
                                            <p:txEl>
                                              <p:pRg st="0" end="0"/>
                                            </p:txEl>
                                          </p:spTgt>
                                        </p:tgtEl>
                                      </p:cBhvr>
                                    </p:animEffect>
                                    <p:anim calcmode="lin" valueType="num">
                                      <p:cBhvr>
                                        <p:cTn id="8" dur="1000" fill="hold"/>
                                        <p:tgtEl>
                                          <p:spTgt spid="10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04">
                                            <p:txEl>
                                              <p:pRg st="0" end="0"/>
                                            </p:txEl>
                                          </p:spTgt>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grpId="0" nodeType="afterEffect">
                                  <p:stCondLst>
                                    <p:cond delay="0"/>
                                  </p:stCondLst>
                                  <p:childTnLst>
                                    <p:set>
                                      <p:cBhvr>
                                        <p:cTn id="12" dur="1" fill="hold">
                                          <p:stCondLst>
                                            <p:cond delay="0"/>
                                          </p:stCondLst>
                                        </p:cTn>
                                        <p:tgtEl>
                                          <p:spTgt spid="104">
                                            <p:txEl>
                                              <p:pRg st="2" end="2"/>
                                            </p:txEl>
                                          </p:spTgt>
                                        </p:tgtEl>
                                        <p:attrNameLst>
                                          <p:attrName>style.visibility</p:attrName>
                                        </p:attrNameLst>
                                      </p:cBhvr>
                                      <p:to>
                                        <p:strVal val="visible"/>
                                      </p:to>
                                    </p:set>
                                    <p:animEffect transition="in" filter="fade">
                                      <p:cBhvr>
                                        <p:cTn id="13" dur="1000"/>
                                        <p:tgtEl>
                                          <p:spTgt spid="104">
                                            <p:txEl>
                                              <p:pRg st="2" end="2"/>
                                            </p:txEl>
                                          </p:spTgt>
                                        </p:tgtEl>
                                      </p:cBhvr>
                                    </p:animEffect>
                                    <p:anim calcmode="lin" valueType="num">
                                      <p:cBhvr>
                                        <p:cTn id="14" dur="1000" fill="hold"/>
                                        <p:tgtEl>
                                          <p:spTgt spid="104">
                                            <p:txEl>
                                              <p:pRg st="2" end="2"/>
                                            </p:txEl>
                                          </p:spTgt>
                                        </p:tgtEl>
                                        <p:attrNameLst>
                                          <p:attrName>ppt_x</p:attrName>
                                        </p:attrNameLst>
                                      </p:cBhvr>
                                      <p:tavLst>
                                        <p:tav tm="0">
                                          <p:val>
                                            <p:strVal val="#ppt_x"/>
                                          </p:val>
                                        </p:tav>
                                        <p:tav tm="100000">
                                          <p:val>
                                            <p:strVal val="#ppt_x"/>
                                          </p:val>
                                        </p:tav>
                                      </p:tavLst>
                                    </p:anim>
                                    <p:anim calcmode="lin" valueType="num">
                                      <p:cBhvr>
                                        <p:cTn id="15" dur="1000" fill="hold"/>
                                        <p:tgtEl>
                                          <p:spTgt spid="104">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2"/>
          <p:cNvSpPr txBox="1">
            <a:spLocks noGrp="1"/>
          </p:cNvSpPr>
          <p:nvPr>
            <p:ph type="title"/>
          </p:nvPr>
        </p:nvSpPr>
        <p:spPr>
          <a:xfrm>
            <a:off x="0" y="0"/>
            <a:ext cx="9144000" cy="1066800"/>
          </a:xfrm>
          <a:prstGeom prst="rect">
            <a:avLst/>
          </a:prstGeom>
          <a:ln/>
        </p:spPr>
        <p:style>
          <a:lnRef idx="0">
            <a:schemeClr val="accent3"/>
          </a:lnRef>
          <a:fillRef idx="3">
            <a:schemeClr val="accent3"/>
          </a:fillRef>
          <a:effectRef idx="3">
            <a:schemeClr val="accent3"/>
          </a:effectRef>
          <a:fontRef idx="minor">
            <a:schemeClr val="lt1"/>
          </a:fontRef>
        </p:style>
        <p:txBody>
          <a:bodyPr spcFirstLastPara="1" wrap="square" lIns="91425" tIns="45700" rIns="91425" bIns="45700" anchor="ctr" anchorCtr="0">
            <a:normAutofit/>
          </a:bodyPr>
          <a:lstStyle/>
          <a:p>
            <a:pPr lvl="0">
              <a:defRPr/>
            </a:pPr>
            <a:r>
              <a:rPr lang="en-US" b="1" dirty="0">
                <a:ln w="1905"/>
                <a:solidFill>
                  <a:schemeClr val="tx1"/>
                </a:solidFill>
                <a:effectLst>
                  <a:innerShdw blurRad="69850" dist="43180" dir="5400000">
                    <a:srgbClr val="000000">
                      <a:alpha val="65000"/>
                    </a:srgbClr>
                  </a:innerShdw>
                </a:effectLst>
              </a:rPr>
              <a:t>Index Sequential File</a:t>
            </a:r>
          </a:p>
        </p:txBody>
      </p:sp>
      <p:sp>
        <p:nvSpPr>
          <p:cNvPr id="104" name="Google Shape;104;p2"/>
          <p:cNvSpPr txBox="1">
            <a:spLocks noGrp="1"/>
          </p:cNvSpPr>
          <p:nvPr>
            <p:ph type="body" idx="1"/>
          </p:nvPr>
        </p:nvSpPr>
        <p:spPr>
          <a:xfrm>
            <a:off x="0" y="1047750"/>
            <a:ext cx="9144000" cy="5943600"/>
          </a:xfrm>
          <a:prstGeom prst="rect">
            <a:avLst/>
          </a:prstGeom>
          <a:noFill/>
          <a:ln>
            <a:noFill/>
          </a:ln>
        </p:spPr>
        <p:txBody>
          <a:bodyPr spcFirstLastPara="1" wrap="square" lIns="91425" tIns="45700" rIns="91425" bIns="45700" anchor="t" anchorCtr="0">
            <a:noAutofit/>
          </a:bodyPr>
          <a:lstStyle/>
          <a:p>
            <a:r>
              <a:rPr lang="en-US" sz="2200" b="1" dirty="0" smtClean="0"/>
              <a:t>Advantages:</a:t>
            </a:r>
            <a:endParaRPr lang="en-US" sz="2200" dirty="0" smtClean="0"/>
          </a:p>
          <a:p>
            <a:pPr marL="285750" lvl="0" indent="-285750"/>
            <a:r>
              <a:rPr lang="en-US" sz="2200" dirty="0" smtClean="0"/>
              <a:t>Variable length records are allowed.</a:t>
            </a:r>
          </a:p>
          <a:p>
            <a:pPr marL="285750" lvl="0" indent="-285750"/>
            <a:r>
              <a:rPr lang="en-US" sz="2200" dirty="0" smtClean="0"/>
              <a:t>Indexed sequential file may be updated in sequential or random mode</a:t>
            </a:r>
          </a:p>
          <a:p>
            <a:pPr marL="285750" lvl="0" indent="-285750"/>
            <a:r>
              <a:rPr lang="en-US" sz="2200" dirty="0" smtClean="0"/>
              <a:t>Very fast operation</a:t>
            </a:r>
          </a:p>
          <a:p>
            <a:endParaRPr lang="en-US" sz="2200" b="1" dirty="0" smtClean="0"/>
          </a:p>
          <a:p>
            <a:r>
              <a:rPr lang="en-US" sz="2200" b="1" dirty="0" smtClean="0"/>
              <a:t>Disadvantages:</a:t>
            </a:r>
            <a:endParaRPr lang="en-US" sz="2200" dirty="0" smtClean="0"/>
          </a:p>
          <a:p>
            <a:pPr marL="285750" lvl="0" indent="-285750" algn="just"/>
            <a:r>
              <a:rPr lang="en-US" sz="2200" dirty="0" smtClean="0"/>
              <a:t>The major disadvantage of</a:t>
            </a:r>
            <a:r>
              <a:rPr lang="en-US" sz="2200" i="1" dirty="0" smtClean="0"/>
              <a:t> </a:t>
            </a:r>
            <a:r>
              <a:rPr lang="en-US" sz="2200" dirty="0" smtClean="0"/>
              <a:t>the index sequential file is that as the file grows, a performance deteriorates rapidly because of overflows and consequently there arises the need for periodic reorganization. Reorganization is an expensive process and the file becomes unavailable during reorganization.</a:t>
            </a:r>
          </a:p>
          <a:p>
            <a:pPr marL="285750" lvl="0" indent="-285750" algn="just"/>
            <a:r>
              <a:rPr lang="en-US" sz="2200" dirty="0" smtClean="0"/>
              <a:t>When a new record is added to the main file, all of the index files must be updated.</a:t>
            </a:r>
          </a:p>
          <a:p>
            <a:pPr marL="285750" lvl="0" indent="-285750" algn="just"/>
            <a:r>
              <a:rPr lang="en-US" sz="2200" dirty="0" smtClean="0"/>
              <a:t>Consumes large memory space for maintaining index files.</a:t>
            </a:r>
          </a:p>
          <a:p>
            <a:endParaRPr lang="en-US" sz="2200" dirty="0"/>
          </a:p>
        </p:txBody>
      </p:sp>
      <p:sp>
        <p:nvSpPr>
          <p:cNvPr id="105" name="Google Shape;105;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pPr marL="0" lvl="0" indent="0" algn="r" rtl="0">
                <a:spcBef>
                  <a:spcPts val="0"/>
                </a:spcBef>
                <a:spcAft>
                  <a:spcPts val="0"/>
                </a:spcAft>
                <a:buNone/>
              </a:pPr>
              <a:t>13</a:t>
            </a:fld>
            <a:endParaRPr/>
          </a:p>
        </p:txBody>
      </p:sp>
    </p:spTree>
    <p:extLst>
      <p:ext uri="{BB962C8B-B14F-4D97-AF65-F5344CB8AC3E}">
        <p14:creationId xmlns:p14="http://schemas.microsoft.com/office/powerpoint/2010/main" xmlns="" val="39032926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04">
                                            <p:txEl>
                                              <p:pRg st="0" end="0"/>
                                            </p:txEl>
                                          </p:spTgt>
                                        </p:tgtEl>
                                        <p:attrNameLst>
                                          <p:attrName>style.visibility</p:attrName>
                                        </p:attrNameLst>
                                      </p:cBhvr>
                                      <p:to>
                                        <p:strVal val="visible"/>
                                      </p:to>
                                    </p:set>
                                    <p:animEffect transition="in" filter="fade">
                                      <p:cBhvr>
                                        <p:cTn id="7" dur="1000"/>
                                        <p:tgtEl>
                                          <p:spTgt spid="104">
                                            <p:txEl>
                                              <p:pRg st="0" end="0"/>
                                            </p:txEl>
                                          </p:spTgt>
                                        </p:tgtEl>
                                      </p:cBhvr>
                                    </p:animEffect>
                                    <p:anim calcmode="lin" valueType="num">
                                      <p:cBhvr>
                                        <p:cTn id="8" dur="1000" fill="hold"/>
                                        <p:tgtEl>
                                          <p:spTgt spid="10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04">
                                            <p:txEl>
                                              <p:pRg st="0" end="0"/>
                                            </p:txEl>
                                          </p:spTgt>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grpId="0" nodeType="afterEffect">
                                  <p:stCondLst>
                                    <p:cond delay="0"/>
                                  </p:stCondLst>
                                  <p:childTnLst>
                                    <p:set>
                                      <p:cBhvr>
                                        <p:cTn id="12" dur="1" fill="hold">
                                          <p:stCondLst>
                                            <p:cond delay="0"/>
                                          </p:stCondLst>
                                        </p:cTn>
                                        <p:tgtEl>
                                          <p:spTgt spid="104">
                                            <p:txEl>
                                              <p:pRg st="1" end="1"/>
                                            </p:txEl>
                                          </p:spTgt>
                                        </p:tgtEl>
                                        <p:attrNameLst>
                                          <p:attrName>style.visibility</p:attrName>
                                        </p:attrNameLst>
                                      </p:cBhvr>
                                      <p:to>
                                        <p:strVal val="visible"/>
                                      </p:to>
                                    </p:set>
                                    <p:animEffect transition="in" filter="fade">
                                      <p:cBhvr>
                                        <p:cTn id="13" dur="1000"/>
                                        <p:tgtEl>
                                          <p:spTgt spid="104">
                                            <p:txEl>
                                              <p:pRg st="1" end="1"/>
                                            </p:txEl>
                                          </p:spTgt>
                                        </p:tgtEl>
                                      </p:cBhvr>
                                    </p:animEffect>
                                    <p:anim calcmode="lin" valueType="num">
                                      <p:cBhvr>
                                        <p:cTn id="14" dur="1000" fill="hold"/>
                                        <p:tgtEl>
                                          <p:spTgt spid="104">
                                            <p:txEl>
                                              <p:pRg st="1" end="1"/>
                                            </p:txEl>
                                          </p:spTgt>
                                        </p:tgtEl>
                                        <p:attrNameLst>
                                          <p:attrName>ppt_x</p:attrName>
                                        </p:attrNameLst>
                                      </p:cBhvr>
                                      <p:tavLst>
                                        <p:tav tm="0">
                                          <p:val>
                                            <p:strVal val="#ppt_x"/>
                                          </p:val>
                                        </p:tav>
                                        <p:tav tm="100000">
                                          <p:val>
                                            <p:strVal val="#ppt_x"/>
                                          </p:val>
                                        </p:tav>
                                      </p:tavLst>
                                    </p:anim>
                                    <p:anim calcmode="lin" valueType="num">
                                      <p:cBhvr>
                                        <p:cTn id="15" dur="1000" fill="hold"/>
                                        <p:tgtEl>
                                          <p:spTgt spid="104">
                                            <p:txEl>
                                              <p:pRg st="1" end="1"/>
                                            </p:txEl>
                                          </p:spTgt>
                                        </p:tgtEl>
                                        <p:attrNameLst>
                                          <p:attrName>ppt_y</p:attrName>
                                        </p:attrNameLst>
                                      </p:cBhvr>
                                      <p:tavLst>
                                        <p:tav tm="0">
                                          <p:val>
                                            <p:strVal val="#ppt_y+.1"/>
                                          </p:val>
                                        </p:tav>
                                        <p:tav tm="100000">
                                          <p:val>
                                            <p:strVal val="#ppt_y"/>
                                          </p:val>
                                        </p:tav>
                                      </p:tavLst>
                                    </p:anim>
                                  </p:childTnLst>
                                </p:cTn>
                              </p:par>
                            </p:childTnLst>
                          </p:cTn>
                        </p:par>
                        <p:par>
                          <p:cTn id="16" fill="hold">
                            <p:stCondLst>
                              <p:cond delay="2000"/>
                            </p:stCondLst>
                            <p:childTnLst>
                              <p:par>
                                <p:cTn id="17" presetID="42" presetClass="entr" presetSubtype="0" fill="hold" grpId="0" nodeType="afterEffect">
                                  <p:stCondLst>
                                    <p:cond delay="0"/>
                                  </p:stCondLst>
                                  <p:childTnLst>
                                    <p:set>
                                      <p:cBhvr>
                                        <p:cTn id="18" dur="1" fill="hold">
                                          <p:stCondLst>
                                            <p:cond delay="0"/>
                                          </p:stCondLst>
                                        </p:cTn>
                                        <p:tgtEl>
                                          <p:spTgt spid="104">
                                            <p:txEl>
                                              <p:pRg st="2" end="2"/>
                                            </p:txEl>
                                          </p:spTgt>
                                        </p:tgtEl>
                                        <p:attrNameLst>
                                          <p:attrName>style.visibility</p:attrName>
                                        </p:attrNameLst>
                                      </p:cBhvr>
                                      <p:to>
                                        <p:strVal val="visible"/>
                                      </p:to>
                                    </p:set>
                                    <p:animEffect transition="in" filter="fade">
                                      <p:cBhvr>
                                        <p:cTn id="19" dur="1000"/>
                                        <p:tgtEl>
                                          <p:spTgt spid="104">
                                            <p:txEl>
                                              <p:pRg st="2" end="2"/>
                                            </p:txEl>
                                          </p:spTgt>
                                        </p:tgtEl>
                                      </p:cBhvr>
                                    </p:animEffect>
                                    <p:anim calcmode="lin" valueType="num">
                                      <p:cBhvr>
                                        <p:cTn id="20" dur="1000" fill="hold"/>
                                        <p:tgtEl>
                                          <p:spTgt spid="104">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104">
                                            <p:txEl>
                                              <p:pRg st="2" end="2"/>
                                            </p:txEl>
                                          </p:spTgt>
                                        </p:tgtEl>
                                        <p:attrNameLst>
                                          <p:attrName>ppt_y</p:attrName>
                                        </p:attrNameLst>
                                      </p:cBhvr>
                                      <p:tavLst>
                                        <p:tav tm="0">
                                          <p:val>
                                            <p:strVal val="#ppt_y+.1"/>
                                          </p:val>
                                        </p:tav>
                                        <p:tav tm="100000">
                                          <p:val>
                                            <p:strVal val="#ppt_y"/>
                                          </p:val>
                                        </p:tav>
                                      </p:tavLst>
                                    </p:anim>
                                  </p:childTnLst>
                                </p:cTn>
                              </p:par>
                            </p:childTnLst>
                          </p:cTn>
                        </p:par>
                        <p:par>
                          <p:cTn id="22" fill="hold">
                            <p:stCondLst>
                              <p:cond delay="3000"/>
                            </p:stCondLst>
                            <p:childTnLst>
                              <p:par>
                                <p:cTn id="23" presetID="42" presetClass="entr" presetSubtype="0" fill="hold" grpId="0" nodeType="afterEffect">
                                  <p:stCondLst>
                                    <p:cond delay="0"/>
                                  </p:stCondLst>
                                  <p:childTnLst>
                                    <p:set>
                                      <p:cBhvr>
                                        <p:cTn id="24" dur="1" fill="hold">
                                          <p:stCondLst>
                                            <p:cond delay="0"/>
                                          </p:stCondLst>
                                        </p:cTn>
                                        <p:tgtEl>
                                          <p:spTgt spid="104">
                                            <p:txEl>
                                              <p:pRg st="3" end="3"/>
                                            </p:txEl>
                                          </p:spTgt>
                                        </p:tgtEl>
                                        <p:attrNameLst>
                                          <p:attrName>style.visibility</p:attrName>
                                        </p:attrNameLst>
                                      </p:cBhvr>
                                      <p:to>
                                        <p:strVal val="visible"/>
                                      </p:to>
                                    </p:set>
                                    <p:animEffect transition="in" filter="fade">
                                      <p:cBhvr>
                                        <p:cTn id="25" dur="1000"/>
                                        <p:tgtEl>
                                          <p:spTgt spid="104">
                                            <p:txEl>
                                              <p:pRg st="3" end="3"/>
                                            </p:txEl>
                                          </p:spTgt>
                                        </p:tgtEl>
                                      </p:cBhvr>
                                    </p:animEffect>
                                    <p:anim calcmode="lin" valueType="num">
                                      <p:cBhvr>
                                        <p:cTn id="26" dur="1000" fill="hold"/>
                                        <p:tgtEl>
                                          <p:spTgt spid="104">
                                            <p:txEl>
                                              <p:pRg st="3" end="3"/>
                                            </p:txEl>
                                          </p:spTgt>
                                        </p:tgtEl>
                                        <p:attrNameLst>
                                          <p:attrName>ppt_x</p:attrName>
                                        </p:attrNameLst>
                                      </p:cBhvr>
                                      <p:tavLst>
                                        <p:tav tm="0">
                                          <p:val>
                                            <p:strVal val="#ppt_x"/>
                                          </p:val>
                                        </p:tav>
                                        <p:tav tm="100000">
                                          <p:val>
                                            <p:strVal val="#ppt_x"/>
                                          </p:val>
                                        </p:tav>
                                      </p:tavLst>
                                    </p:anim>
                                    <p:anim calcmode="lin" valueType="num">
                                      <p:cBhvr>
                                        <p:cTn id="27" dur="1000" fill="hold"/>
                                        <p:tgtEl>
                                          <p:spTgt spid="104">
                                            <p:txEl>
                                              <p:pRg st="3" end="3"/>
                                            </p:txEl>
                                          </p:spTgt>
                                        </p:tgtEl>
                                        <p:attrNameLst>
                                          <p:attrName>ppt_y</p:attrName>
                                        </p:attrNameLst>
                                      </p:cBhvr>
                                      <p:tavLst>
                                        <p:tav tm="0">
                                          <p:val>
                                            <p:strVal val="#ppt_y+.1"/>
                                          </p:val>
                                        </p:tav>
                                        <p:tav tm="100000">
                                          <p:val>
                                            <p:strVal val="#ppt_y"/>
                                          </p:val>
                                        </p:tav>
                                      </p:tavLst>
                                    </p:anim>
                                  </p:childTnLst>
                                </p:cTn>
                              </p:par>
                            </p:childTnLst>
                          </p:cTn>
                        </p:par>
                        <p:par>
                          <p:cTn id="28" fill="hold">
                            <p:stCondLst>
                              <p:cond delay="4000"/>
                            </p:stCondLst>
                            <p:childTnLst>
                              <p:par>
                                <p:cTn id="29" presetID="42" presetClass="entr" presetSubtype="0" fill="hold" grpId="0" nodeType="afterEffect">
                                  <p:stCondLst>
                                    <p:cond delay="0"/>
                                  </p:stCondLst>
                                  <p:childTnLst>
                                    <p:set>
                                      <p:cBhvr>
                                        <p:cTn id="30" dur="1" fill="hold">
                                          <p:stCondLst>
                                            <p:cond delay="0"/>
                                          </p:stCondLst>
                                        </p:cTn>
                                        <p:tgtEl>
                                          <p:spTgt spid="104">
                                            <p:txEl>
                                              <p:pRg st="5" end="5"/>
                                            </p:txEl>
                                          </p:spTgt>
                                        </p:tgtEl>
                                        <p:attrNameLst>
                                          <p:attrName>style.visibility</p:attrName>
                                        </p:attrNameLst>
                                      </p:cBhvr>
                                      <p:to>
                                        <p:strVal val="visible"/>
                                      </p:to>
                                    </p:set>
                                    <p:animEffect transition="in" filter="fade">
                                      <p:cBhvr>
                                        <p:cTn id="31" dur="1000"/>
                                        <p:tgtEl>
                                          <p:spTgt spid="104">
                                            <p:txEl>
                                              <p:pRg st="5" end="5"/>
                                            </p:txEl>
                                          </p:spTgt>
                                        </p:tgtEl>
                                      </p:cBhvr>
                                    </p:animEffect>
                                    <p:anim calcmode="lin" valueType="num">
                                      <p:cBhvr>
                                        <p:cTn id="32" dur="1000" fill="hold"/>
                                        <p:tgtEl>
                                          <p:spTgt spid="104">
                                            <p:txEl>
                                              <p:pRg st="5" end="5"/>
                                            </p:txEl>
                                          </p:spTgt>
                                        </p:tgtEl>
                                        <p:attrNameLst>
                                          <p:attrName>ppt_x</p:attrName>
                                        </p:attrNameLst>
                                      </p:cBhvr>
                                      <p:tavLst>
                                        <p:tav tm="0">
                                          <p:val>
                                            <p:strVal val="#ppt_x"/>
                                          </p:val>
                                        </p:tav>
                                        <p:tav tm="100000">
                                          <p:val>
                                            <p:strVal val="#ppt_x"/>
                                          </p:val>
                                        </p:tav>
                                      </p:tavLst>
                                    </p:anim>
                                    <p:anim calcmode="lin" valueType="num">
                                      <p:cBhvr>
                                        <p:cTn id="33" dur="1000" fill="hold"/>
                                        <p:tgtEl>
                                          <p:spTgt spid="104">
                                            <p:txEl>
                                              <p:pRg st="5" end="5"/>
                                            </p:txEl>
                                          </p:spTgt>
                                        </p:tgtEl>
                                        <p:attrNameLst>
                                          <p:attrName>ppt_y</p:attrName>
                                        </p:attrNameLst>
                                      </p:cBhvr>
                                      <p:tavLst>
                                        <p:tav tm="0">
                                          <p:val>
                                            <p:strVal val="#ppt_y+.1"/>
                                          </p:val>
                                        </p:tav>
                                        <p:tav tm="100000">
                                          <p:val>
                                            <p:strVal val="#ppt_y"/>
                                          </p:val>
                                        </p:tav>
                                      </p:tavLst>
                                    </p:anim>
                                  </p:childTnLst>
                                </p:cTn>
                              </p:par>
                            </p:childTnLst>
                          </p:cTn>
                        </p:par>
                        <p:par>
                          <p:cTn id="34" fill="hold">
                            <p:stCondLst>
                              <p:cond delay="5000"/>
                            </p:stCondLst>
                            <p:childTnLst>
                              <p:par>
                                <p:cTn id="35" presetID="42" presetClass="entr" presetSubtype="0" fill="hold" grpId="0" nodeType="afterEffect">
                                  <p:stCondLst>
                                    <p:cond delay="0"/>
                                  </p:stCondLst>
                                  <p:childTnLst>
                                    <p:set>
                                      <p:cBhvr>
                                        <p:cTn id="36" dur="1" fill="hold">
                                          <p:stCondLst>
                                            <p:cond delay="0"/>
                                          </p:stCondLst>
                                        </p:cTn>
                                        <p:tgtEl>
                                          <p:spTgt spid="104">
                                            <p:txEl>
                                              <p:pRg st="6" end="6"/>
                                            </p:txEl>
                                          </p:spTgt>
                                        </p:tgtEl>
                                        <p:attrNameLst>
                                          <p:attrName>style.visibility</p:attrName>
                                        </p:attrNameLst>
                                      </p:cBhvr>
                                      <p:to>
                                        <p:strVal val="visible"/>
                                      </p:to>
                                    </p:set>
                                    <p:animEffect transition="in" filter="fade">
                                      <p:cBhvr>
                                        <p:cTn id="37" dur="1000"/>
                                        <p:tgtEl>
                                          <p:spTgt spid="104">
                                            <p:txEl>
                                              <p:pRg st="6" end="6"/>
                                            </p:txEl>
                                          </p:spTgt>
                                        </p:tgtEl>
                                      </p:cBhvr>
                                    </p:animEffect>
                                    <p:anim calcmode="lin" valueType="num">
                                      <p:cBhvr>
                                        <p:cTn id="38" dur="1000" fill="hold"/>
                                        <p:tgtEl>
                                          <p:spTgt spid="104">
                                            <p:txEl>
                                              <p:pRg st="6" end="6"/>
                                            </p:txEl>
                                          </p:spTgt>
                                        </p:tgtEl>
                                        <p:attrNameLst>
                                          <p:attrName>ppt_x</p:attrName>
                                        </p:attrNameLst>
                                      </p:cBhvr>
                                      <p:tavLst>
                                        <p:tav tm="0">
                                          <p:val>
                                            <p:strVal val="#ppt_x"/>
                                          </p:val>
                                        </p:tav>
                                        <p:tav tm="100000">
                                          <p:val>
                                            <p:strVal val="#ppt_x"/>
                                          </p:val>
                                        </p:tav>
                                      </p:tavLst>
                                    </p:anim>
                                    <p:anim calcmode="lin" valueType="num">
                                      <p:cBhvr>
                                        <p:cTn id="39" dur="1000" fill="hold"/>
                                        <p:tgtEl>
                                          <p:spTgt spid="104">
                                            <p:txEl>
                                              <p:pRg st="6" end="6"/>
                                            </p:txEl>
                                          </p:spTgt>
                                        </p:tgtEl>
                                        <p:attrNameLst>
                                          <p:attrName>ppt_y</p:attrName>
                                        </p:attrNameLst>
                                      </p:cBhvr>
                                      <p:tavLst>
                                        <p:tav tm="0">
                                          <p:val>
                                            <p:strVal val="#ppt_y+.1"/>
                                          </p:val>
                                        </p:tav>
                                        <p:tav tm="100000">
                                          <p:val>
                                            <p:strVal val="#ppt_y"/>
                                          </p:val>
                                        </p:tav>
                                      </p:tavLst>
                                    </p:anim>
                                  </p:childTnLst>
                                </p:cTn>
                              </p:par>
                            </p:childTnLst>
                          </p:cTn>
                        </p:par>
                        <p:par>
                          <p:cTn id="40" fill="hold">
                            <p:stCondLst>
                              <p:cond delay="6000"/>
                            </p:stCondLst>
                            <p:childTnLst>
                              <p:par>
                                <p:cTn id="41" presetID="42" presetClass="entr" presetSubtype="0" fill="hold" grpId="0" nodeType="afterEffect">
                                  <p:stCondLst>
                                    <p:cond delay="0"/>
                                  </p:stCondLst>
                                  <p:childTnLst>
                                    <p:set>
                                      <p:cBhvr>
                                        <p:cTn id="42" dur="1" fill="hold">
                                          <p:stCondLst>
                                            <p:cond delay="0"/>
                                          </p:stCondLst>
                                        </p:cTn>
                                        <p:tgtEl>
                                          <p:spTgt spid="104">
                                            <p:txEl>
                                              <p:pRg st="7" end="7"/>
                                            </p:txEl>
                                          </p:spTgt>
                                        </p:tgtEl>
                                        <p:attrNameLst>
                                          <p:attrName>style.visibility</p:attrName>
                                        </p:attrNameLst>
                                      </p:cBhvr>
                                      <p:to>
                                        <p:strVal val="visible"/>
                                      </p:to>
                                    </p:set>
                                    <p:animEffect transition="in" filter="fade">
                                      <p:cBhvr>
                                        <p:cTn id="43" dur="1000"/>
                                        <p:tgtEl>
                                          <p:spTgt spid="104">
                                            <p:txEl>
                                              <p:pRg st="7" end="7"/>
                                            </p:txEl>
                                          </p:spTgt>
                                        </p:tgtEl>
                                      </p:cBhvr>
                                    </p:animEffect>
                                    <p:anim calcmode="lin" valueType="num">
                                      <p:cBhvr>
                                        <p:cTn id="44" dur="1000" fill="hold"/>
                                        <p:tgtEl>
                                          <p:spTgt spid="104">
                                            <p:txEl>
                                              <p:pRg st="7" end="7"/>
                                            </p:txEl>
                                          </p:spTgt>
                                        </p:tgtEl>
                                        <p:attrNameLst>
                                          <p:attrName>ppt_x</p:attrName>
                                        </p:attrNameLst>
                                      </p:cBhvr>
                                      <p:tavLst>
                                        <p:tav tm="0">
                                          <p:val>
                                            <p:strVal val="#ppt_x"/>
                                          </p:val>
                                        </p:tav>
                                        <p:tav tm="100000">
                                          <p:val>
                                            <p:strVal val="#ppt_x"/>
                                          </p:val>
                                        </p:tav>
                                      </p:tavLst>
                                    </p:anim>
                                    <p:anim calcmode="lin" valueType="num">
                                      <p:cBhvr>
                                        <p:cTn id="45" dur="1000" fill="hold"/>
                                        <p:tgtEl>
                                          <p:spTgt spid="104">
                                            <p:txEl>
                                              <p:pRg st="7" end="7"/>
                                            </p:txEl>
                                          </p:spTgt>
                                        </p:tgtEl>
                                        <p:attrNameLst>
                                          <p:attrName>ppt_y</p:attrName>
                                        </p:attrNameLst>
                                      </p:cBhvr>
                                      <p:tavLst>
                                        <p:tav tm="0">
                                          <p:val>
                                            <p:strVal val="#ppt_y+.1"/>
                                          </p:val>
                                        </p:tav>
                                        <p:tav tm="100000">
                                          <p:val>
                                            <p:strVal val="#ppt_y"/>
                                          </p:val>
                                        </p:tav>
                                      </p:tavLst>
                                    </p:anim>
                                  </p:childTnLst>
                                </p:cTn>
                              </p:par>
                            </p:childTnLst>
                          </p:cTn>
                        </p:par>
                        <p:par>
                          <p:cTn id="46" fill="hold">
                            <p:stCondLst>
                              <p:cond delay="7000"/>
                            </p:stCondLst>
                            <p:childTnLst>
                              <p:par>
                                <p:cTn id="47" presetID="42" presetClass="entr" presetSubtype="0" fill="hold" grpId="0" nodeType="afterEffect">
                                  <p:stCondLst>
                                    <p:cond delay="0"/>
                                  </p:stCondLst>
                                  <p:childTnLst>
                                    <p:set>
                                      <p:cBhvr>
                                        <p:cTn id="48" dur="1" fill="hold">
                                          <p:stCondLst>
                                            <p:cond delay="0"/>
                                          </p:stCondLst>
                                        </p:cTn>
                                        <p:tgtEl>
                                          <p:spTgt spid="104">
                                            <p:txEl>
                                              <p:pRg st="8" end="8"/>
                                            </p:txEl>
                                          </p:spTgt>
                                        </p:tgtEl>
                                        <p:attrNameLst>
                                          <p:attrName>style.visibility</p:attrName>
                                        </p:attrNameLst>
                                      </p:cBhvr>
                                      <p:to>
                                        <p:strVal val="visible"/>
                                      </p:to>
                                    </p:set>
                                    <p:animEffect transition="in" filter="fade">
                                      <p:cBhvr>
                                        <p:cTn id="49" dur="1000"/>
                                        <p:tgtEl>
                                          <p:spTgt spid="104">
                                            <p:txEl>
                                              <p:pRg st="8" end="8"/>
                                            </p:txEl>
                                          </p:spTgt>
                                        </p:tgtEl>
                                      </p:cBhvr>
                                    </p:animEffect>
                                    <p:anim calcmode="lin" valueType="num">
                                      <p:cBhvr>
                                        <p:cTn id="50" dur="1000" fill="hold"/>
                                        <p:tgtEl>
                                          <p:spTgt spid="104">
                                            <p:txEl>
                                              <p:pRg st="8" end="8"/>
                                            </p:txEl>
                                          </p:spTgt>
                                        </p:tgtEl>
                                        <p:attrNameLst>
                                          <p:attrName>ppt_x</p:attrName>
                                        </p:attrNameLst>
                                      </p:cBhvr>
                                      <p:tavLst>
                                        <p:tav tm="0">
                                          <p:val>
                                            <p:strVal val="#ppt_x"/>
                                          </p:val>
                                        </p:tav>
                                        <p:tav tm="100000">
                                          <p:val>
                                            <p:strVal val="#ppt_x"/>
                                          </p:val>
                                        </p:tav>
                                      </p:tavLst>
                                    </p:anim>
                                    <p:anim calcmode="lin" valueType="num">
                                      <p:cBhvr>
                                        <p:cTn id="51" dur="1000" fill="hold"/>
                                        <p:tgtEl>
                                          <p:spTgt spid="104">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2"/>
          <p:cNvSpPr txBox="1">
            <a:spLocks noGrp="1"/>
          </p:cNvSpPr>
          <p:nvPr>
            <p:ph type="title"/>
          </p:nvPr>
        </p:nvSpPr>
        <p:spPr>
          <a:xfrm>
            <a:off x="0" y="0"/>
            <a:ext cx="9144000" cy="1066800"/>
          </a:xfrm>
          <a:prstGeom prst="rect">
            <a:avLst/>
          </a:prstGeom>
          <a:ln/>
        </p:spPr>
        <p:style>
          <a:lnRef idx="0">
            <a:schemeClr val="accent3"/>
          </a:lnRef>
          <a:fillRef idx="3">
            <a:schemeClr val="accent3"/>
          </a:fillRef>
          <a:effectRef idx="3">
            <a:schemeClr val="accent3"/>
          </a:effectRef>
          <a:fontRef idx="minor">
            <a:schemeClr val="lt1"/>
          </a:fontRef>
        </p:style>
        <p:txBody>
          <a:bodyPr spcFirstLastPara="1" wrap="square" lIns="91425" tIns="45700" rIns="91425" bIns="45700" anchor="ctr" anchorCtr="0">
            <a:normAutofit/>
          </a:bodyPr>
          <a:lstStyle/>
          <a:p>
            <a:pPr lvl="0">
              <a:defRPr/>
            </a:pPr>
            <a:r>
              <a:rPr lang="en-US" b="1" dirty="0">
                <a:ln w="1905"/>
                <a:solidFill>
                  <a:schemeClr val="tx1"/>
                </a:solidFill>
                <a:effectLst>
                  <a:innerShdw blurRad="69850" dist="43180" dir="5400000">
                    <a:srgbClr val="000000">
                      <a:alpha val="65000"/>
                    </a:srgbClr>
                  </a:innerShdw>
                </a:effectLst>
              </a:rPr>
              <a:t>Direct Access</a:t>
            </a:r>
          </a:p>
        </p:txBody>
      </p:sp>
      <p:sp>
        <p:nvSpPr>
          <p:cNvPr id="104" name="Google Shape;104;p2"/>
          <p:cNvSpPr txBox="1">
            <a:spLocks noGrp="1"/>
          </p:cNvSpPr>
          <p:nvPr>
            <p:ph type="body" idx="1"/>
          </p:nvPr>
        </p:nvSpPr>
        <p:spPr>
          <a:xfrm>
            <a:off x="0" y="1047750"/>
            <a:ext cx="9144000" cy="5581650"/>
          </a:xfrm>
          <a:prstGeom prst="rect">
            <a:avLst/>
          </a:prstGeom>
          <a:noFill/>
          <a:ln>
            <a:noFill/>
          </a:ln>
        </p:spPr>
        <p:txBody>
          <a:bodyPr spcFirstLastPara="1" wrap="square" lIns="91425" tIns="45700" rIns="91425" bIns="45700" anchor="t" anchorCtr="0">
            <a:noAutofit/>
          </a:bodyPr>
          <a:lstStyle/>
          <a:p>
            <a:pPr algn="just"/>
            <a:r>
              <a:rPr lang="en-US" sz="2300" dirty="0" smtClean="0"/>
              <a:t>For direct access the file is viewed as a number sequence of blocks of records. A block is generally a fixed length quantity, defined by operating system. A block may be a byte 512 words, 1024 bytes or some other quantity, depending upon the system.</a:t>
            </a:r>
          </a:p>
          <a:p>
            <a:pPr algn="just"/>
            <a:r>
              <a:rPr lang="en-US" sz="2300" dirty="0" smtClean="0"/>
              <a:t>A direct access file allows arbitrary blocks to be read or written. Thus we may read block 14, then read block 50 and then write block 7. There are no restrictions on the order of reading or writing for a direct access file.</a:t>
            </a:r>
          </a:p>
          <a:p>
            <a:pPr marL="0" indent="0" algn="just">
              <a:buNone/>
            </a:pPr>
            <a:endParaRPr lang="en-US" sz="2300" dirty="0" smtClean="0"/>
          </a:p>
          <a:p>
            <a:pPr algn="just"/>
            <a:r>
              <a:rPr lang="en-US" sz="2300" dirty="0" smtClean="0"/>
              <a:t>Direct access files are of great use for immediate access to large amounts of information. When a query concerning a particular subject arrives, we compute which block contains the answer and then read the block directly to provide the desired information. Not all the operating system support both sequential and direct access of files. Some systems allow only sequential file access, others allow only direct access.</a:t>
            </a:r>
          </a:p>
          <a:p>
            <a:endParaRPr lang="en-US" sz="2000" dirty="0" smtClean="0"/>
          </a:p>
          <a:p>
            <a:endParaRPr lang="en-US" sz="2000" dirty="0"/>
          </a:p>
        </p:txBody>
      </p:sp>
      <p:sp>
        <p:nvSpPr>
          <p:cNvPr id="105" name="Google Shape;105;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pPr marL="0" lvl="0" indent="0" algn="r" rtl="0">
                <a:spcBef>
                  <a:spcPts val="0"/>
                </a:spcBef>
                <a:spcAft>
                  <a:spcPts val="0"/>
                </a:spcAft>
                <a:buNone/>
              </a:pPr>
              <a:t>14</a:t>
            </a:fld>
            <a:endParaRPr/>
          </a:p>
        </p:txBody>
      </p:sp>
    </p:spTree>
    <p:extLst>
      <p:ext uri="{BB962C8B-B14F-4D97-AF65-F5344CB8AC3E}">
        <p14:creationId xmlns:p14="http://schemas.microsoft.com/office/powerpoint/2010/main" xmlns="" val="18794689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04">
                                            <p:txEl>
                                              <p:pRg st="0" end="0"/>
                                            </p:txEl>
                                          </p:spTgt>
                                        </p:tgtEl>
                                        <p:attrNameLst>
                                          <p:attrName>style.visibility</p:attrName>
                                        </p:attrNameLst>
                                      </p:cBhvr>
                                      <p:to>
                                        <p:strVal val="visible"/>
                                      </p:to>
                                    </p:set>
                                    <p:animEffect transition="in" filter="fade">
                                      <p:cBhvr>
                                        <p:cTn id="7" dur="1000"/>
                                        <p:tgtEl>
                                          <p:spTgt spid="104">
                                            <p:txEl>
                                              <p:pRg st="0" end="0"/>
                                            </p:txEl>
                                          </p:spTgt>
                                        </p:tgtEl>
                                      </p:cBhvr>
                                    </p:animEffect>
                                    <p:anim calcmode="lin" valueType="num">
                                      <p:cBhvr>
                                        <p:cTn id="8" dur="1000" fill="hold"/>
                                        <p:tgtEl>
                                          <p:spTgt spid="10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04">
                                            <p:txEl>
                                              <p:pRg st="0" end="0"/>
                                            </p:txEl>
                                          </p:spTgt>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grpId="0" nodeType="afterEffect">
                                  <p:stCondLst>
                                    <p:cond delay="0"/>
                                  </p:stCondLst>
                                  <p:childTnLst>
                                    <p:set>
                                      <p:cBhvr>
                                        <p:cTn id="12" dur="1" fill="hold">
                                          <p:stCondLst>
                                            <p:cond delay="0"/>
                                          </p:stCondLst>
                                        </p:cTn>
                                        <p:tgtEl>
                                          <p:spTgt spid="104">
                                            <p:txEl>
                                              <p:pRg st="1" end="1"/>
                                            </p:txEl>
                                          </p:spTgt>
                                        </p:tgtEl>
                                        <p:attrNameLst>
                                          <p:attrName>style.visibility</p:attrName>
                                        </p:attrNameLst>
                                      </p:cBhvr>
                                      <p:to>
                                        <p:strVal val="visible"/>
                                      </p:to>
                                    </p:set>
                                    <p:animEffect transition="in" filter="fade">
                                      <p:cBhvr>
                                        <p:cTn id="13" dur="1000"/>
                                        <p:tgtEl>
                                          <p:spTgt spid="104">
                                            <p:txEl>
                                              <p:pRg st="1" end="1"/>
                                            </p:txEl>
                                          </p:spTgt>
                                        </p:tgtEl>
                                      </p:cBhvr>
                                    </p:animEffect>
                                    <p:anim calcmode="lin" valueType="num">
                                      <p:cBhvr>
                                        <p:cTn id="14" dur="1000" fill="hold"/>
                                        <p:tgtEl>
                                          <p:spTgt spid="104">
                                            <p:txEl>
                                              <p:pRg st="1" end="1"/>
                                            </p:txEl>
                                          </p:spTgt>
                                        </p:tgtEl>
                                        <p:attrNameLst>
                                          <p:attrName>ppt_x</p:attrName>
                                        </p:attrNameLst>
                                      </p:cBhvr>
                                      <p:tavLst>
                                        <p:tav tm="0">
                                          <p:val>
                                            <p:strVal val="#ppt_x"/>
                                          </p:val>
                                        </p:tav>
                                        <p:tav tm="100000">
                                          <p:val>
                                            <p:strVal val="#ppt_x"/>
                                          </p:val>
                                        </p:tav>
                                      </p:tavLst>
                                    </p:anim>
                                    <p:anim calcmode="lin" valueType="num">
                                      <p:cBhvr>
                                        <p:cTn id="15" dur="1000" fill="hold"/>
                                        <p:tgtEl>
                                          <p:spTgt spid="104">
                                            <p:txEl>
                                              <p:pRg st="1" end="1"/>
                                            </p:txEl>
                                          </p:spTgt>
                                        </p:tgtEl>
                                        <p:attrNameLst>
                                          <p:attrName>ppt_y</p:attrName>
                                        </p:attrNameLst>
                                      </p:cBhvr>
                                      <p:tavLst>
                                        <p:tav tm="0">
                                          <p:val>
                                            <p:strVal val="#ppt_y+.1"/>
                                          </p:val>
                                        </p:tav>
                                        <p:tav tm="100000">
                                          <p:val>
                                            <p:strVal val="#ppt_y"/>
                                          </p:val>
                                        </p:tav>
                                      </p:tavLst>
                                    </p:anim>
                                  </p:childTnLst>
                                </p:cTn>
                              </p:par>
                            </p:childTnLst>
                          </p:cTn>
                        </p:par>
                        <p:par>
                          <p:cTn id="16" fill="hold">
                            <p:stCondLst>
                              <p:cond delay="2000"/>
                            </p:stCondLst>
                            <p:childTnLst>
                              <p:par>
                                <p:cTn id="17" presetID="42" presetClass="entr" presetSubtype="0" fill="hold" grpId="0" nodeType="afterEffect">
                                  <p:stCondLst>
                                    <p:cond delay="0"/>
                                  </p:stCondLst>
                                  <p:childTnLst>
                                    <p:set>
                                      <p:cBhvr>
                                        <p:cTn id="18" dur="1" fill="hold">
                                          <p:stCondLst>
                                            <p:cond delay="0"/>
                                          </p:stCondLst>
                                        </p:cTn>
                                        <p:tgtEl>
                                          <p:spTgt spid="104">
                                            <p:txEl>
                                              <p:pRg st="3" end="3"/>
                                            </p:txEl>
                                          </p:spTgt>
                                        </p:tgtEl>
                                        <p:attrNameLst>
                                          <p:attrName>style.visibility</p:attrName>
                                        </p:attrNameLst>
                                      </p:cBhvr>
                                      <p:to>
                                        <p:strVal val="visible"/>
                                      </p:to>
                                    </p:set>
                                    <p:animEffect transition="in" filter="fade">
                                      <p:cBhvr>
                                        <p:cTn id="19" dur="1000"/>
                                        <p:tgtEl>
                                          <p:spTgt spid="104">
                                            <p:txEl>
                                              <p:pRg st="3" end="3"/>
                                            </p:txEl>
                                          </p:spTgt>
                                        </p:tgtEl>
                                      </p:cBhvr>
                                    </p:animEffect>
                                    <p:anim calcmode="lin" valueType="num">
                                      <p:cBhvr>
                                        <p:cTn id="20" dur="1000" fill="hold"/>
                                        <p:tgtEl>
                                          <p:spTgt spid="104">
                                            <p:txEl>
                                              <p:pRg st="3" end="3"/>
                                            </p:txEl>
                                          </p:spTgt>
                                        </p:tgtEl>
                                        <p:attrNameLst>
                                          <p:attrName>ppt_x</p:attrName>
                                        </p:attrNameLst>
                                      </p:cBhvr>
                                      <p:tavLst>
                                        <p:tav tm="0">
                                          <p:val>
                                            <p:strVal val="#ppt_x"/>
                                          </p:val>
                                        </p:tav>
                                        <p:tav tm="100000">
                                          <p:val>
                                            <p:strVal val="#ppt_x"/>
                                          </p:val>
                                        </p:tav>
                                      </p:tavLst>
                                    </p:anim>
                                    <p:anim calcmode="lin" valueType="num">
                                      <p:cBhvr>
                                        <p:cTn id="21" dur="1000" fill="hold"/>
                                        <p:tgtEl>
                                          <p:spTgt spid="104">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2"/>
          <p:cNvSpPr txBox="1">
            <a:spLocks noGrp="1"/>
          </p:cNvSpPr>
          <p:nvPr>
            <p:ph type="title"/>
          </p:nvPr>
        </p:nvSpPr>
        <p:spPr>
          <a:xfrm>
            <a:off x="0" y="0"/>
            <a:ext cx="9144000" cy="1066800"/>
          </a:xfrm>
          <a:prstGeom prst="rect">
            <a:avLst/>
          </a:prstGeom>
          <a:ln/>
        </p:spPr>
        <p:style>
          <a:lnRef idx="0">
            <a:schemeClr val="accent3"/>
          </a:lnRef>
          <a:fillRef idx="3">
            <a:schemeClr val="accent3"/>
          </a:fillRef>
          <a:effectRef idx="3">
            <a:schemeClr val="accent3"/>
          </a:effectRef>
          <a:fontRef idx="minor">
            <a:schemeClr val="lt1"/>
          </a:fontRef>
        </p:style>
        <p:txBody>
          <a:bodyPr spcFirstLastPara="1" wrap="square" lIns="91425" tIns="45700" rIns="91425" bIns="45700" anchor="ctr" anchorCtr="0">
            <a:normAutofit/>
          </a:bodyPr>
          <a:lstStyle/>
          <a:p>
            <a:pPr lvl="0">
              <a:defRPr/>
            </a:pPr>
            <a:r>
              <a:rPr lang="en-US" b="1" dirty="0">
                <a:ln w="1905"/>
                <a:solidFill>
                  <a:schemeClr val="tx1"/>
                </a:solidFill>
                <a:effectLst>
                  <a:innerShdw blurRad="69850" dist="43180" dir="5400000">
                    <a:srgbClr val="000000">
                      <a:alpha val="65000"/>
                    </a:srgbClr>
                  </a:innerShdw>
                </a:effectLst>
              </a:rPr>
              <a:t>Direct Access</a:t>
            </a:r>
          </a:p>
        </p:txBody>
      </p:sp>
      <p:sp>
        <p:nvSpPr>
          <p:cNvPr id="105" name="Google Shape;105;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pPr marL="0" lvl="0" indent="0" algn="r" rtl="0">
                <a:spcBef>
                  <a:spcPts val="0"/>
                </a:spcBef>
                <a:spcAft>
                  <a:spcPts val="0"/>
                </a:spcAft>
                <a:buNone/>
              </a:pPr>
              <a:t>15</a:t>
            </a:fld>
            <a:endParaRPr/>
          </a:p>
        </p:txBody>
      </p:sp>
      <p:pic>
        <p:nvPicPr>
          <p:cNvPr id="5" name="Picture 2"/>
          <p:cNvPicPr>
            <a:picLocks noChangeAspect="1" noChangeArrowheads="1"/>
          </p:cNvPicPr>
          <p:nvPr/>
        </p:nvPicPr>
        <p:blipFill>
          <a:blip r:embed="rId3">
            <a:extLst>
              <a:ext uri="{28A0092B-C50C-407E-A947-70E740481C1C}">
                <a14:useLocalDpi xmlns:a14="http://schemas.microsoft.com/office/drawing/2010/main" xmlns="" val="0"/>
              </a:ext>
            </a:extLst>
          </a:blip>
          <a:srcRect/>
          <a:stretch>
            <a:fillRect/>
          </a:stretch>
        </p:blipFill>
        <p:spPr bwMode="auto">
          <a:xfrm>
            <a:off x="152400" y="1371600"/>
            <a:ext cx="8209732" cy="158655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6" name="TextBox 5"/>
          <p:cNvSpPr txBox="1"/>
          <p:nvPr/>
        </p:nvSpPr>
        <p:spPr>
          <a:xfrm>
            <a:off x="-27419" y="2958157"/>
            <a:ext cx="8389551" cy="4031873"/>
          </a:xfrm>
          <a:prstGeom prst="rect">
            <a:avLst/>
          </a:prstGeom>
          <a:noFill/>
        </p:spPr>
        <p:txBody>
          <a:bodyPr wrap="square" rtlCol="0">
            <a:spAutoFit/>
          </a:bodyPr>
          <a:lstStyle/>
          <a:p>
            <a:r>
              <a:rPr lang="en-US" sz="2800" b="1" dirty="0"/>
              <a:t>Advantages of Direct File Access:</a:t>
            </a:r>
          </a:p>
          <a:p>
            <a:r>
              <a:rPr lang="en-US" sz="2800" dirty="0"/>
              <a:t>1. Using this method we can access any records randomly.</a:t>
            </a:r>
          </a:p>
          <a:p>
            <a:r>
              <a:rPr lang="en-US" sz="2800" dirty="0"/>
              <a:t>2. It gives fastest retrieval of records.</a:t>
            </a:r>
          </a:p>
          <a:p>
            <a:endParaRPr lang="en-US" sz="2800" b="1" dirty="0" smtClean="0"/>
          </a:p>
          <a:p>
            <a:r>
              <a:rPr lang="en-US" sz="2800" b="1" dirty="0" smtClean="0"/>
              <a:t>Disadvantages </a:t>
            </a:r>
            <a:r>
              <a:rPr lang="en-US" sz="2800" b="1" dirty="0"/>
              <a:t>of Direct File Access:</a:t>
            </a:r>
          </a:p>
          <a:p>
            <a:r>
              <a:rPr lang="en-US" sz="2800" dirty="0"/>
              <a:t>1. Wastage of storage space, if hashing algorithm is not chosen properly.</a:t>
            </a:r>
          </a:p>
          <a:p>
            <a:r>
              <a:rPr lang="en-US" sz="2800" dirty="0"/>
              <a:t>2. This method is complex and expensive</a:t>
            </a:r>
            <a:r>
              <a:rPr lang="en-US" sz="3200" dirty="0"/>
              <a:t>.</a:t>
            </a:r>
          </a:p>
        </p:txBody>
      </p:sp>
    </p:spTree>
    <p:extLst>
      <p:ext uri="{BB962C8B-B14F-4D97-AF65-F5344CB8AC3E}">
        <p14:creationId xmlns:p14="http://schemas.microsoft.com/office/powerpoint/2010/main" xmlns="" val="564456592"/>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2"/>
          <p:cNvSpPr txBox="1">
            <a:spLocks noGrp="1"/>
          </p:cNvSpPr>
          <p:nvPr>
            <p:ph type="title"/>
          </p:nvPr>
        </p:nvSpPr>
        <p:spPr>
          <a:xfrm>
            <a:off x="0" y="0"/>
            <a:ext cx="9144000" cy="1066800"/>
          </a:xfrm>
          <a:prstGeom prst="rect">
            <a:avLst/>
          </a:prstGeom>
          <a:ln/>
        </p:spPr>
        <p:style>
          <a:lnRef idx="0">
            <a:schemeClr val="accent3"/>
          </a:lnRef>
          <a:fillRef idx="3">
            <a:schemeClr val="accent3"/>
          </a:fillRef>
          <a:effectRef idx="3">
            <a:schemeClr val="accent3"/>
          </a:effectRef>
          <a:fontRef idx="minor">
            <a:schemeClr val="lt1"/>
          </a:fontRef>
        </p:style>
        <p:txBody>
          <a:bodyPr spcFirstLastPara="1" wrap="square" lIns="91425" tIns="45700" rIns="91425" bIns="45700" anchor="ctr" anchorCtr="0">
            <a:normAutofit/>
          </a:bodyPr>
          <a:lstStyle/>
          <a:p>
            <a:pPr lvl="0">
              <a:defRPr/>
            </a:pPr>
            <a:r>
              <a:rPr lang="en-US" b="1" dirty="0">
                <a:ln w="1905"/>
                <a:solidFill>
                  <a:schemeClr val="tx1"/>
                </a:solidFill>
                <a:effectLst>
                  <a:innerShdw blurRad="69850" dist="43180" dir="5400000">
                    <a:srgbClr val="000000">
                      <a:alpha val="65000"/>
                    </a:srgbClr>
                  </a:innerShdw>
                </a:effectLst>
              </a:rPr>
              <a:t>Hashing</a:t>
            </a:r>
          </a:p>
        </p:txBody>
      </p:sp>
      <p:sp>
        <p:nvSpPr>
          <p:cNvPr id="105" name="Google Shape;105;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pPr marL="0" lvl="0" indent="0" algn="r" rtl="0">
                <a:spcBef>
                  <a:spcPts val="0"/>
                </a:spcBef>
                <a:spcAft>
                  <a:spcPts val="0"/>
                </a:spcAft>
                <a:buNone/>
              </a:pPr>
              <a:t>16</a:t>
            </a:fld>
            <a:endParaRPr/>
          </a:p>
        </p:txBody>
      </p:sp>
      <p:sp>
        <p:nvSpPr>
          <p:cNvPr id="5" name="TextBox 4"/>
          <p:cNvSpPr txBox="1"/>
          <p:nvPr/>
        </p:nvSpPr>
        <p:spPr>
          <a:xfrm>
            <a:off x="20069" y="1115878"/>
            <a:ext cx="9123931" cy="3785652"/>
          </a:xfrm>
          <a:prstGeom prst="rect">
            <a:avLst/>
          </a:prstGeom>
          <a:noFill/>
        </p:spPr>
        <p:txBody>
          <a:bodyPr wrap="square" rtlCol="0">
            <a:spAutoFit/>
          </a:bodyPr>
          <a:lstStyle/>
          <a:p>
            <a:pPr marL="285750" indent="-285750" algn="just">
              <a:buFont typeface="Arial" pitchFamily="34" charset="0"/>
              <a:buChar char="•"/>
            </a:pPr>
            <a:r>
              <a:rPr lang="en-US" sz="2400" dirty="0"/>
              <a:t>The basic idea of Hash addressing is that each record is placed in the database at a location </a:t>
            </a:r>
            <a:r>
              <a:rPr lang="en-US" sz="2400" dirty="0" smtClean="0"/>
              <a:t>whose address </a:t>
            </a:r>
            <a:r>
              <a:rPr lang="en-US" sz="2400" dirty="0"/>
              <a:t>(SRA (Stored Record Address)) may be computed as some function (called as Hash </a:t>
            </a:r>
            <a:r>
              <a:rPr lang="en-US" sz="2400" dirty="0" smtClean="0"/>
              <a:t>function) of </a:t>
            </a:r>
            <a:r>
              <a:rPr lang="en-US" sz="2400" dirty="0"/>
              <a:t>a value usually the primary key value.</a:t>
            </a:r>
          </a:p>
          <a:p>
            <a:pPr marL="285750" indent="-285750" algn="just">
              <a:buFont typeface="Arial" pitchFamily="34" charset="0"/>
              <a:buChar char="•"/>
            </a:pPr>
            <a:r>
              <a:rPr lang="en-US" sz="2400" dirty="0" smtClean="0"/>
              <a:t>Thus</a:t>
            </a:r>
            <a:r>
              <a:rPr lang="en-US" sz="2400" dirty="0"/>
              <a:t>, to store the record initially the system computes SRA and instructs the access method to </a:t>
            </a:r>
            <a:r>
              <a:rPr lang="en-US" sz="2400" dirty="0" smtClean="0"/>
              <a:t>place the </a:t>
            </a:r>
            <a:r>
              <a:rPr lang="en-US" sz="2400" dirty="0"/>
              <a:t>occurrence at that position and to retrieve the occurrence the DBMS performs the </a:t>
            </a:r>
            <a:r>
              <a:rPr lang="en-US" sz="2400" dirty="0" smtClean="0"/>
              <a:t>same computation </a:t>
            </a:r>
            <a:r>
              <a:rPr lang="en-US" sz="2400" dirty="0"/>
              <a:t>as before and then requests the access method to fetch the occurrence at the </a:t>
            </a:r>
            <a:r>
              <a:rPr lang="en-US" sz="2400" dirty="0" smtClean="0"/>
              <a:t>computed position.</a:t>
            </a:r>
          </a:p>
          <a:p>
            <a:pPr marL="285750" indent="-285750" algn="just">
              <a:buFont typeface="Arial" pitchFamily="34" charset="0"/>
              <a:buChar char="•"/>
            </a:pPr>
            <a:r>
              <a:rPr lang="en-US" sz="2400" dirty="0"/>
              <a:t>We will take a simple hashing function is h (k) = k mod s.</a:t>
            </a:r>
          </a:p>
        </p:txBody>
      </p:sp>
      <p:pic>
        <p:nvPicPr>
          <p:cNvPr id="6" name="Picture 2"/>
          <p:cNvPicPr>
            <a:picLocks noChangeAspect="1" noChangeArrowheads="1"/>
          </p:cNvPicPr>
          <p:nvPr/>
        </p:nvPicPr>
        <p:blipFill>
          <a:blip r:embed="rId3">
            <a:extLst>
              <a:ext uri="{28A0092B-C50C-407E-A947-70E740481C1C}">
                <a14:useLocalDpi xmlns:a14="http://schemas.microsoft.com/office/drawing/2010/main" xmlns="" val="0"/>
              </a:ext>
            </a:extLst>
          </a:blip>
          <a:srcRect/>
          <a:stretch>
            <a:fillRect/>
          </a:stretch>
        </p:blipFill>
        <p:spPr bwMode="auto">
          <a:xfrm>
            <a:off x="1137138" y="4800600"/>
            <a:ext cx="6571604" cy="198031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2310180984"/>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2"/>
          <p:cNvSpPr txBox="1">
            <a:spLocks noGrp="1"/>
          </p:cNvSpPr>
          <p:nvPr>
            <p:ph type="title"/>
          </p:nvPr>
        </p:nvSpPr>
        <p:spPr>
          <a:xfrm>
            <a:off x="0" y="0"/>
            <a:ext cx="9144000" cy="1066800"/>
          </a:xfrm>
          <a:prstGeom prst="rect">
            <a:avLst/>
          </a:prstGeom>
          <a:ln/>
        </p:spPr>
        <p:style>
          <a:lnRef idx="0">
            <a:schemeClr val="accent3"/>
          </a:lnRef>
          <a:fillRef idx="3">
            <a:schemeClr val="accent3"/>
          </a:fillRef>
          <a:effectRef idx="3">
            <a:schemeClr val="accent3"/>
          </a:effectRef>
          <a:fontRef idx="minor">
            <a:schemeClr val="lt1"/>
          </a:fontRef>
        </p:style>
        <p:txBody>
          <a:bodyPr spcFirstLastPara="1" wrap="square" lIns="91425" tIns="45700" rIns="91425" bIns="45700" anchor="ctr" anchorCtr="0">
            <a:normAutofit/>
          </a:bodyPr>
          <a:lstStyle/>
          <a:p>
            <a:pPr lvl="0">
              <a:defRPr/>
            </a:pPr>
            <a:r>
              <a:rPr lang="en-US" b="1" dirty="0">
                <a:ln w="1905"/>
                <a:solidFill>
                  <a:schemeClr val="tx1"/>
                </a:solidFill>
                <a:effectLst>
                  <a:innerShdw blurRad="69850" dist="43180" dir="5400000">
                    <a:srgbClr val="000000">
                      <a:alpha val="65000"/>
                    </a:srgbClr>
                  </a:innerShdw>
                </a:effectLst>
              </a:rPr>
              <a:t>Hashing</a:t>
            </a:r>
          </a:p>
        </p:txBody>
      </p:sp>
      <p:sp>
        <p:nvSpPr>
          <p:cNvPr id="105" name="Google Shape;105;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pPr marL="0" lvl="0" indent="0" algn="r" rtl="0">
                <a:spcBef>
                  <a:spcPts val="0"/>
                </a:spcBef>
                <a:spcAft>
                  <a:spcPts val="0"/>
                </a:spcAft>
                <a:buNone/>
              </a:pPr>
              <a:t>17</a:t>
            </a:fld>
            <a:endParaRPr/>
          </a:p>
        </p:txBody>
      </p:sp>
      <p:pic>
        <p:nvPicPr>
          <p:cNvPr id="7" name="Picture 2"/>
          <p:cNvPicPr>
            <a:picLocks noChangeAspect="1" noChangeArrowheads="1"/>
          </p:cNvPicPr>
          <p:nvPr/>
        </p:nvPicPr>
        <p:blipFill>
          <a:blip r:embed="rId3">
            <a:extLst>
              <a:ext uri="{28A0092B-C50C-407E-A947-70E740481C1C}">
                <a14:useLocalDpi xmlns:a14="http://schemas.microsoft.com/office/drawing/2010/main" xmlns="" val="0"/>
              </a:ext>
            </a:extLst>
          </a:blip>
          <a:srcRect/>
          <a:stretch>
            <a:fillRect/>
          </a:stretch>
        </p:blipFill>
        <p:spPr bwMode="auto">
          <a:xfrm>
            <a:off x="76200" y="1139126"/>
            <a:ext cx="8915400" cy="404247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8" name="TextBox 7"/>
          <p:cNvSpPr txBox="1"/>
          <p:nvPr/>
        </p:nvSpPr>
        <p:spPr>
          <a:xfrm>
            <a:off x="76200" y="5181600"/>
            <a:ext cx="8763000" cy="1200329"/>
          </a:xfrm>
          <a:prstGeom prst="rect">
            <a:avLst/>
          </a:prstGeom>
          <a:noFill/>
        </p:spPr>
        <p:txBody>
          <a:bodyPr wrap="square" rtlCol="0">
            <a:spAutoFit/>
          </a:bodyPr>
          <a:lstStyle/>
          <a:p>
            <a:r>
              <a:rPr lang="pt-BR" sz="2400" dirty="0"/>
              <a:t>SRA = S No. Mod 13</a:t>
            </a:r>
          </a:p>
          <a:p>
            <a:r>
              <a:rPr lang="en-US" sz="2400" dirty="0" smtClean="0"/>
              <a:t>The </a:t>
            </a:r>
            <a:r>
              <a:rPr lang="en-US" sz="2400" dirty="0"/>
              <a:t>SRA = Stored record address is the remainder of the above operation example for </a:t>
            </a:r>
            <a:r>
              <a:rPr lang="en-US" sz="2400" dirty="0" err="1"/>
              <a:t>SNo</a:t>
            </a:r>
            <a:r>
              <a:rPr lang="en-US" sz="2400" dirty="0"/>
              <a:t> </a:t>
            </a:r>
            <a:r>
              <a:rPr lang="en-US" sz="2400" dirty="0" smtClean="0"/>
              <a:t>100, SRA </a:t>
            </a:r>
            <a:r>
              <a:rPr lang="en-US" sz="2400" dirty="0"/>
              <a:t>= 9, next is 5, 1, 10.</a:t>
            </a:r>
          </a:p>
        </p:txBody>
      </p:sp>
    </p:spTree>
    <p:extLst>
      <p:ext uri="{BB962C8B-B14F-4D97-AF65-F5344CB8AC3E}">
        <p14:creationId xmlns:p14="http://schemas.microsoft.com/office/powerpoint/2010/main" xmlns="" val="1693762544"/>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2"/>
          <p:cNvSpPr txBox="1">
            <a:spLocks noGrp="1"/>
          </p:cNvSpPr>
          <p:nvPr>
            <p:ph type="title"/>
          </p:nvPr>
        </p:nvSpPr>
        <p:spPr>
          <a:xfrm>
            <a:off x="0" y="0"/>
            <a:ext cx="9144000" cy="1066800"/>
          </a:xfrm>
          <a:prstGeom prst="rect">
            <a:avLst/>
          </a:prstGeom>
          <a:ln/>
        </p:spPr>
        <p:style>
          <a:lnRef idx="0">
            <a:schemeClr val="accent3"/>
          </a:lnRef>
          <a:fillRef idx="3">
            <a:schemeClr val="accent3"/>
          </a:fillRef>
          <a:effectRef idx="3">
            <a:schemeClr val="accent3"/>
          </a:effectRef>
          <a:fontRef idx="minor">
            <a:schemeClr val="lt1"/>
          </a:fontRef>
        </p:style>
        <p:txBody>
          <a:bodyPr spcFirstLastPara="1" wrap="square" lIns="91425" tIns="45700" rIns="91425" bIns="45700" anchor="ctr" anchorCtr="0">
            <a:normAutofit/>
          </a:bodyPr>
          <a:lstStyle/>
          <a:p>
            <a:pPr lvl="0">
              <a:defRPr/>
            </a:pPr>
            <a:r>
              <a:rPr lang="en-US" b="1" dirty="0">
                <a:ln w="1905"/>
                <a:solidFill>
                  <a:srgbClr val="7CCA62">
                    <a:lumMod val="50000"/>
                  </a:srgbClr>
                </a:solidFill>
                <a:effectLst>
                  <a:innerShdw blurRad="69850" dist="43180" dir="5400000">
                    <a:srgbClr val="000000">
                      <a:alpha val="65000"/>
                    </a:srgbClr>
                  </a:innerShdw>
                </a:effectLst>
              </a:rPr>
              <a:t>Swapping</a:t>
            </a:r>
          </a:p>
        </p:txBody>
      </p:sp>
      <p:sp>
        <p:nvSpPr>
          <p:cNvPr id="104" name="Google Shape;104;p2"/>
          <p:cNvSpPr txBox="1">
            <a:spLocks noGrp="1"/>
          </p:cNvSpPr>
          <p:nvPr>
            <p:ph type="body" idx="1"/>
          </p:nvPr>
        </p:nvSpPr>
        <p:spPr>
          <a:xfrm>
            <a:off x="0" y="1047750"/>
            <a:ext cx="9144000" cy="5581650"/>
          </a:xfrm>
          <a:prstGeom prst="rect">
            <a:avLst/>
          </a:prstGeom>
          <a:noFill/>
          <a:ln>
            <a:noFill/>
          </a:ln>
        </p:spPr>
        <p:txBody>
          <a:bodyPr spcFirstLastPara="1" wrap="square" lIns="91425" tIns="45700" rIns="91425" bIns="45700" anchor="t" anchorCtr="0">
            <a:noAutofit/>
          </a:bodyPr>
          <a:lstStyle/>
          <a:p>
            <a:pPr marL="285750" indent="-285750" algn="just"/>
            <a:r>
              <a:rPr lang="en-US" sz="2400" dirty="0" smtClean="0"/>
              <a:t>Swapping is a mechanism in which a process can be swapped temporarily out of main memory (or move) to secondary storage (disk) and make that memory available to other processes. At some later time, the system swaps back the process from the secondary storage to main memory.</a:t>
            </a:r>
          </a:p>
          <a:p>
            <a:pPr marL="285750" indent="-285750" algn="just"/>
            <a:endParaRPr lang="en-US" sz="2400" dirty="0" smtClean="0"/>
          </a:p>
          <a:p>
            <a:pPr marL="285750" indent="-285750" algn="just"/>
            <a:r>
              <a:rPr lang="en-US" sz="2400" dirty="0" smtClean="0"/>
              <a:t>The Resident Monitor memory management scheme may seem of little use since it appears to be inherently single user. These systems used a resident monitor with the remainder of memory available to the currently executing user.</a:t>
            </a:r>
          </a:p>
          <a:p>
            <a:pPr marL="285750" indent="-285750" algn="just"/>
            <a:endParaRPr lang="en-US" sz="2400" dirty="0" smtClean="0"/>
          </a:p>
          <a:p>
            <a:pPr marL="285750" indent="-285750" algn="just"/>
            <a:r>
              <a:rPr lang="en-US" sz="2400" dirty="0" smtClean="0"/>
              <a:t>When they switched to the next user, the current contents of user memory were written out to a backing store (a disk or drum) and the memory of the next user was read in. This scheme is called Swapping.</a:t>
            </a:r>
            <a:endParaRPr lang="en-US" sz="2400" dirty="0"/>
          </a:p>
        </p:txBody>
      </p:sp>
      <p:sp>
        <p:nvSpPr>
          <p:cNvPr id="105" name="Google Shape;105;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pPr marL="0" lvl="0" indent="0" algn="r" rtl="0">
                <a:spcBef>
                  <a:spcPts val="0"/>
                </a:spcBef>
                <a:spcAft>
                  <a:spcPts val="0"/>
                </a:spcAft>
                <a:buNone/>
              </a:pPr>
              <a:t>18</a:t>
            </a:fld>
            <a:endParaRPr dirty="0"/>
          </a:p>
        </p:txBody>
      </p:sp>
    </p:spTree>
    <p:extLst>
      <p:ext uri="{BB962C8B-B14F-4D97-AF65-F5344CB8AC3E}">
        <p14:creationId xmlns:p14="http://schemas.microsoft.com/office/powerpoint/2010/main" xmlns="" val="3213555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04">
                                            <p:txEl>
                                              <p:pRg st="0" end="0"/>
                                            </p:txEl>
                                          </p:spTgt>
                                        </p:tgtEl>
                                        <p:attrNameLst>
                                          <p:attrName>style.visibility</p:attrName>
                                        </p:attrNameLst>
                                      </p:cBhvr>
                                      <p:to>
                                        <p:strVal val="visible"/>
                                      </p:to>
                                    </p:set>
                                    <p:animEffect transition="in" filter="fade">
                                      <p:cBhvr>
                                        <p:cTn id="7" dur="1000"/>
                                        <p:tgtEl>
                                          <p:spTgt spid="104">
                                            <p:txEl>
                                              <p:pRg st="0" end="0"/>
                                            </p:txEl>
                                          </p:spTgt>
                                        </p:tgtEl>
                                      </p:cBhvr>
                                    </p:animEffect>
                                    <p:anim calcmode="lin" valueType="num">
                                      <p:cBhvr>
                                        <p:cTn id="8" dur="1000" fill="hold"/>
                                        <p:tgtEl>
                                          <p:spTgt spid="10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04">
                                            <p:txEl>
                                              <p:pRg st="0" end="0"/>
                                            </p:txEl>
                                          </p:spTgt>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grpId="0" nodeType="afterEffect">
                                  <p:stCondLst>
                                    <p:cond delay="0"/>
                                  </p:stCondLst>
                                  <p:childTnLst>
                                    <p:set>
                                      <p:cBhvr>
                                        <p:cTn id="12" dur="1" fill="hold">
                                          <p:stCondLst>
                                            <p:cond delay="0"/>
                                          </p:stCondLst>
                                        </p:cTn>
                                        <p:tgtEl>
                                          <p:spTgt spid="104">
                                            <p:txEl>
                                              <p:pRg st="2" end="2"/>
                                            </p:txEl>
                                          </p:spTgt>
                                        </p:tgtEl>
                                        <p:attrNameLst>
                                          <p:attrName>style.visibility</p:attrName>
                                        </p:attrNameLst>
                                      </p:cBhvr>
                                      <p:to>
                                        <p:strVal val="visible"/>
                                      </p:to>
                                    </p:set>
                                    <p:animEffect transition="in" filter="fade">
                                      <p:cBhvr>
                                        <p:cTn id="13" dur="1000"/>
                                        <p:tgtEl>
                                          <p:spTgt spid="104">
                                            <p:txEl>
                                              <p:pRg st="2" end="2"/>
                                            </p:txEl>
                                          </p:spTgt>
                                        </p:tgtEl>
                                      </p:cBhvr>
                                    </p:animEffect>
                                    <p:anim calcmode="lin" valueType="num">
                                      <p:cBhvr>
                                        <p:cTn id="14" dur="1000" fill="hold"/>
                                        <p:tgtEl>
                                          <p:spTgt spid="104">
                                            <p:txEl>
                                              <p:pRg st="2" end="2"/>
                                            </p:txEl>
                                          </p:spTgt>
                                        </p:tgtEl>
                                        <p:attrNameLst>
                                          <p:attrName>ppt_x</p:attrName>
                                        </p:attrNameLst>
                                      </p:cBhvr>
                                      <p:tavLst>
                                        <p:tav tm="0">
                                          <p:val>
                                            <p:strVal val="#ppt_x"/>
                                          </p:val>
                                        </p:tav>
                                        <p:tav tm="100000">
                                          <p:val>
                                            <p:strVal val="#ppt_x"/>
                                          </p:val>
                                        </p:tav>
                                      </p:tavLst>
                                    </p:anim>
                                    <p:anim calcmode="lin" valueType="num">
                                      <p:cBhvr>
                                        <p:cTn id="15" dur="1000" fill="hold"/>
                                        <p:tgtEl>
                                          <p:spTgt spid="104">
                                            <p:txEl>
                                              <p:pRg st="2" end="2"/>
                                            </p:txEl>
                                          </p:spTgt>
                                        </p:tgtEl>
                                        <p:attrNameLst>
                                          <p:attrName>ppt_y</p:attrName>
                                        </p:attrNameLst>
                                      </p:cBhvr>
                                      <p:tavLst>
                                        <p:tav tm="0">
                                          <p:val>
                                            <p:strVal val="#ppt_y+.1"/>
                                          </p:val>
                                        </p:tav>
                                        <p:tav tm="100000">
                                          <p:val>
                                            <p:strVal val="#ppt_y"/>
                                          </p:val>
                                        </p:tav>
                                      </p:tavLst>
                                    </p:anim>
                                  </p:childTnLst>
                                </p:cTn>
                              </p:par>
                            </p:childTnLst>
                          </p:cTn>
                        </p:par>
                        <p:par>
                          <p:cTn id="16" fill="hold">
                            <p:stCondLst>
                              <p:cond delay="2000"/>
                            </p:stCondLst>
                            <p:childTnLst>
                              <p:par>
                                <p:cTn id="17" presetID="42" presetClass="entr" presetSubtype="0" fill="hold" grpId="0" nodeType="afterEffect">
                                  <p:stCondLst>
                                    <p:cond delay="0"/>
                                  </p:stCondLst>
                                  <p:childTnLst>
                                    <p:set>
                                      <p:cBhvr>
                                        <p:cTn id="18" dur="1" fill="hold">
                                          <p:stCondLst>
                                            <p:cond delay="0"/>
                                          </p:stCondLst>
                                        </p:cTn>
                                        <p:tgtEl>
                                          <p:spTgt spid="104">
                                            <p:txEl>
                                              <p:pRg st="4" end="4"/>
                                            </p:txEl>
                                          </p:spTgt>
                                        </p:tgtEl>
                                        <p:attrNameLst>
                                          <p:attrName>style.visibility</p:attrName>
                                        </p:attrNameLst>
                                      </p:cBhvr>
                                      <p:to>
                                        <p:strVal val="visible"/>
                                      </p:to>
                                    </p:set>
                                    <p:animEffect transition="in" filter="fade">
                                      <p:cBhvr>
                                        <p:cTn id="19" dur="1000"/>
                                        <p:tgtEl>
                                          <p:spTgt spid="104">
                                            <p:txEl>
                                              <p:pRg st="4" end="4"/>
                                            </p:txEl>
                                          </p:spTgt>
                                        </p:tgtEl>
                                      </p:cBhvr>
                                    </p:animEffect>
                                    <p:anim calcmode="lin" valueType="num">
                                      <p:cBhvr>
                                        <p:cTn id="20" dur="1000" fill="hold"/>
                                        <p:tgtEl>
                                          <p:spTgt spid="104">
                                            <p:txEl>
                                              <p:pRg st="4" end="4"/>
                                            </p:txEl>
                                          </p:spTgt>
                                        </p:tgtEl>
                                        <p:attrNameLst>
                                          <p:attrName>ppt_x</p:attrName>
                                        </p:attrNameLst>
                                      </p:cBhvr>
                                      <p:tavLst>
                                        <p:tav tm="0">
                                          <p:val>
                                            <p:strVal val="#ppt_x"/>
                                          </p:val>
                                        </p:tav>
                                        <p:tav tm="100000">
                                          <p:val>
                                            <p:strVal val="#ppt_x"/>
                                          </p:val>
                                        </p:tav>
                                      </p:tavLst>
                                    </p:anim>
                                    <p:anim calcmode="lin" valueType="num">
                                      <p:cBhvr>
                                        <p:cTn id="21" dur="1000" fill="hold"/>
                                        <p:tgtEl>
                                          <p:spTgt spid="104">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2"/>
          <p:cNvSpPr txBox="1">
            <a:spLocks noGrp="1"/>
          </p:cNvSpPr>
          <p:nvPr>
            <p:ph type="title"/>
          </p:nvPr>
        </p:nvSpPr>
        <p:spPr>
          <a:xfrm>
            <a:off x="0" y="0"/>
            <a:ext cx="9144000" cy="1066800"/>
          </a:xfrm>
          <a:prstGeom prst="rect">
            <a:avLst/>
          </a:prstGeom>
          <a:ln/>
        </p:spPr>
        <p:style>
          <a:lnRef idx="0">
            <a:schemeClr val="accent3"/>
          </a:lnRef>
          <a:fillRef idx="3">
            <a:schemeClr val="accent3"/>
          </a:fillRef>
          <a:effectRef idx="3">
            <a:schemeClr val="accent3"/>
          </a:effectRef>
          <a:fontRef idx="minor">
            <a:schemeClr val="lt1"/>
          </a:fontRef>
        </p:style>
        <p:txBody>
          <a:bodyPr spcFirstLastPara="1" wrap="square" lIns="91425" tIns="45700" rIns="91425" bIns="45700" anchor="ctr" anchorCtr="0">
            <a:normAutofit/>
          </a:bodyPr>
          <a:lstStyle/>
          <a:p>
            <a:pPr lvl="0">
              <a:defRPr/>
            </a:pPr>
            <a:r>
              <a:rPr lang="en-US" b="1" dirty="0">
                <a:ln w="1905"/>
                <a:solidFill>
                  <a:schemeClr val="tx1"/>
                </a:solidFill>
                <a:effectLst>
                  <a:innerShdw blurRad="69850" dist="43180" dir="5400000">
                    <a:srgbClr val="000000">
                      <a:alpha val="65000"/>
                    </a:srgbClr>
                  </a:innerShdw>
                </a:effectLst>
              </a:rPr>
              <a:t>Swapping</a:t>
            </a:r>
          </a:p>
        </p:txBody>
      </p:sp>
      <p:sp>
        <p:nvSpPr>
          <p:cNvPr id="105" name="Google Shape;105;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pPr marL="0" lvl="0" indent="0" algn="r" rtl="0">
                <a:spcBef>
                  <a:spcPts val="0"/>
                </a:spcBef>
                <a:spcAft>
                  <a:spcPts val="0"/>
                </a:spcAft>
                <a:buNone/>
              </a:pPr>
              <a:t>19</a:t>
            </a:fld>
            <a:endParaRPr dirty="0"/>
          </a:p>
        </p:txBody>
      </p:sp>
      <p:pic>
        <p:nvPicPr>
          <p:cNvPr id="5" name="Picture 2"/>
          <p:cNvPicPr>
            <a:picLocks noChangeAspect="1" noChangeArrowheads="1"/>
          </p:cNvPicPr>
          <p:nvPr/>
        </p:nvPicPr>
        <p:blipFill>
          <a:blip r:embed="rId3">
            <a:extLst>
              <a:ext uri="{28A0092B-C50C-407E-A947-70E740481C1C}">
                <a14:useLocalDpi xmlns:a14="http://schemas.microsoft.com/office/drawing/2010/main" xmlns="" val="0"/>
              </a:ext>
            </a:extLst>
          </a:blip>
          <a:srcRect/>
          <a:stretch>
            <a:fillRect/>
          </a:stretch>
        </p:blipFill>
        <p:spPr bwMode="auto">
          <a:xfrm>
            <a:off x="76200" y="1262063"/>
            <a:ext cx="8763000" cy="536733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284782772"/>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2"/>
          <p:cNvSpPr txBox="1">
            <a:spLocks noGrp="1"/>
          </p:cNvSpPr>
          <p:nvPr>
            <p:ph type="title"/>
          </p:nvPr>
        </p:nvSpPr>
        <p:spPr>
          <a:xfrm>
            <a:off x="0" y="0"/>
            <a:ext cx="9144000" cy="1066800"/>
          </a:xfrm>
          <a:prstGeom prst="rect">
            <a:avLst/>
          </a:prstGeom>
          <a:ln/>
        </p:spPr>
        <p:style>
          <a:lnRef idx="0">
            <a:schemeClr val="accent3"/>
          </a:lnRef>
          <a:fillRef idx="3">
            <a:schemeClr val="accent3"/>
          </a:fillRef>
          <a:effectRef idx="3">
            <a:schemeClr val="accent3"/>
          </a:effectRef>
          <a:fontRef idx="minor">
            <a:schemeClr val="lt1"/>
          </a:fontRef>
        </p:style>
        <p:txBody>
          <a:bodyPr spcFirstLastPara="1" wrap="square" lIns="91425" tIns="45700" rIns="91425" bIns="45700" anchor="ctr" anchorCtr="0">
            <a:normAutofit/>
          </a:bodyPr>
          <a:lstStyle/>
          <a:p>
            <a:pPr lvl="0">
              <a:defRPr/>
            </a:pPr>
            <a:r>
              <a:rPr lang="en-US" b="1" dirty="0">
                <a:ln w="1905"/>
                <a:solidFill>
                  <a:schemeClr val="tx1"/>
                </a:solidFill>
                <a:effectLst>
                  <a:innerShdw blurRad="69850" dist="43180" dir="5400000">
                    <a:srgbClr val="000000">
                      <a:alpha val="65000"/>
                    </a:srgbClr>
                  </a:innerShdw>
                </a:effectLst>
              </a:rPr>
              <a:t>Allocation methods</a:t>
            </a:r>
          </a:p>
        </p:txBody>
      </p:sp>
      <p:sp>
        <p:nvSpPr>
          <p:cNvPr id="104" name="Google Shape;104;p2"/>
          <p:cNvSpPr txBox="1">
            <a:spLocks noGrp="1"/>
          </p:cNvSpPr>
          <p:nvPr>
            <p:ph type="body" idx="1"/>
          </p:nvPr>
        </p:nvSpPr>
        <p:spPr>
          <a:xfrm>
            <a:off x="0" y="1047750"/>
            <a:ext cx="9144000" cy="5581650"/>
          </a:xfrm>
          <a:prstGeom prst="rect">
            <a:avLst/>
          </a:prstGeom>
          <a:noFill/>
          <a:ln>
            <a:noFill/>
          </a:ln>
        </p:spPr>
        <p:txBody>
          <a:bodyPr spcFirstLastPara="1" wrap="square" lIns="91425" tIns="45700" rIns="91425" bIns="45700" anchor="t" anchorCtr="0">
            <a:noAutofit/>
          </a:bodyPr>
          <a:lstStyle/>
          <a:p>
            <a:pPr marL="285750" indent="-285750" algn="just"/>
            <a:r>
              <a:rPr lang="en-US" sz="2600" dirty="0" smtClean="0"/>
              <a:t>From the user’s point of view, a file is an abstract data type. It can be created, opened, written, read, closed and deleted without any real concern for its implementation. The implementation of a file is a problem for the operating system.</a:t>
            </a:r>
          </a:p>
          <a:p>
            <a:pPr marL="285750" indent="-285750" algn="just"/>
            <a:r>
              <a:rPr lang="en-US" sz="2600" dirty="0" smtClean="0"/>
              <a:t>The main problem is how to allocate space to these files so that disk space is effectively utilized and files can be quickly accessed. </a:t>
            </a:r>
          </a:p>
          <a:p>
            <a:pPr marL="285750" indent="-285750" algn="just"/>
            <a:r>
              <a:rPr lang="en-US" sz="2600" dirty="0" smtClean="0"/>
              <a:t>Three major methods of allocating disk space are in wide use:</a:t>
            </a:r>
          </a:p>
          <a:p>
            <a:pPr marL="685775" lvl="1" indent="-342900" algn="just">
              <a:buFont typeface="+mj-lt"/>
              <a:buAutoNum type="arabicPeriod"/>
            </a:pPr>
            <a:r>
              <a:rPr lang="en-US" sz="2600" dirty="0" smtClean="0"/>
              <a:t>Contiguous</a:t>
            </a:r>
          </a:p>
          <a:p>
            <a:pPr marL="685775" lvl="1" indent="-342900" algn="just">
              <a:buFont typeface="+mj-lt"/>
              <a:buAutoNum type="arabicPeriod"/>
            </a:pPr>
            <a:r>
              <a:rPr lang="en-US" sz="2600" dirty="0" smtClean="0"/>
              <a:t>Linked </a:t>
            </a:r>
          </a:p>
          <a:p>
            <a:pPr marL="685775" lvl="1" indent="-342900" algn="just">
              <a:buFont typeface="+mj-lt"/>
              <a:buAutoNum type="arabicPeriod"/>
            </a:pPr>
            <a:r>
              <a:rPr lang="en-US" sz="2600" dirty="0" smtClean="0"/>
              <a:t>Indexed</a:t>
            </a:r>
          </a:p>
          <a:p>
            <a:pPr marL="285750" indent="-285750" algn="just"/>
            <a:r>
              <a:rPr lang="en-US" sz="2600" dirty="0" smtClean="0"/>
              <a:t>Each method has its advantages and disadvantages.</a:t>
            </a:r>
          </a:p>
          <a:p>
            <a:pPr marL="0" indent="0">
              <a:buNone/>
            </a:pPr>
            <a:endParaRPr lang="en-US" sz="2600" dirty="0"/>
          </a:p>
        </p:txBody>
      </p:sp>
      <p:sp>
        <p:nvSpPr>
          <p:cNvPr id="105" name="Google Shape;105;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pPr marL="0" lvl="0" indent="0" algn="r" rtl="0">
                <a:spcBef>
                  <a:spcPts val="0"/>
                </a:spcBef>
                <a:spcAft>
                  <a:spcPts val="0"/>
                </a:spcAft>
                <a:buNone/>
              </a:pPr>
              <a:t>20</a:t>
            </a:fld>
            <a:endParaRPr dirty="0"/>
          </a:p>
        </p:txBody>
      </p:sp>
    </p:spTree>
    <p:extLst>
      <p:ext uri="{BB962C8B-B14F-4D97-AF65-F5344CB8AC3E}">
        <p14:creationId xmlns:p14="http://schemas.microsoft.com/office/powerpoint/2010/main" xmlns="" val="29286801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04">
                                            <p:txEl>
                                              <p:pRg st="0" end="0"/>
                                            </p:txEl>
                                          </p:spTgt>
                                        </p:tgtEl>
                                        <p:attrNameLst>
                                          <p:attrName>style.visibility</p:attrName>
                                        </p:attrNameLst>
                                      </p:cBhvr>
                                      <p:to>
                                        <p:strVal val="visible"/>
                                      </p:to>
                                    </p:set>
                                    <p:animEffect transition="in" filter="fade">
                                      <p:cBhvr>
                                        <p:cTn id="7" dur="1000"/>
                                        <p:tgtEl>
                                          <p:spTgt spid="104">
                                            <p:txEl>
                                              <p:pRg st="0" end="0"/>
                                            </p:txEl>
                                          </p:spTgt>
                                        </p:tgtEl>
                                      </p:cBhvr>
                                    </p:animEffect>
                                    <p:anim calcmode="lin" valueType="num">
                                      <p:cBhvr>
                                        <p:cTn id="8" dur="1000" fill="hold"/>
                                        <p:tgtEl>
                                          <p:spTgt spid="10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04">
                                            <p:txEl>
                                              <p:pRg st="0" end="0"/>
                                            </p:txEl>
                                          </p:spTgt>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grpId="0" nodeType="afterEffect">
                                  <p:stCondLst>
                                    <p:cond delay="0"/>
                                  </p:stCondLst>
                                  <p:childTnLst>
                                    <p:set>
                                      <p:cBhvr>
                                        <p:cTn id="12" dur="1" fill="hold">
                                          <p:stCondLst>
                                            <p:cond delay="0"/>
                                          </p:stCondLst>
                                        </p:cTn>
                                        <p:tgtEl>
                                          <p:spTgt spid="104">
                                            <p:txEl>
                                              <p:pRg st="1" end="1"/>
                                            </p:txEl>
                                          </p:spTgt>
                                        </p:tgtEl>
                                        <p:attrNameLst>
                                          <p:attrName>style.visibility</p:attrName>
                                        </p:attrNameLst>
                                      </p:cBhvr>
                                      <p:to>
                                        <p:strVal val="visible"/>
                                      </p:to>
                                    </p:set>
                                    <p:animEffect transition="in" filter="fade">
                                      <p:cBhvr>
                                        <p:cTn id="13" dur="1000"/>
                                        <p:tgtEl>
                                          <p:spTgt spid="104">
                                            <p:txEl>
                                              <p:pRg st="1" end="1"/>
                                            </p:txEl>
                                          </p:spTgt>
                                        </p:tgtEl>
                                      </p:cBhvr>
                                    </p:animEffect>
                                    <p:anim calcmode="lin" valueType="num">
                                      <p:cBhvr>
                                        <p:cTn id="14" dur="1000" fill="hold"/>
                                        <p:tgtEl>
                                          <p:spTgt spid="104">
                                            <p:txEl>
                                              <p:pRg st="1" end="1"/>
                                            </p:txEl>
                                          </p:spTgt>
                                        </p:tgtEl>
                                        <p:attrNameLst>
                                          <p:attrName>ppt_x</p:attrName>
                                        </p:attrNameLst>
                                      </p:cBhvr>
                                      <p:tavLst>
                                        <p:tav tm="0">
                                          <p:val>
                                            <p:strVal val="#ppt_x"/>
                                          </p:val>
                                        </p:tav>
                                        <p:tav tm="100000">
                                          <p:val>
                                            <p:strVal val="#ppt_x"/>
                                          </p:val>
                                        </p:tav>
                                      </p:tavLst>
                                    </p:anim>
                                    <p:anim calcmode="lin" valueType="num">
                                      <p:cBhvr>
                                        <p:cTn id="15" dur="1000" fill="hold"/>
                                        <p:tgtEl>
                                          <p:spTgt spid="104">
                                            <p:txEl>
                                              <p:pRg st="1" end="1"/>
                                            </p:txEl>
                                          </p:spTgt>
                                        </p:tgtEl>
                                        <p:attrNameLst>
                                          <p:attrName>ppt_y</p:attrName>
                                        </p:attrNameLst>
                                      </p:cBhvr>
                                      <p:tavLst>
                                        <p:tav tm="0">
                                          <p:val>
                                            <p:strVal val="#ppt_y+.1"/>
                                          </p:val>
                                        </p:tav>
                                        <p:tav tm="100000">
                                          <p:val>
                                            <p:strVal val="#ppt_y"/>
                                          </p:val>
                                        </p:tav>
                                      </p:tavLst>
                                    </p:anim>
                                  </p:childTnLst>
                                </p:cTn>
                              </p:par>
                            </p:childTnLst>
                          </p:cTn>
                        </p:par>
                        <p:par>
                          <p:cTn id="16" fill="hold">
                            <p:stCondLst>
                              <p:cond delay="2000"/>
                            </p:stCondLst>
                            <p:childTnLst>
                              <p:par>
                                <p:cTn id="17" presetID="42" presetClass="entr" presetSubtype="0" fill="hold" grpId="0" nodeType="afterEffect">
                                  <p:stCondLst>
                                    <p:cond delay="0"/>
                                  </p:stCondLst>
                                  <p:childTnLst>
                                    <p:set>
                                      <p:cBhvr>
                                        <p:cTn id="18" dur="1" fill="hold">
                                          <p:stCondLst>
                                            <p:cond delay="0"/>
                                          </p:stCondLst>
                                        </p:cTn>
                                        <p:tgtEl>
                                          <p:spTgt spid="104">
                                            <p:txEl>
                                              <p:pRg st="2" end="2"/>
                                            </p:txEl>
                                          </p:spTgt>
                                        </p:tgtEl>
                                        <p:attrNameLst>
                                          <p:attrName>style.visibility</p:attrName>
                                        </p:attrNameLst>
                                      </p:cBhvr>
                                      <p:to>
                                        <p:strVal val="visible"/>
                                      </p:to>
                                    </p:set>
                                    <p:animEffect transition="in" filter="fade">
                                      <p:cBhvr>
                                        <p:cTn id="19" dur="1000"/>
                                        <p:tgtEl>
                                          <p:spTgt spid="104">
                                            <p:txEl>
                                              <p:pRg st="2" end="2"/>
                                            </p:txEl>
                                          </p:spTgt>
                                        </p:tgtEl>
                                      </p:cBhvr>
                                    </p:animEffect>
                                    <p:anim calcmode="lin" valueType="num">
                                      <p:cBhvr>
                                        <p:cTn id="20" dur="1000" fill="hold"/>
                                        <p:tgtEl>
                                          <p:spTgt spid="104">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104">
                                            <p:txEl>
                                              <p:pRg st="2" end="2"/>
                                            </p:txEl>
                                          </p:spTgt>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104">
                                            <p:txEl>
                                              <p:pRg st="3" end="3"/>
                                            </p:txEl>
                                          </p:spTgt>
                                        </p:tgtEl>
                                        <p:attrNameLst>
                                          <p:attrName>style.visibility</p:attrName>
                                        </p:attrNameLst>
                                      </p:cBhvr>
                                      <p:to>
                                        <p:strVal val="visible"/>
                                      </p:to>
                                    </p:set>
                                    <p:animEffect transition="in" filter="fade">
                                      <p:cBhvr>
                                        <p:cTn id="24" dur="1000"/>
                                        <p:tgtEl>
                                          <p:spTgt spid="104">
                                            <p:txEl>
                                              <p:pRg st="3" end="3"/>
                                            </p:txEl>
                                          </p:spTgt>
                                        </p:tgtEl>
                                      </p:cBhvr>
                                    </p:animEffect>
                                    <p:anim calcmode="lin" valueType="num">
                                      <p:cBhvr>
                                        <p:cTn id="25" dur="1000" fill="hold"/>
                                        <p:tgtEl>
                                          <p:spTgt spid="104">
                                            <p:txEl>
                                              <p:pRg st="3" end="3"/>
                                            </p:txEl>
                                          </p:spTgt>
                                        </p:tgtEl>
                                        <p:attrNameLst>
                                          <p:attrName>ppt_x</p:attrName>
                                        </p:attrNameLst>
                                      </p:cBhvr>
                                      <p:tavLst>
                                        <p:tav tm="0">
                                          <p:val>
                                            <p:strVal val="#ppt_x"/>
                                          </p:val>
                                        </p:tav>
                                        <p:tav tm="100000">
                                          <p:val>
                                            <p:strVal val="#ppt_x"/>
                                          </p:val>
                                        </p:tav>
                                      </p:tavLst>
                                    </p:anim>
                                    <p:anim calcmode="lin" valueType="num">
                                      <p:cBhvr>
                                        <p:cTn id="26" dur="1000" fill="hold"/>
                                        <p:tgtEl>
                                          <p:spTgt spid="104">
                                            <p:txEl>
                                              <p:pRg st="3" end="3"/>
                                            </p:txEl>
                                          </p:spTgt>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104">
                                            <p:txEl>
                                              <p:pRg st="4" end="4"/>
                                            </p:txEl>
                                          </p:spTgt>
                                        </p:tgtEl>
                                        <p:attrNameLst>
                                          <p:attrName>style.visibility</p:attrName>
                                        </p:attrNameLst>
                                      </p:cBhvr>
                                      <p:to>
                                        <p:strVal val="visible"/>
                                      </p:to>
                                    </p:set>
                                    <p:animEffect transition="in" filter="fade">
                                      <p:cBhvr>
                                        <p:cTn id="29" dur="1000"/>
                                        <p:tgtEl>
                                          <p:spTgt spid="104">
                                            <p:txEl>
                                              <p:pRg st="4" end="4"/>
                                            </p:txEl>
                                          </p:spTgt>
                                        </p:tgtEl>
                                      </p:cBhvr>
                                    </p:animEffect>
                                    <p:anim calcmode="lin" valueType="num">
                                      <p:cBhvr>
                                        <p:cTn id="30" dur="1000" fill="hold"/>
                                        <p:tgtEl>
                                          <p:spTgt spid="104">
                                            <p:txEl>
                                              <p:pRg st="4" end="4"/>
                                            </p:txEl>
                                          </p:spTgt>
                                        </p:tgtEl>
                                        <p:attrNameLst>
                                          <p:attrName>ppt_x</p:attrName>
                                        </p:attrNameLst>
                                      </p:cBhvr>
                                      <p:tavLst>
                                        <p:tav tm="0">
                                          <p:val>
                                            <p:strVal val="#ppt_x"/>
                                          </p:val>
                                        </p:tav>
                                        <p:tav tm="100000">
                                          <p:val>
                                            <p:strVal val="#ppt_x"/>
                                          </p:val>
                                        </p:tav>
                                      </p:tavLst>
                                    </p:anim>
                                    <p:anim calcmode="lin" valueType="num">
                                      <p:cBhvr>
                                        <p:cTn id="31" dur="1000" fill="hold"/>
                                        <p:tgtEl>
                                          <p:spTgt spid="104">
                                            <p:txEl>
                                              <p:pRg st="4" end="4"/>
                                            </p:txEl>
                                          </p:spTgt>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104">
                                            <p:txEl>
                                              <p:pRg st="5" end="5"/>
                                            </p:txEl>
                                          </p:spTgt>
                                        </p:tgtEl>
                                        <p:attrNameLst>
                                          <p:attrName>style.visibility</p:attrName>
                                        </p:attrNameLst>
                                      </p:cBhvr>
                                      <p:to>
                                        <p:strVal val="visible"/>
                                      </p:to>
                                    </p:set>
                                    <p:animEffect transition="in" filter="fade">
                                      <p:cBhvr>
                                        <p:cTn id="34" dur="1000"/>
                                        <p:tgtEl>
                                          <p:spTgt spid="104">
                                            <p:txEl>
                                              <p:pRg st="5" end="5"/>
                                            </p:txEl>
                                          </p:spTgt>
                                        </p:tgtEl>
                                      </p:cBhvr>
                                    </p:animEffect>
                                    <p:anim calcmode="lin" valueType="num">
                                      <p:cBhvr>
                                        <p:cTn id="35" dur="1000" fill="hold"/>
                                        <p:tgtEl>
                                          <p:spTgt spid="104">
                                            <p:txEl>
                                              <p:pRg st="5" end="5"/>
                                            </p:txEl>
                                          </p:spTgt>
                                        </p:tgtEl>
                                        <p:attrNameLst>
                                          <p:attrName>ppt_x</p:attrName>
                                        </p:attrNameLst>
                                      </p:cBhvr>
                                      <p:tavLst>
                                        <p:tav tm="0">
                                          <p:val>
                                            <p:strVal val="#ppt_x"/>
                                          </p:val>
                                        </p:tav>
                                        <p:tav tm="100000">
                                          <p:val>
                                            <p:strVal val="#ppt_x"/>
                                          </p:val>
                                        </p:tav>
                                      </p:tavLst>
                                    </p:anim>
                                    <p:anim calcmode="lin" valueType="num">
                                      <p:cBhvr>
                                        <p:cTn id="36" dur="1000" fill="hold"/>
                                        <p:tgtEl>
                                          <p:spTgt spid="104">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42" presetClass="entr" presetSubtype="0" fill="hold" grpId="0" nodeType="clickEffect">
                                  <p:stCondLst>
                                    <p:cond delay="0"/>
                                  </p:stCondLst>
                                  <p:childTnLst>
                                    <p:set>
                                      <p:cBhvr>
                                        <p:cTn id="40" dur="1" fill="hold">
                                          <p:stCondLst>
                                            <p:cond delay="0"/>
                                          </p:stCondLst>
                                        </p:cTn>
                                        <p:tgtEl>
                                          <p:spTgt spid="104">
                                            <p:txEl>
                                              <p:pRg st="6" end="6"/>
                                            </p:txEl>
                                          </p:spTgt>
                                        </p:tgtEl>
                                        <p:attrNameLst>
                                          <p:attrName>style.visibility</p:attrName>
                                        </p:attrNameLst>
                                      </p:cBhvr>
                                      <p:to>
                                        <p:strVal val="visible"/>
                                      </p:to>
                                    </p:set>
                                    <p:animEffect transition="in" filter="fade">
                                      <p:cBhvr>
                                        <p:cTn id="41" dur="1000"/>
                                        <p:tgtEl>
                                          <p:spTgt spid="104">
                                            <p:txEl>
                                              <p:pRg st="6" end="6"/>
                                            </p:txEl>
                                          </p:spTgt>
                                        </p:tgtEl>
                                      </p:cBhvr>
                                    </p:animEffect>
                                    <p:anim calcmode="lin" valueType="num">
                                      <p:cBhvr>
                                        <p:cTn id="42" dur="1000" fill="hold"/>
                                        <p:tgtEl>
                                          <p:spTgt spid="104">
                                            <p:txEl>
                                              <p:pRg st="6" end="6"/>
                                            </p:txEl>
                                          </p:spTgt>
                                        </p:tgtEl>
                                        <p:attrNameLst>
                                          <p:attrName>ppt_x</p:attrName>
                                        </p:attrNameLst>
                                      </p:cBhvr>
                                      <p:tavLst>
                                        <p:tav tm="0">
                                          <p:val>
                                            <p:strVal val="#ppt_x"/>
                                          </p:val>
                                        </p:tav>
                                        <p:tav tm="100000">
                                          <p:val>
                                            <p:strVal val="#ppt_x"/>
                                          </p:val>
                                        </p:tav>
                                      </p:tavLst>
                                    </p:anim>
                                    <p:anim calcmode="lin" valueType="num">
                                      <p:cBhvr>
                                        <p:cTn id="43" dur="1000" fill="hold"/>
                                        <p:tgtEl>
                                          <p:spTgt spid="104">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2"/>
          <p:cNvSpPr txBox="1">
            <a:spLocks noGrp="1"/>
          </p:cNvSpPr>
          <p:nvPr>
            <p:ph type="title"/>
          </p:nvPr>
        </p:nvSpPr>
        <p:spPr>
          <a:xfrm>
            <a:off x="0" y="0"/>
            <a:ext cx="9144000" cy="1066800"/>
          </a:xfrm>
          <a:prstGeom prst="rect">
            <a:avLst/>
          </a:prstGeom>
          <a:ln/>
        </p:spPr>
        <p:style>
          <a:lnRef idx="0">
            <a:schemeClr val="accent3"/>
          </a:lnRef>
          <a:fillRef idx="3">
            <a:schemeClr val="accent3"/>
          </a:fillRef>
          <a:effectRef idx="3">
            <a:schemeClr val="accent3"/>
          </a:effectRef>
          <a:fontRef idx="minor">
            <a:schemeClr val="lt1"/>
          </a:fontRef>
        </p:style>
        <p:txBody>
          <a:bodyPr spcFirstLastPara="1" wrap="square" lIns="91425" tIns="45700" rIns="91425" bIns="45700" anchor="ctr" anchorCtr="0">
            <a:normAutofit/>
          </a:bodyPr>
          <a:lstStyle/>
          <a:p>
            <a:pPr lvl="0">
              <a:defRPr/>
            </a:pPr>
            <a:r>
              <a:rPr lang="en-US" b="1" dirty="0">
                <a:ln w="1905"/>
                <a:solidFill>
                  <a:schemeClr val="tx1"/>
                </a:solidFill>
                <a:effectLst>
                  <a:innerShdw blurRad="69850" dist="43180" dir="5400000">
                    <a:srgbClr val="000000">
                      <a:alpha val="65000"/>
                    </a:srgbClr>
                  </a:innerShdw>
                </a:effectLst>
              </a:rPr>
              <a:t>Contiguous Allocation</a:t>
            </a:r>
          </a:p>
        </p:txBody>
      </p:sp>
      <p:sp>
        <p:nvSpPr>
          <p:cNvPr id="104" name="Google Shape;104;p2"/>
          <p:cNvSpPr txBox="1">
            <a:spLocks noGrp="1"/>
          </p:cNvSpPr>
          <p:nvPr>
            <p:ph type="body" idx="1"/>
          </p:nvPr>
        </p:nvSpPr>
        <p:spPr>
          <a:xfrm>
            <a:off x="0" y="1047750"/>
            <a:ext cx="9144000" cy="5581650"/>
          </a:xfrm>
          <a:prstGeom prst="rect">
            <a:avLst/>
          </a:prstGeom>
          <a:noFill/>
          <a:ln>
            <a:noFill/>
          </a:ln>
        </p:spPr>
        <p:txBody>
          <a:bodyPr spcFirstLastPara="1" wrap="square" lIns="91425" tIns="45700" rIns="91425" bIns="45700" anchor="t" anchorCtr="0">
            <a:noAutofit/>
          </a:bodyPr>
          <a:lstStyle/>
          <a:p>
            <a:pPr marL="285750" indent="-285750" algn="just"/>
            <a:r>
              <a:rPr lang="en-US" sz="2100" dirty="0" smtClean="0"/>
              <a:t>The contiguous allocation method requires each file to occupy a set of contiguous addresses on the disk. Disk addresses define a linear ordering on the disk. Contiguous allocation of a file is defined by the disk address of the first block and its length. If the file is ‘n’ blocks long and starts at location ‘b’, then it occupies blocks b, b+1, b+2, - - - - - b+n-1. The directory entry for each file indicates the address of the starting block and the length of the area allocated for this file.</a:t>
            </a:r>
          </a:p>
          <a:p>
            <a:pPr marL="285750" indent="-285750" algn="just"/>
            <a:r>
              <a:rPr lang="en-US" sz="2100" dirty="0" smtClean="0"/>
              <a:t>Contiguous allocation supports both sequential and direct access. </a:t>
            </a:r>
          </a:p>
          <a:p>
            <a:pPr marL="285750" indent="-285750" algn="just"/>
            <a:r>
              <a:rPr lang="en-US" sz="2100" dirty="0" smtClean="0"/>
              <a:t>For direct access to block ‘i’ of a file, which starts at block ‘b’, we can immediately access block </a:t>
            </a:r>
            <a:r>
              <a:rPr lang="en-US" sz="2100" dirty="0" err="1" smtClean="0"/>
              <a:t>b+i</a:t>
            </a:r>
            <a:r>
              <a:rPr lang="en-US" sz="2100" dirty="0" smtClean="0"/>
              <a:t>. The difficulty with contiguous allocation is finding space for a new file.</a:t>
            </a:r>
          </a:p>
          <a:p>
            <a:pPr marL="285750" indent="-285750" algn="just"/>
            <a:r>
              <a:rPr lang="en-US" sz="2100" dirty="0" smtClean="0"/>
              <a:t>For direct access to block ‘i’ of a file, which starts at block ‘b’, we can immediately access block </a:t>
            </a:r>
            <a:r>
              <a:rPr lang="en-US" sz="2100" dirty="0" err="1" smtClean="0"/>
              <a:t>b+i</a:t>
            </a:r>
            <a:r>
              <a:rPr lang="en-US" sz="2100" dirty="0" smtClean="0"/>
              <a:t>.</a:t>
            </a:r>
          </a:p>
          <a:p>
            <a:pPr marL="285750" indent="-285750" algn="just"/>
            <a:r>
              <a:rPr lang="en-US" sz="2100" dirty="0" smtClean="0"/>
              <a:t>The difficulty with contiguous allocation is finding space for a new file.</a:t>
            </a:r>
          </a:p>
          <a:p>
            <a:pPr marL="285750" indent="-285750" algn="just"/>
            <a:r>
              <a:rPr lang="en-US" sz="2100" dirty="0" smtClean="0"/>
              <a:t>If file to be created are ‘n’ blocks long, we must search free space list for ‘n’ free contiguous blocks.</a:t>
            </a:r>
            <a:endParaRPr lang="en-US" sz="2100" dirty="0"/>
          </a:p>
        </p:txBody>
      </p:sp>
      <p:sp>
        <p:nvSpPr>
          <p:cNvPr id="105" name="Google Shape;105;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pPr marL="0" lvl="0" indent="0" algn="r" rtl="0">
                <a:spcBef>
                  <a:spcPts val="0"/>
                </a:spcBef>
                <a:spcAft>
                  <a:spcPts val="0"/>
                </a:spcAft>
                <a:buNone/>
              </a:pPr>
              <a:t>21</a:t>
            </a:fld>
            <a:endParaRPr dirty="0"/>
          </a:p>
        </p:txBody>
      </p:sp>
    </p:spTree>
    <p:extLst>
      <p:ext uri="{BB962C8B-B14F-4D97-AF65-F5344CB8AC3E}">
        <p14:creationId xmlns:p14="http://schemas.microsoft.com/office/powerpoint/2010/main" xmlns="" val="21494604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04">
                                            <p:txEl>
                                              <p:pRg st="0" end="0"/>
                                            </p:txEl>
                                          </p:spTgt>
                                        </p:tgtEl>
                                        <p:attrNameLst>
                                          <p:attrName>style.visibility</p:attrName>
                                        </p:attrNameLst>
                                      </p:cBhvr>
                                      <p:to>
                                        <p:strVal val="visible"/>
                                      </p:to>
                                    </p:set>
                                    <p:animEffect transition="in" filter="fade">
                                      <p:cBhvr>
                                        <p:cTn id="7" dur="1000"/>
                                        <p:tgtEl>
                                          <p:spTgt spid="104">
                                            <p:txEl>
                                              <p:pRg st="0" end="0"/>
                                            </p:txEl>
                                          </p:spTgt>
                                        </p:tgtEl>
                                      </p:cBhvr>
                                    </p:animEffect>
                                    <p:anim calcmode="lin" valueType="num">
                                      <p:cBhvr>
                                        <p:cTn id="8" dur="1000" fill="hold"/>
                                        <p:tgtEl>
                                          <p:spTgt spid="10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04">
                                            <p:txEl>
                                              <p:pRg st="0" end="0"/>
                                            </p:txEl>
                                          </p:spTgt>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grpId="0" nodeType="afterEffect">
                                  <p:stCondLst>
                                    <p:cond delay="0"/>
                                  </p:stCondLst>
                                  <p:childTnLst>
                                    <p:set>
                                      <p:cBhvr>
                                        <p:cTn id="12" dur="1" fill="hold">
                                          <p:stCondLst>
                                            <p:cond delay="0"/>
                                          </p:stCondLst>
                                        </p:cTn>
                                        <p:tgtEl>
                                          <p:spTgt spid="104">
                                            <p:txEl>
                                              <p:pRg st="1" end="1"/>
                                            </p:txEl>
                                          </p:spTgt>
                                        </p:tgtEl>
                                        <p:attrNameLst>
                                          <p:attrName>style.visibility</p:attrName>
                                        </p:attrNameLst>
                                      </p:cBhvr>
                                      <p:to>
                                        <p:strVal val="visible"/>
                                      </p:to>
                                    </p:set>
                                    <p:animEffect transition="in" filter="fade">
                                      <p:cBhvr>
                                        <p:cTn id="13" dur="1000"/>
                                        <p:tgtEl>
                                          <p:spTgt spid="104">
                                            <p:txEl>
                                              <p:pRg st="1" end="1"/>
                                            </p:txEl>
                                          </p:spTgt>
                                        </p:tgtEl>
                                      </p:cBhvr>
                                    </p:animEffect>
                                    <p:anim calcmode="lin" valueType="num">
                                      <p:cBhvr>
                                        <p:cTn id="14" dur="1000" fill="hold"/>
                                        <p:tgtEl>
                                          <p:spTgt spid="104">
                                            <p:txEl>
                                              <p:pRg st="1" end="1"/>
                                            </p:txEl>
                                          </p:spTgt>
                                        </p:tgtEl>
                                        <p:attrNameLst>
                                          <p:attrName>ppt_x</p:attrName>
                                        </p:attrNameLst>
                                      </p:cBhvr>
                                      <p:tavLst>
                                        <p:tav tm="0">
                                          <p:val>
                                            <p:strVal val="#ppt_x"/>
                                          </p:val>
                                        </p:tav>
                                        <p:tav tm="100000">
                                          <p:val>
                                            <p:strVal val="#ppt_x"/>
                                          </p:val>
                                        </p:tav>
                                      </p:tavLst>
                                    </p:anim>
                                    <p:anim calcmode="lin" valueType="num">
                                      <p:cBhvr>
                                        <p:cTn id="15" dur="1000" fill="hold"/>
                                        <p:tgtEl>
                                          <p:spTgt spid="104">
                                            <p:txEl>
                                              <p:pRg st="1" end="1"/>
                                            </p:txEl>
                                          </p:spTgt>
                                        </p:tgtEl>
                                        <p:attrNameLst>
                                          <p:attrName>ppt_y</p:attrName>
                                        </p:attrNameLst>
                                      </p:cBhvr>
                                      <p:tavLst>
                                        <p:tav tm="0">
                                          <p:val>
                                            <p:strVal val="#ppt_y+.1"/>
                                          </p:val>
                                        </p:tav>
                                        <p:tav tm="100000">
                                          <p:val>
                                            <p:strVal val="#ppt_y"/>
                                          </p:val>
                                        </p:tav>
                                      </p:tavLst>
                                    </p:anim>
                                  </p:childTnLst>
                                </p:cTn>
                              </p:par>
                            </p:childTnLst>
                          </p:cTn>
                        </p:par>
                        <p:par>
                          <p:cTn id="16" fill="hold">
                            <p:stCondLst>
                              <p:cond delay="2000"/>
                            </p:stCondLst>
                            <p:childTnLst>
                              <p:par>
                                <p:cTn id="17" presetID="42" presetClass="entr" presetSubtype="0" fill="hold" grpId="0" nodeType="afterEffect">
                                  <p:stCondLst>
                                    <p:cond delay="0"/>
                                  </p:stCondLst>
                                  <p:childTnLst>
                                    <p:set>
                                      <p:cBhvr>
                                        <p:cTn id="18" dur="1" fill="hold">
                                          <p:stCondLst>
                                            <p:cond delay="0"/>
                                          </p:stCondLst>
                                        </p:cTn>
                                        <p:tgtEl>
                                          <p:spTgt spid="104">
                                            <p:txEl>
                                              <p:pRg st="2" end="2"/>
                                            </p:txEl>
                                          </p:spTgt>
                                        </p:tgtEl>
                                        <p:attrNameLst>
                                          <p:attrName>style.visibility</p:attrName>
                                        </p:attrNameLst>
                                      </p:cBhvr>
                                      <p:to>
                                        <p:strVal val="visible"/>
                                      </p:to>
                                    </p:set>
                                    <p:animEffect transition="in" filter="fade">
                                      <p:cBhvr>
                                        <p:cTn id="19" dur="1000"/>
                                        <p:tgtEl>
                                          <p:spTgt spid="104">
                                            <p:txEl>
                                              <p:pRg st="2" end="2"/>
                                            </p:txEl>
                                          </p:spTgt>
                                        </p:tgtEl>
                                      </p:cBhvr>
                                    </p:animEffect>
                                    <p:anim calcmode="lin" valueType="num">
                                      <p:cBhvr>
                                        <p:cTn id="20" dur="1000" fill="hold"/>
                                        <p:tgtEl>
                                          <p:spTgt spid="104">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104">
                                            <p:txEl>
                                              <p:pRg st="2" end="2"/>
                                            </p:txEl>
                                          </p:spTgt>
                                        </p:tgtEl>
                                        <p:attrNameLst>
                                          <p:attrName>ppt_y</p:attrName>
                                        </p:attrNameLst>
                                      </p:cBhvr>
                                      <p:tavLst>
                                        <p:tav tm="0">
                                          <p:val>
                                            <p:strVal val="#ppt_y+.1"/>
                                          </p:val>
                                        </p:tav>
                                        <p:tav tm="100000">
                                          <p:val>
                                            <p:strVal val="#ppt_y"/>
                                          </p:val>
                                        </p:tav>
                                      </p:tavLst>
                                    </p:anim>
                                  </p:childTnLst>
                                </p:cTn>
                              </p:par>
                            </p:childTnLst>
                          </p:cTn>
                        </p:par>
                        <p:par>
                          <p:cTn id="22" fill="hold">
                            <p:stCondLst>
                              <p:cond delay="3000"/>
                            </p:stCondLst>
                            <p:childTnLst>
                              <p:par>
                                <p:cTn id="23" presetID="42" presetClass="entr" presetSubtype="0" fill="hold" grpId="0" nodeType="afterEffect">
                                  <p:stCondLst>
                                    <p:cond delay="0"/>
                                  </p:stCondLst>
                                  <p:childTnLst>
                                    <p:set>
                                      <p:cBhvr>
                                        <p:cTn id="24" dur="1" fill="hold">
                                          <p:stCondLst>
                                            <p:cond delay="0"/>
                                          </p:stCondLst>
                                        </p:cTn>
                                        <p:tgtEl>
                                          <p:spTgt spid="104">
                                            <p:txEl>
                                              <p:pRg st="3" end="3"/>
                                            </p:txEl>
                                          </p:spTgt>
                                        </p:tgtEl>
                                        <p:attrNameLst>
                                          <p:attrName>style.visibility</p:attrName>
                                        </p:attrNameLst>
                                      </p:cBhvr>
                                      <p:to>
                                        <p:strVal val="visible"/>
                                      </p:to>
                                    </p:set>
                                    <p:animEffect transition="in" filter="fade">
                                      <p:cBhvr>
                                        <p:cTn id="25" dur="1000"/>
                                        <p:tgtEl>
                                          <p:spTgt spid="104">
                                            <p:txEl>
                                              <p:pRg st="3" end="3"/>
                                            </p:txEl>
                                          </p:spTgt>
                                        </p:tgtEl>
                                      </p:cBhvr>
                                    </p:animEffect>
                                    <p:anim calcmode="lin" valueType="num">
                                      <p:cBhvr>
                                        <p:cTn id="26" dur="1000" fill="hold"/>
                                        <p:tgtEl>
                                          <p:spTgt spid="104">
                                            <p:txEl>
                                              <p:pRg st="3" end="3"/>
                                            </p:txEl>
                                          </p:spTgt>
                                        </p:tgtEl>
                                        <p:attrNameLst>
                                          <p:attrName>ppt_x</p:attrName>
                                        </p:attrNameLst>
                                      </p:cBhvr>
                                      <p:tavLst>
                                        <p:tav tm="0">
                                          <p:val>
                                            <p:strVal val="#ppt_x"/>
                                          </p:val>
                                        </p:tav>
                                        <p:tav tm="100000">
                                          <p:val>
                                            <p:strVal val="#ppt_x"/>
                                          </p:val>
                                        </p:tav>
                                      </p:tavLst>
                                    </p:anim>
                                    <p:anim calcmode="lin" valueType="num">
                                      <p:cBhvr>
                                        <p:cTn id="27" dur="1000" fill="hold"/>
                                        <p:tgtEl>
                                          <p:spTgt spid="104">
                                            <p:txEl>
                                              <p:pRg st="3" end="3"/>
                                            </p:txEl>
                                          </p:spTgt>
                                        </p:tgtEl>
                                        <p:attrNameLst>
                                          <p:attrName>ppt_y</p:attrName>
                                        </p:attrNameLst>
                                      </p:cBhvr>
                                      <p:tavLst>
                                        <p:tav tm="0">
                                          <p:val>
                                            <p:strVal val="#ppt_y+.1"/>
                                          </p:val>
                                        </p:tav>
                                        <p:tav tm="100000">
                                          <p:val>
                                            <p:strVal val="#ppt_y"/>
                                          </p:val>
                                        </p:tav>
                                      </p:tavLst>
                                    </p:anim>
                                  </p:childTnLst>
                                </p:cTn>
                              </p:par>
                            </p:childTnLst>
                          </p:cTn>
                        </p:par>
                        <p:par>
                          <p:cTn id="28" fill="hold">
                            <p:stCondLst>
                              <p:cond delay="4000"/>
                            </p:stCondLst>
                            <p:childTnLst>
                              <p:par>
                                <p:cTn id="29" presetID="42" presetClass="entr" presetSubtype="0" fill="hold" grpId="0" nodeType="afterEffect">
                                  <p:stCondLst>
                                    <p:cond delay="0"/>
                                  </p:stCondLst>
                                  <p:childTnLst>
                                    <p:set>
                                      <p:cBhvr>
                                        <p:cTn id="30" dur="1" fill="hold">
                                          <p:stCondLst>
                                            <p:cond delay="0"/>
                                          </p:stCondLst>
                                        </p:cTn>
                                        <p:tgtEl>
                                          <p:spTgt spid="104">
                                            <p:txEl>
                                              <p:pRg st="4" end="4"/>
                                            </p:txEl>
                                          </p:spTgt>
                                        </p:tgtEl>
                                        <p:attrNameLst>
                                          <p:attrName>style.visibility</p:attrName>
                                        </p:attrNameLst>
                                      </p:cBhvr>
                                      <p:to>
                                        <p:strVal val="visible"/>
                                      </p:to>
                                    </p:set>
                                    <p:animEffect transition="in" filter="fade">
                                      <p:cBhvr>
                                        <p:cTn id="31" dur="1000"/>
                                        <p:tgtEl>
                                          <p:spTgt spid="104">
                                            <p:txEl>
                                              <p:pRg st="4" end="4"/>
                                            </p:txEl>
                                          </p:spTgt>
                                        </p:tgtEl>
                                      </p:cBhvr>
                                    </p:animEffect>
                                    <p:anim calcmode="lin" valueType="num">
                                      <p:cBhvr>
                                        <p:cTn id="32" dur="1000" fill="hold"/>
                                        <p:tgtEl>
                                          <p:spTgt spid="104">
                                            <p:txEl>
                                              <p:pRg st="4" end="4"/>
                                            </p:txEl>
                                          </p:spTgt>
                                        </p:tgtEl>
                                        <p:attrNameLst>
                                          <p:attrName>ppt_x</p:attrName>
                                        </p:attrNameLst>
                                      </p:cBhvr>
                                      <p:tavLst>
                                        <p:tav tm="0">
                                          <p:val>
                                            <p:strVal val="#ppt_x"/>
                                          </p:val>
                                        </p:tav>
                                        <p:tav tm="100000">
                                          <p:val>
                                            <p:strVal val="#ppt_x"/>
                                          </p:val>
                                        </p:tav>
                                      </p:tavLst>
                                    </p:anim>
                                    <p:anim calcmode="lin" valueType="num">
                                      <p:cBhvr>
                                        <p:cTn id="33" dur="1000" fill="hold"/>
                                        <p:tgtEl>
                                          <p:spTgt spid="104">
                                            <p:txEl>
                                              <p:pRg st="4" end="4"/>
                                            </p:txEl>
                                          </p:spTgt>
                                        </p:tgtEl>
                                        <p:attrNameLst>
                                          <p:attrName>ppt_y</p:attrName>
                                        </p:attrNameLst>
                                      </p:cBhvr>
                                      <p:tavLst>
                                        <p:tav tm="0">
                                          <p:val>
                                            <p:strVal val="#ppt_y+.1"/>
                                          </p:val>
                                        </p:tav>
                                        <p:tav tm="100000">
                                          <p:val>
                                            <p:strVal val="#ppt_y"/>
                                          </p:val>
                                        </p:tav>
                                      </p:tavLst>
                                    </p:anim>
                                  </p:childTnLst>
                                </p:cTn>
                              </p:par>
                            </p:childTnLst>
                          </p:cTn>
                        </p:par>
                        <p:par>
                          <p:cTn id="34" fill="hold">
                            <p:stCondLst>
                              <p:cond delay="5000"/>
                            </p:stCondLst>
                            <p:childTnLst>
                              <p:par>
                                <p:cTn id="35" presetID="42" presetClass="entr" presetSubtype="0" fill="hold" grpId="0" nodeType="afterEffect">
                                  <p:stCondLst>
                                    <p:cond delay="0"/>
                                  </p:stCondLst>
                                  <p:childTnLst>
                                    <p:set>
                                      <p:cBhvr>
                                        <p:cTn id="36" dur="1" fill="hold">
                                          <p:stCondLst>
                                            <p:cond delay="0"/>
                                          </p:stCondLst>
                                        </p:cTn>
                                        <p:tgtEl>
                                          <p:spTgt spid="104">
                                            <p:txEl>
                                              <p:pRg st="5" end="5"/>
                                            </p:txEl>
                                          </p:spTgt>
                                        </p:tgtEl>
                                        <p:attrNameLst>
                                          <p:attrName>style.visibility</p:attrName>
                                        </p:attrNameLst>
                                      </p:cBhvr>
                                      <p:to>
                                        <p:strVal val="visible"/>
                                      </p:to>
                                    </p:set>
                                    <p:animEffect transition="in" filter="fade">
                                      <p:cBhvr>
                                        <p:cTn id="37" dur="1000"/>
                                        <p:tgtEl>
                                          <p:spTgt spid="104">
                                            <p:txEl>
                                              <p:pRg st="5" end="5"/>
                                            </p:txEl>
                                          </p:spTgt>
                                        </p:tgtEl>
                                      </p:cBhvr>
                                    </p:animEffect>
                                    <p:anim calcmode="lin" valueType="num">
                                      <p:cBhvr>
                                        <p:cTn id="38" dur="1000" fill="hold"/>
                                        <p:tgtEl>
                                          <p:spTgt spid="104">
                                            <p:txEl>
                                              <p:pRg st="5" end="5"/>
                                            </p:txEl>
                                          </p:spTgt>
                                        </p:tgtEl>
                                        <p:attrNameLst>
                                          <p:attrName>ppt_x</p:attrName>
                                        </p:attrNameLst>
                                      </p:cBhvr>
                                      <p:tavLst>
                                        <p:tav tm="0">
                                          <p:val>
                                            <p:strVal val="#ppt_x"/>
                                          </p:val>
                                        </p:tav>
                                        <p:tav tm="100000">
                                          <p:val>
                                            <p:strVal val="#ppt_x"/>
                                          </p:val>
                                        </p:tav>
                                      </p:tavLst>
                                    </p:anim>
                                    <p:anim calcmode="lin" valueType="num">
                                      <p:cBhvr>
                                        <p:cTn id="39" dur="1000" fill="hold"/>
                                        <p:tgtEl>
                                          <p:spTgt spid="104">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2"/>
          <p:cNvSpPr txBox="1">
            <a:spLocks noGrp="1"/>
          </p:cNvSpPr>
          <p:nvPr>
            <p:ph type="title"/>
          </p:nvPr>
        </p:nvSpPr>
        <p:spPr>
          <a:xfrm>
            <a:off x="0" y="0"/>
            <a:ext cx="9144000" cy="1066800"/>
          </a:xfrm>
          <a:prstGeom prst="rect">
            <a:avLst/>
          </a:prstGeom>
          <a:ln/>
        </p:spPr>
        <p:style>
          <a:lnRef idx="0">
            <a:schemeClr val="accent3"/>
          </a:lnRef>
          <a:fillRef idx="3">
            <a:schemeClr val="accent3"/>
          </a:fillRef>
          <a:effectRef idx="3">
            <a:schemeClr val="accent3"/>
          </a:effectRef>
          <a:fontRef idx="minor">
            <a:schemeClr val="lt1"/>
          </a:fontRef>
        </p:style>
        <p:txBody>
          <a:bodyPr spcFirstLastPara="1" wrap="square" lIns="91425" tIns="45700" rIns="91425" bIns="45700" anchor="ctr" anchorCtr="0">
            <a:normAutofit/>
          </a:bodyPr>
          <a:lstStyle/>
          <a:p>
            <a:pPr lvl="0">
              <a:defRPr/>
            </a:pPr>
            <a:r>
              <a:rPr lang="en-US" b="1" dirty="0">
                <a:ln w="1905"/>
                <a:solidFill>
                  <a:schemeClr val="tx1"/>
                </a:solidFill>
                <a:effectLst>
                  <a:innerShdw blurRad="69850" dist="43180" dir="5400000">
                    <a:srgbClr val="000000">
                      <a:alpha val="65000"/>
                    </a:srgbClr>
                  </a:innerShdw>
                </a:effectLst>
              </a:rPr>
              <a:t>Contiguous Allocation</a:t>
            </a:r>
          </a:p>
        </p:txBody>
      </p:sp>
      <p:sp>
        <p:nvSpPr>
          <p:cNvPr id="105" name="Google Shape;105;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pPr marL="0" lvl="0" indent="0" algn="r" rtl="0">
                <a:spcBef>
                  <a:spcPts val="0"/>
                </a:spcBef>
                <a:spcAft>
                  <a:spcPts val="0"/>
                </a:spcAft>
                <a:buNone/>
              </a:pPr>
              <a:t>22</a:t>
            </a:fld>
            <a:endParaRPr dirty="0"/>
          </a:p>
        </p:txBody>
      </p:sp>
      <p:pic>
        <p:nvPicPr>
          <p:cNvPr id="14" name="Picture 2"/>
          <p:cNvPicPr>
            <a:picLocks noChangeAspect="1" noChangeArrowheads="1"/>
          </p:cNvPicPr>
          <p:nvPr/>
        </p:nvPicPr>
        <p:blipFill>
          <a:blip r:embed="rId3">
            <a:extLst>
              <a:ext uri="{28A0092B-C50C-407E-A947-70E740481C1C}">
                <a14:useLocalDpi xmlns:a14="http://schemas.microsoft.com/office/drawing/2010/main" xmlns="" val="0"/>
              </a:ext>
            </a:extLst>
          </a:blip>
          <a:srcRect/>
          <a:stretch>
            <a:fillRect/>
          </a:stretch>
        </p:blipFill>
        <p:spPr bwMode="auto">
          <a:xfrm>
            <a:off x="152400" y="1176500"/>
            <a:ext cx="8839200" cy="53005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2277939856"/>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2"/>
          <p:cNvSpPr txBox="1">
            <a:spLocks noGrp="1"/>
          </p:cNvSpPr>
          <p:nvPr>
            <p:ph type="title"/>
          </p:nvPr>
        </p:nvSpPr>
        <p:spPr>
          <a:xfrm>
            <a:off x="0" y="0"/>
            <a:ext cx="9144000" cy="1066800"/>
          </a:xfrm>
          <a:prstGeom prst="rect">
            <a:avLst/>
          </a:prstGeom>
          <a:ln/>
        </p:spPr>
        <p:style>
          <a:lnRef idx="0">
            <a:schemeClr val="accent3"/>
          </a:lnRef>
          <a:fillRef idx="3">
            <a:schemeClr val="accent3"/>
          </a:fillRef>
          <a:effectRef idx="3">
            <a:schemeClr val="accent3"/>
          </a:effectRef>
          <a:fontRef idx="minor">
            <a:schemeClr val="lt1"/>
          </a:fontRef>
        </p:style>
        <p:txBody>
          <a:bodyPr spcFirstLastPara="1" wrap="square" lIns="91425" tIns="45700" rIns="91425" bIns="45700" anchor="ctr" anchorCtr="0">
            <a:normAutofit/>
          </a:bodyPr>
          <a:lstStyle/>
          <a:p>
            <a:pPr lvl="0">
              <a:defRPr/>
            </a:pPr>
            <a:r>
              <a:rPr lang="en-US" b="1" dirty="0">
                <a:ln w="1905"/>
                <a:solidFill>
                  <a:schemeClr val="tx1"/>
                </a:solidFill>
                <a:effectLst>
                  <a:innerShdw blurRad="69850" dist="43180" dir="5400000">
                    <a:srgbClr val="000000">
                      <a:alpha val="65000"/>
                    </a:srgbClr>
                  </a:innerShdw>
                </a:effectLst>
              </a:rPr>
              <a:t>Contiguous Allocation</a:t>
            </a:r>
          </a:p>
        </p:txBody>
      </p:sp>
      <p:sp>
        <p:nvSpPr>
          <p:cNvPr id="104" name="Google Shape;104;p2"/>
          <p:cNvSpPr txBox="1">
            <a:spLocks noGrp="1"/>
          </p:cNvSpPr>
          <p:nvPr>
            <p:ph type="body" idx="1"/>
          </p:nvPr>
        </p:nvSpPr>
        <p:spPr>
          <a:xfrm>
            <a:off x="0" y="1047750"/>
            <a:ext cx="9144000" cy="5581650"/>
          </a:xfrm>
          <a:prstGeom prst="rect">
            <a:avLst/>
          </a:prstGeom>
          <a:noFill/>
          <a:ln>
            <a:noFill/>
          </a:ln>
        </p:spPr>
        <p:txBody>
          <a:bodyPr spcFirstLastPara="1" wrap="square" lIns="91425" tIns="45700" rIns="91425" bIns="45700" anchor="t" anchorCtr="0">
            <a:noAutofit/>
          </a:bodyPr>
          <a:lstStyle/>
          <a:p>
            <a:r>
              <a:rPr lang="en-US" sz="1900" b="1" dirty="0" smtClean="0"/>
              <a:t>Advantages of Contiguous File Allocation Method:</a:t>
            </a:r>
          </a:p>
          <a:p>
            <a:r>
              <a:rPr lang="en-US" sz="1900" dirty="0" smtClean="0"/>
              <a:t>1. Supports both sequential and direct access methods.</a:t>
            </a:r>
          </a:p>
          <a:p>
            <a:r>
              <a:rPr lang="en-US" sz="1900" dirty="0" smtClean="0"/>
              <a:t>2. Contiguous allocation is the best form of allocation for sequential files. Multiple blocks can be</a:t>
            </a:r>
          </a:p>
          <a:p>
            <a:r>
              <a:rPr lang="en-US" sz="1900" dirty="0" smtClean="0"/>
              <a:t>brought in at a time to improve I/O performance for sequential processing.</a:t>
            </a:r>
          </a:p>
          <a:p>
            <a:r>
              <a:rPr lang="en-US" sz="1900" dirty="0" smtClean="0"/>
              <a:t>3. It is also easy to retrieve a single block from a file. For example, if a file starts at block ‘n’ and the </a:t>
            </a:r>
            <a:r>
              <a:rPr lang="en-US" sz="1900" dirty="0" err="1" smtClean="0"/>
              <a:t>ith</a:t>
            </a:r>
            <a:r>
              <a:rPr lang="en-US" sz="1900" dirty="0" smtClean="0"/>
              <a:t> block of the file is wanted, its location on secondary storage is simply n + i.</a:t>
            </a:r>
          </a:p>
          <a:p>
            <a:r>
              <a:rPr lang="en-US" sz="1900" dirty="0" smtClean="0"/>
              <a:t>4. Reading all blocks belonging to each file is very fast.</a:t>
            </a:r>
          </a:p>
          <a:p>
            <a:r>
              <a:rPr lang="en-US" sz="1900" dirty="0" smtClean="0"/>
              <a:t>5. Provides good performance.</a:t>
            </a:r>
          </a:p>
          <a:p>
            <a:endParaRPr lang="en-US" sz="1900" dirty="0" smtClean="0"/>
          </a:p>
          <a:p>
            <a:r>
              <a:rPr lang="en-US" sz="1900" b="1" dirty="0" smtClean="0"/>
              <a:t>Disadvantages of Contiguous File Allocation Method:</a:t>
            </a:r>
          </a:p>
          <a:p>
            <a:r>
              <a:rPr lang="en-US" sz="1900" dirty="0" smtClean="0"/>
              <a:t>1. Suffers from external fragmentation.</a:t>
            </a:r>
          </a:p>
          <a:p>
            <a:r>
              <a:rPr lang="en-US" sz="1900" dirty="0" smtClean="0"/>
              <a:t>2. Very difficult to find contiguous blocks of space for new files.</a:t>
            </a:r>
          </a:p>
          <a:p>
            <a:r>
              <a:rPr lang="en-US" sz="1900" dirty="0" smtClean="0"/>
              <a:t>3. Also with pre-allocation, it is necessary to declare the size of the file at the time of creation which many a times is difficult to estimate.</a:t>
            </a:r>
          </a:p>
          <a:p>
            <a:r>
              <a:rPr lang="en-US" sz="1900" dirty="0" smtClean="0"/>
              <a:t>4. Compaction may be required and it can be very expensive.</a:t>
            </a:r>
            <a:endParaRPr lang="en-US" sz="1900" dirty="0"/>
          </a:p>
        </p:txBody>
      </p:sp>
      <p:sp>
        <p:nvSpPr>
          <p:cNvPr id="105" name="Google Shape;105;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pPr marL="0" lvl="0" indent="0" algn="r" rtl="0">
                <a:spcBef>
                  <a:spcPts val="0"/>
                </a:spcBef>
                <a:spcAft>
                  <a:spcPts val="0"/>
                </a:spcAft>
                <a:buNone/>
              </a:pPr>
              <a:t>23</a:t>
            </a:fld>
            <a:endParaRPr dirty="0"/>
          </a:p>
        </p:txBody>
      </p:sp>
    </p:spTree>
    <p:extLst>
      <p:ext uri="{BB962C8B-B14F-4D97-AF65-F5344CB8AC3E}">
        <p14:creationId xmlns:p14="http://schemas.microsoft.com/office/powerpoint/2010/main" xmlns="" val="15896533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04">
                                            <p:txEl>
                                              <p:pRg st="0" end="0"/>
                                            </p:txEl>
                                          </p:spTgt>
                                        </p:tgtEl>
                                        <p:attrNameLst>
                                          <p:attrName>style.visibility</p:attrName>
                                        </p:attrNameLst>
                                      </p:cBhvr>
                                      <p:to>
                                        <p:strVal val="visible"/>
                                      </p:to>
                                    </p:set>
                                    <p:animEffect transition="in" filter="fade">
                                      <p:cBhvr>
                                        <p:cTn id="7" dur="1000"/>
                                        <p:tgtEl>
                                          <p:spTgt spid="104">
                                            <p:txEl>
                                              <p:pRg st="0" end="0"/>
                                            </p:txEl>
                                          </p:spTgt>
                                        </p:tgtEl>
                                      </p:cBhvr>
                                    </p:animEffect>
                                    <p:anim calcmode="lin" valueType="num">
                                      <p:cBhvr>
                                        <p:cTn id="8" dur="1000" fill="hold"/>
                                        <p:tgtEl>
                                          <p:spTgt spid="10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04">
                                            <p:txEl>
                                              <p:pRg st="0" end="0"/>
                                            </p:txEl>
                                          </p:spTgt>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grpId="0" nodeType="afterEffect">
                                  <p:stCondLst>
                                    <p:cond delay="0"/>
                                  </p:stCondLst>
                                  <p:childTnLst>
                                    <p:set>
                                      <p:cBhvr>
                                        <p:cTn id="12" dur="1" fill="hold">
                                          <p:stCondLst>
                                            <p:cond delay="0"/>
                                          </p:stCondLst>
                                        </p:cTn>
                                        <p:tgtEl>
                                          <p:spTgt spid="104">
                                            <p:txEl>
                                              <p:pRg st="1" end="1"/>
                                            </p:txEl>
                                          </p:spTgt>
                                        </p:tgtEl>
                                        <p:attrNameLst>
                                          <p:attrName>style.visibility</p:attrName>
                                        </p:attrNameLst>
                                      </p:cBhvr>
                                      <p:to>
                                        <p:strVal val="visible"/>
                                      </p:to>
                                    </p:set>
                                    <p:animEffect transition="in" filter="fade">
                                      <p:cBhvr>
                                        <p:cTn id="13" dur="1000"/>
                                        <p:tgtEl>
                                          <p:spTgt spid="104">
                                            <p:txEl>
                                              <p:pRg st="1" end="1"/>
                                            </p:txEl>
                                          </p:spTgt>
                                        </p:tgtEl>
                                      </p:cBhvr>
                                    </p:animEffect>
                                    <p:anim calcmode="lin" valueType="num">
                                      <p:cBhvr>
                                        <p:cTn id="14" dur="1000" fill="hold"/>
                                        <p:tgtEl>
                                          <p:spTgt spid="104">
                                            <p:txEl>
                                              <p:pRg st="1" end="1"/>
                                            </p:txEl>
                                          </p:spTgt>
                                        </p:tgtEl>
                                        <p:attrNameLst>
                                          <p:attrName>ppt_x</p:attrName>
                                        </p:attrNameLst>
                                      </p:cBhvr>
                                      <p:tavLst>
                                        <p:tav tm="0">
                                          <p:val>
                                            <p:strVal val="#ppt_x"/>
                                          </p:val>
                                        </p:tav>
                                        <p:tav tm="100000">
                                          <p:val>
                                            <p:strVal val="#ppt_x"/>
                                          </p:val>
                                        </p:tav>
                                      </p:tavLst>
                                    </p:anim>
                                    <p:anim calcmode="lin" valueType="num">
                                      <p:cBhvr>
                                        <p:cTn id="15" dur="1000" fill="hold"/>
                                        <p:tgtEl>
                                          <p:spTgt spid="104">
                                            <p:txEl>
                                              <p:pRg st="1" end="1"/>
                                            </p:txEl>
                                          </p:spTgt>
                                        </p:tgtEl>
                                        <p:attrNameLst>
                                          <p:attrName>ppt_y</p:attrName>
                                        </p:attrNameLst>
                                      </p:cBhvr>
                                      <p:tavLst>
                                        <p:tav tm="0">
                                          <p:val>
                                            <p:strVal val="#ppt_y+.1"/>
                                          </p:val>
                                        </p:tav>
                                        <p:tav tm="100000">
                                          <p:val>
                                            <p:strVal val="#ppt_y"/>
                                          </p:val>
                                        </p:tav>
                                      </p:tavLst>
                                    </p:anim>
                                  </p:childTnLst>
                                </p:cTn>
                              </p:par>
                            </p:childTnLst>
                          </p:cTn>
                        </p:par>
                        <p:par>
                          <p:cTn id="16" fill="hold">
                            <p:stCondLst>
                              <p:cond delay="2000"/>
                            </p:stCondLst>
                            <p:childTnLst>
                              <p:par>
                                <p:cTn id="17" presetID="42" presetClass="entr" presetSubtype="0" fill="hold" grpId="0" nodeType="afterEffect">
                                  <p:stCondLst>
                                    <p:cond delay="0"/>
                                  </p:stCondLst>
                                  <p:childTnLst>
                                    <p:set>
                                      <p:cBhvr>
                                        <p:cTn id="18" dur="1" fill="hold">
                                          <p:stCondLst>
                                            <p:cond delay="0"/>
                                          </p:stCondLst>
                                        </p:cTn>
                                        <p:tgtEl>
                                          <p:spTgt spid="104">
                                            <p:txEl>
                                              <p:pRg st="2" end="2"/>
                                            </p:txEl>
                                          </p:spTgt>
                                        </p:tgtEl>
                                        <p:attrNameLst>
                                          <p:attrName>style.visibility</p:attrName>
                                        </p:attrNameLst>
                                      </p:cBhvr>
                                      <p:to>
                                        <p:strVal val="visible"/>
                                      </p:to>
                                    </p:set>
                                    <p:animEffect transition="in" filter="fade">
                                      <p:cBhvr>
                                        <p:cTn id="19" dur="1000"/>
                                        <p:tgtEl>
                                          <p:spTgt spid="104">
                                            <p:txEl>
                                              <p:pRg st="2" end="2"/>
                                            </p:txEl>
                                          </p:spTgt>
                                        </p:tgtEl>
                                      </p:cBhvr>
                                    </p:animEffect>
                                    <p:anim calcmode="lin" valueType="num">
                                      <p:cBhvr>
                                        <p:cTn id="20" dur="1000" fill="hold"/>
                                        <p:tgtEl>
                                          <p:spTgt spid="104">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104">
                                            <p:txEl>
                                              <p:pRg st="2" end="2"/>
                                            </p:txEl>
                                          </p:spTgt>
                                        </p:tgtEl>
                                        <p:attrNameLst>
                                          <p:attrName>ppt_y</p:attrName>
                                        </p:attrNameLst>
                                      </p:cBhvr>
                                      <p:tavLst>
                                        <p:tav tm="0">
                                          <p:val>
                                            <p:strVal val="#ppt_y+.1"/>
                                          </p:val>
                                        </p:tav>
                                        <p:tav tm="100000">
                                          <p:val>
                                            <p:strVal val="#ppt_y"/>
                                          </p:val>
                                        </p:tav>
                                      </p:tavLst>
                                    </p:anim>
                                  </p:childTnLst>
                                </p:cTn>
                              </p:par>
                            </p:childTnLst>
                          </p:cTn>
                        </p:par>
                        <p:par>
                          <p:cTn id="22" fill="hold">
                            <p:stCondLst>
                              <p:cond delay="3000"/>
                            </p:stCondLst>
                            <p:childTnLst>
                              <p:par>
                                <p:cTn id="23" presetID="42" presetClass="entr" presetSubtype="0" fill="hold" grpId="0" nodeType="afterEffect">
                                  <p:stCondLst>
                                    <p:cond delay="0"/>
                                  </p:stCondLst>
                                  <p:childTnLst>
                                    <p:set>
                                      <p:cBhvr>
                                        <p:cTn id="24" dur="1" fill="hold">
                                          <p:stCondLst>
                                            <p:cond delay="0"/>
                                          </p:stCondLst>
                                        </p:cTn>
                                        <p:tgtEl>
                                          <p:spTgt spid="104">
                                            <p:txEl>
                                              <p:pRg st="3" end="3"/>
                                            </p:txEl>
                                          </p:spTgt>
                                        </p:tgtEl>
                                        <p:attrNameLst>
                                          <p:attrName>style.visibility</p:attrName>
                                        </p:attrNameLst>
                                      </p:cBhvr>
                                      <p:to>
                                        <p:strVal val="visible"/>
                                      </p:to>
                                    </p:set>
                                    <p:animEffect transition="in" filter="fade">
                                      <p:cBhvr>
                                        <p:cTn id="25" dur="1000"/>
                                        <p:tgtEl>
                                          <p:spTgt spid="104">
                                            <p:txEl>
                                              <p:pRg st="3" end="3"/>
                                            </p:txEl>
                                          </p:spTgt>
                                        </p:tgtEl>
                                      </p:cBhvr>
                                    </p:animEffect>
                                    <p:anim calcmode="lin" valueType="num">
                                      <p:cBhvr>
                                        <p:cTn id="26" dur="1000" fill="hold"/>
                                        <p:tgtEl>
                                          <p:spTgt spid="104">
                                            <p:txEl>
                                              <p:pRg st="3" end="3"/>
                                            </p:txEl>
                                          </p:spTgt>
                                        </p:tgtEl>
                                        <p:attrNameLst>
                                          <p:attrName>ppt_x</p:attrName>
                                        </p:attrNameLst>
                                      </p:cBhvr>
                                      <p:tavLst>
                                        <p:tav tm="0">
                                          <p:val>
                                            <p:strVal val="#ppt_x"/>
                                          </p:val>
                                        </p:tav>
                                        <p:tav tm="100000">
                                          <p:val>
                                            <p:strVal val="#ppt_x"/>
                                          </p:val>
                                        </p:tav>
                                      </p:tavLst>
                                    </p:anim>
                                    <p:anim calcmode="lin" valueType="num">
                                      <p:cBhvr>
                                        <p:cTn id="27" dur="1000" fill="hold"/>
                                        <p:tgtEl>
                                          <p:spTgt spid="104">
                                            <p:txEl>
                                              <p:pRg st="3" end="3"/>
                                            </p:txEl>
                                          </p:spTgt>
                                        </p:tgtEl>
                                        <p:attrNameLst>
                                          <p:attrName>ppt_y</p:attrName>
                                        </p:attrNameLst>
                                      </p:cBhvr>
                                      <p:tavLst>
                                        <p:tav tm="0">
                                          <p:val>
                                            <p:strVal val="#ppt_y+.1"/>
                                          </p:val>
                                        </p:tav>
                                        <p:tav tm="100000">
                                          <p:val>
                                            <p:strVal val="#ppt_y"/>
                                          </p:val>
                                        </p:tav>
                                      </p:tavLst>
                                    </p:anim>
                                  </p:childTnLst>
                                </p:cTn>
                              </p:par>
                            </p:childTnLst>
                          </p:cTn>
                        </p:par>
                        <p:par>
                          <p:cTn id="28" fill="hold">
                            <p:stCondLst>
                              <p:cond delay="4000"/>
                            </p:stCondLst>
                            <p:childTnLst>
                              <p:par>
                                <p:cTn id="29" presetID="42" presetClass="entr" presetSubtype="0" fill="hold" grpId="0" nodeType="afterEffect">
                                  <p:stCondLst>
                                    <p:cond delay="0"/>
                                  </p:stCondLst>
                                  <p:childTnLst>
                                    <p:set>
                                      <p:cBhvr>
                                        <p:cTn id="30" dur="1" fill="hold">
                                          <p:stCondLst>
                                            <p:cond delay="0"/>
                                          </p:stCondLst>
                                        </p:cTn>
                                        <p:tgtEl>
                                          <p:spTgt spid="104">
                                            <p:txEl>
                                              <p:pRg st="4" end="4"/>
                                            </p:txEl>
                                          </p:spTgt>
                                        </p:tgtEl>
                                        <p:attrNameLst>
                                          <p:attrName>style.visibility</p:attrName>
                                        </p:attrNameLst>
                                      </p:cBhvr>
                                      <p:to>
                                        <p:strVal val="visible"/>
                                      </p:to>
                                    </p:set>
                                    <p:animEffect transition="in" filter="fade">
                                      <p:cBhvr>
                                        <p:cTn id="31" dur="1000"/>
                                        <p:tgtEl>
                                          <p:spTgt spid="104">
                                            <p:txEl>
                                              <p:pRg st="4" end="4"/>
                                            </p:txEl>
                                          </p:spTgt>
                                        </p:tgtEl>
                                      </p:cBhvr>
                                    </p:animEffect>
                                    <p:anim calcmode="lin" valueType="num">
                                      <p:cBhvr>
                                        <p:cTn id="32" dur="1000" fill="hold"/>
                                        <p:tgtEl>
                                          <p:spTgt spid="104">
                                            <p:txEl>
                                              <p:pRg st="4" end="4"/>
                                            </p:txEl>
                                          </p:spTgt>
                                        </p:tgtEl>
                                        <p:attrNameLst>
                                          <p:attrName>ppt_x</p:attrName>
                                        </p:attrNameLst>
                                      </p:cBhvr>
                                      <p:tavLst>
                                        <p:tav tm="0">
                                          <p:val>
                                            <p:strVal val="#ppt_x"/>
                                          </p:val>
                                        </p:tav>
                                        <p:tav tm="100000">
                                          <p:val>
                                            <p:strVal val="#ppt_x"/>
                                          </p:val>
                                        </p:tav>
                                      </p:tavLst>
                                    </p:anim>
                                    <p:anim calcmode="lin" valueType="num">
                                      <p:cBhvr>
                                        <p:cTn id="33" dur="1000" fill="hold"/>
                                        <p:tgtEl>
                                          <p:spTgt spid="104">
                                            <p:txEl>
                                              <p:pRg st="4" end="4"/>
                                            </p:txEl>
                                          </p:spTgt>
                                        </p:tgtEl>
                                        <p:attrNameLst>
                                          <p:attrName>ppt_y</p:attrName>
                                        </p:attrNameLst>
                                      </p:cBhvr>
                                      <p:tavLst>
                                        <p:tav tm="0">
                                          <p:val>
                                            <p:strVal val="#ppt_y+.1"/>
                                          </p:val>
                                        </p:tav>
                                        <p:tav tm="100000">
                                          <p:val>
                                            <p:strVal val="#ppt_y"/>
                                          </p:val>
                                        </p:tav>
                                      </p:tavLst>
                                    </p:anim>
                                  </p:childTnLst>
                                </p:cTn>
                              </p:par>
                            </p:childTnLst>
                          </p:cTn>
                        </p:par>
                        <p:par>
                          <p:cTn id="34" fill="hold">
                            <p:stCondLst>
                              <p:cond delay="5000"/>
                            </p:stCondLst>
                            <p:childTnLst>
                              <p:par>
                                <p:cTn id="35" presetID="42" presetClass="entr" presetSubtype="0" fill="hold" grpId="0" nodeType="afterEffect">
                                  <p:stCondLst>
                                    <p:cond delay="0"/>
                                  </p:stCondLst>
                                  <p:childTnLst>
                                    <p:set>
                                      <p:cBhvr>
                                        <p:cTn id="36" dur="1" fill="hold">
                                          <p:stCondLst>
                                            <p:cond delay="0"/>
                                          </p:stCondLst>
                                        </p:cTn>
                                        <p:tgtEl>
                                          <p:spTgt spid="104">
                                            <p:txEl>
                                              <p:pRg st="5" end="5"/>
                                            </p:txEl>
                                          </p:spTgt>
                                        </p:tgtEl>
                                        <p:attrNameLst>
                                          <p:attrName>style.visibility</p:attrName>
                                        </p:attrNameLst>
                                      </p:cBhvr>
                                      <p:to>
                                        <p:strVal val="visible"/>
                                      </p:to>
                                    </p:set>
                                    <p:animEffect transition="in" filter="fade">
                                      <p:cBhvr>
                                        <p:cTn id="37" dur="1000"/>
                                        <p:tgtEl>
                                          <p:spTgt spid="104">
                                            <p:txEl>
                                              <p:pRg st="5" end="5"/>
                                            </p:txEl>
                                          </p:spTgt>
                                        </p:tgtEl>
                                      </p:cBhvr>
                                    </p:animEffect>
                                    <p:anim calcmode="lin" valueType="num">
                                      <p:cBhvr>
                                        <p:cTn id="38" dur="1000" fill="hold"/>
                                        <p:tgtEl>
                                          <p:spTgt spid="104">
                                            <p:txEl>
                                              <p:pRg st="5" end="5"/>
                                            </p:txEl>
                                          </p:spTgt>
                                        </p:tgtEl>
                                        <p:attrNameLst>
                                          <p:attrName>ppt_x</p:attrName>
                                        </p:attrNameLst>
                                      </p:cBhvr>
                                      <p:tavLst>
                                        <p:tav tm="0">
                                          <p:val>
                                            <p:strVal val="#ppt_x"/>
                                          </p:val>
                                        </p:tav>
                                        <p:tav tm="100000">
                                          <p:val>
                                            <p:strVal val="#ppt_x"/>
                                          </p:val>
                                        </p:tav>
                                      </p:tavLst>
                                    </p:anim>
                                    <p:anim calcmode="lin" valueType="num">
                                      <p:cBhvr>
                                        <p:cTn id="39" dur="1000" fill="hold"/>
                                        <p:tgtEl>
                                          <p:spTgt spid="104">
                                            <p:txEl>
                                              <p:pRg st="5" end="5"/>
                                            </p:txEl>
                                          </p:spTgt>
                                        </p:tgtEl>
                                        <p:attrNameLst>
                                          <p:attrName>ppt_y</p:attrName>
                                        </p:attrNameLst>
                                      </p:cBhvr>
                                      <p:tavLst>
                                        <p:tav tm="0">
                                          <p:val>
                                            <p:strVal val="#ppt_y+.1"/>
                                          </p:val>
                                        </p:tav>
                                        <p:tav tm="100000">
                                          <p:val>
                                            <p:strVal val="#ppt_y"/>
                                          </p:val>
                                        </p:tav>
                                      </p:tavLst>
                                    </p:anim>
                                  </p:childTnLst>
                                </p:cTn>
                              </p:par>
                            </p:childTnLst>
                          </p:cTn>
                        </p:par>
                        <p:par>
                          <p:cTn id="40" fill="hold">
                            <p:stCondLst>
                              <p:cond delay="6000"/>
                            </p:stCondLst>
                            <p:childTnLst>
                              <p:par>
                                <p:cTn id="41" presetID="42" presetClass="entr" presetSubtype="0" fill="hold" grpId="0" nodeType="afterEffect">
                                  <p:stCondLst>
                                    <p:cond delay="0"/>
                                  </p:stCondLst>
                                  <p:childTnLst>
                                    <p:set>
                                      <p:cBhvr>
                                        <p:cTn id="42" dur="1" fill="hold">
                                          <p:stCondLst>
                                            <p:cond delay="0"/>
                                          </p:stCondLst>
                                        </p:cTn>
                                        <p:tgtEl>
                                          <p:spTgt spid="104">
                                            <p:txEl>
                                              <p:pRg st="6" end="6"/>
                                            </p:txEl>
                                          </p:spTgt>
                                        </p:tgtEl>
                                        <p:attrNameLst>
                                          <p:attrName>style.visibility</p:attrName>
                                        </p:attrNameLst>
                                      </p:cBhvr>
                                      <p:to>
                                        <p:strVal val="visible"/>
                                      </p:to>
                                    </p:set>
                                    <p:animEffect transition="in" filter="fade">
                                      <p:cBhvr>
                                        <p:cTn id="43" dur="1000"/>
                                        <p:tgtEl>
                                          <p:spTgt spid="104">
                                            <p:txEl>
                                              <p:pRg st="6" end="6"/>
                                            </p:txEl>
                                          </p:spTgt>
                                        </p:tgtEl>
                                      </p:cBhvr>
                                    </p:animEffect>
                                    <p:anim calcmode="lin" valueType="num">
                                      <p:cBhvr>
                                        <p:cTn id="44" dur="1000" fill="hold"/>
                                        <p:tgtEl>
                                          <p:spTgt spid="104">
                                            <p:txEl>
                                              <p:pRg st="6" end="6"/>
                                            </p:txEl>
                                          </p:spTgt>
                                        </p:tgtEl>
                                        <p:attrNameLst>
                                          <p:attrName>ppt_x</p:attrName>
                                        </p:attrNameLst>
                                      </p:cBhvr>
                                      <p:tavLst>
                                        <p:tav tm="0">
                                          <p:val>
                                            <p:strVal val="#ppt_x"/>
                                          </p:val>
                                        </p:tav>
                                        <p:tav tm="100000">
                                          <p:val>
                                            <p:strVal val="#ppt_x"/>
                                          </p:val>
                                        </p:tav>
                                      </p:tavLst>
                                    </p:anim>
                                    <p:anim calcmode="lin" valueType="num">
                                      <p:cBhvr>
                                        <p:cTn id="45" dur="1000" fill="hold"/>
                                        <p:tgtEl>
                                          <p:spTgt spid="104">
                                            <p:txEl>
                                              <p:pRg st="6" end="6"/>
                                            </p:txEl>
                                          </p:spTgt>
                                        </p:tgtEl>
                                        <p:attrNameLst>
                                          <p:attrName>ppt_y</p:attrName>
                                        </p:attrNameLst>
                                      </p:cBhvr>
                                      <p:tavLst>
                                        <p:tav tm="0">
                                          <p:val>
                                            <p:strVal val="#ppt_y+.1"/>
                                          </p:val>
                                        </p:tav>
                                        <p:tav tm="100000">
                                          <p:val>
                                            <p:strVal val="#ppt_y"/>
                                          </p:val>
                                        </p:tav>
                                      </p:tavLst>
                                    </p:anim>
                                  </p:childTnLst>
                                </p:cTn>
                              </p:par>
                            </p:childTnLst>
                          </p:cTn>
                        </p:par>
                        <p:par>
                          <p:cTn id="46" fill="hold">
                            <p:stCondLst>
                              <p:cond delay="7000"/>
                            </p:stCondLst>
                            <p:childTnLst>
                              <p:par>
                                <p:cTn id="47" presetID="42" presetClass="entr" presetSubtype="0" fill="hold" grpId="0" nodeType="afterEffect">
                                  <p:stCondLst>
                                    <p:cond delay="0"/>
                                  </p:stCondLst>
                                  <p:childTnLst>
                                    <p:set>
                                      <p:cBhvr>
                                        <p:cTn id="48" dur="1" fill="hold">
                                          <p:stCondLst>
                                            <p:cond delay="0"/>
                                          </p:stCondLst>
                                        </p:cTn>
                                        <p:tgtEl>
                                          <p:spTgt spid="104">
                                            <p:txEl>
                                              <p:pRg st="8" end="8"/>
                                            </p:txEl>
                                          </p:spTgt>
                                        </p:tgtEl>
                                        <p:attrNameLst>
                                          <p:attrName>style.visibility</p:attrName>
                                        </p:attrNameLst>
                                      </p:cBhvr>
                                      <p:to>
                                        <p:strVal val="visible"/>
                                      </p:to>
                                    </p:set>
                                    <p:animEffect transition="in" filter="fade">
                                      <p:cBhvr>
                                        <p:cTn id="49" dur="1000"/>
                                        <p:tgtEl>
                                          <p:spTgt spid="104">
                                            <p:txEl>
                                              <p:pRg st="8" end="8"/>
                                            </p:txEl>
                                          </p:spTgt>
                                        </p:tgtEl>
                                      </p:cBhvr>
                                    </p:animEffect>
                                    <p:anim calcmode="lin" valueType="num">
                                      <p:cBhvr>
                                        <p:cTn id="50" dur="1000" fill="hold"/>
                                        <p:tgtEl>
                                          <p:spTgt spid="104">
                                            <p:txEl>
                                              <p:pRg st="8" end="8"/>
                                            </p:txEl>
                                          </p:spTgt>
                                        </p:tgtEl>
                                        <p:attrNameLst>
                                          <p:attrName>ppt_x</p:attrName>
                                        </p:attrNameLst>
                                      </p:cBhvr>
                                      <p:tavLst>
                                        <p:tav tm="0">
                                          <p:val>
                                            <p:strVal val="#ppt_x"/>
                                          </p:val>
                                        </p:tav>
                                        <p:tav tm="100000">
                                          <p:val>
                                            <p:strVal val="#ppt_x"/>
                                          </p:val>
                                        </p:tav>
                                      </p:tavLst>
                                    </p:anim>
                                    <p:anim calcmode="lin" valueType="num">
                                      <p:cBhvr>
                                        <p:cTn id="51" dur="1000" fill="hold"/>
                                        <p:tgtEl>
                                          <p:spTgt spid="104">
                                            <p:txEl>
                                              <p:pRg st="8" end="8"/>
                                            </p:txEl>
                                          </p:spTgt>
                                        </p:tgtEl>
                                        <p:attrNameLst>
                                          <p:attrName>ppt_y</p:attrName>
                                        </p:attrNameLst>
                                      </p:cBhvr>
                                      <p:tavLst>
                                        <p:tav tm="0">
                                          <p:val>
                                            <p:strVal val="#ppt_y+.1"/>
                                          </p:val>
                                        </p:tav>
                                        <p:tav tm="100000">
                                          <p:val>
                                            <p:strVal val="#ppt_y"/>
                                          </p:val>
                                        </p:tav>
                                      </p:tavLst>
                                    </p:anim>
                                  </p:childTnLst>
                                </p:cTn>
                              </p:par>
                            </p:childTnLst>
                          </p:cTn>
                        </p:par>
                        <p:par>
                          <p:cTn id="52" fill="hold">
                            <p:stCondLst>
                              <p:cond delay="8000"/>
                            </p:stCondLst>
                            <p:childTnLst>
                              <p:par>
                                <p:cTn id="53" presetID="42" presetClass="entr" presetSubtype="0" fill="hold" grpId="0" nodeType="afterEffect">
                                  <p:stCondLst>
                                    <p:cond delay="0"/>
                                  </p:stCondLst>
                                  <p:childTnLst>
                                    <p:set>
                                      <p:cBhvr>
                                        <p:cTn id="54" dur="1" fill="hold">
                                          <p:stCondLst>
                                            <p:cond delay="0"/>
                                          </p:stCondLst>
                                        </p:cTn>
                                        <p:tgtEl>
                                          <p:spTgt spid="104">
                                            <p:txEl>
                                              <p:pRg st="9" end="9"/>
                                            </p:txEl>
                                          </p:spTgt>
                                        </p:tgtEl>
                                        <p:attrNameLst>
                                          <p:attrName>style.visibility</p:attrName>
                                        </p:attrNameLst>
                                      </p:cBhvr>
                                      <p:to>
                                        <p:strVal val="visible"/>
                                      </p:to>
                                    </p:set>
                                    <p:animEffect transition="in" filter="fade">
                                      <p:cBhvr>
                                        <p:cTn id="55" dur="1000"/>
                                        <p:tgtEl>
                                          <p:spTgt spid="104">
                                            <p:txEl>
                                              <p:pRg st="9" end="9"/>
                                            </p:txEl>
                                          </p:spTgt>
                                        </p:tgtEl>
                                      </p:cBhvr>
                                    </p:animEffect>
                                    <p:anim calcmode="lin" valueType="num">
                                      <p:cBhvr>
                                        <p:cTn id="56" dur="1000" fill="hold"/>
                                        <p:tgtEl>
                                          <p:spTgt spid="104">
                                            <p:txEl>
                                              <p:pRg st="9" end="9"/>
                                            </p:txEl>
                                          </p:spTgt>
                                        </p:tgtEl>
                                        <p:attrNameLst>
                                          <p:attrName>ppt_x</p:attrName>
                                        </p:attrNameLst>
                                      </p:cBhvr>
                                      <p:tavLst>
                                        <p:tav tm="0">
                                          <p:val>
                                            <p:strVal val="#ppt_x"/>
                                          </p:val>
                                        </p:tav>
                                        <p:tav tm="100000">
                                          <p:val>
                                            <p:strVal val="#ppt_x"/>
                                          </p:val>
                                        </p:tav>
                                      </p:tavLst>
                                    </p:anim>
                                    <p:anim calcmode="lin" valueType="num">
                                      <p:cBhvr>
                                        <p:cTn id="57" dur="1000" fill="hold"/>
                                        <p:tgtEl>
                                          <p:spTgt spid="104">
                                            <p:txEl>
                                              <p:pRg st="9" end="9"/>
                                            </p:txEl>
                                          </p:spTgt>
                                        </p:tgtEl>
                                        <p:attrNameLst>
                                          <p:attrName>ppt_y</p:attrName>
                                        </p:attrNameLst>
                                      </p:cBhvr>
                                      <p:tavLst>
                                        <p:tav tm="0">
                                          <p:val>
                                            <p:strVal val="#ppt_y+.1"/>
                                          </p:val>
                                        </p:tav>
                                        <p:tav tm="100000">
                                          <p:val>
                                            <p:strVal val="#ppt_y"/>
                                          </p:val>
                                        </p:tav>
                                      </p:tavLst>
                                    </p:anim>
                                  </p:childTnLst>
                                </p:cTn>
                              </p:par>
                            </p:childTnLst>
                          </p:cTn>
                        </p:par>
                        <p:par>
                          <p:cTn id="58" fill="hold">
                            <p:stCondLst>
                              <p:cond delay="9000"/>
                            </p:stCondLst>
                            <p:childTnLst>
                              <p:par>
                                <p:cTn id="59" presetID="42" presetClass="entr" presetSubtype="0" fill="hold" grpId="0" nodeType="afterEffect">
                                  <p:stCondLst>
                                    <p:cond delay="0"/>
                                  </p:stCondLst>
                                  <p:childTnLst>
                                    <p:set>
                                      <p:cBhvr>
                                        <p:cTn id="60" dur="1" fill="hold">
                                          <p:stCondLst>
                                            <p:cond delay="0"/>
                                          </p:stCondLst>
                                        </p:cTn>
                                        <p:tgtEl>
                                          <p:spTgt spid="104">
                                            <p:txEl>
                                              <p:pRg st="10" end="10"/>
                                            </p:txEl>
                                          </p:spTgt>
                                        </p:tgtEl>
                                        <p:attrNameLst>
                                          <p:attrName>style.visibility</p:attrName>
                                        </p:attrNameLst>
                                      </p:cBhvr>
                                      <p:to>
                                        <p:strVal val="visible"/>
                                      </p:to>
                                    </p:set>
                                    <p:animEffect transition="in" filter="fade">
                                      <p:cBhvr>
                                        <p:cTn id="61" dur="1000"/>
                                        <p:tgtEl>
                                          <p:spTgt spid="104">
                                            <p:txEl>
                                              <p:pRg st="10" end="10"/>
                                            </p:txEl>
                                          </p:spTgt>
                                        </p:tgtEl>
                                      </p:cBhvr>
                                    </p:animEffect>
                                    <p:anim calcmode="lin" valueType="num">
                                      <p:cBhvr>
                                        <p:cTn id="62" dur="1000" fill="hold"/>
                                        <p:tgtEl>
                                          <p:spTgt spid="104">
                                            <p:txEl>
                                              <p:pRg st="10" end="10"/>
                                            </p:txEl>
                                          </p:spTgt>
                                        </p:tgtEl>
                                        <p:attrNameLst>
                                          <p:attrName>ppt_x</p:attrName>
                                        </p:attrNameLst>
                                      </p:cBhvr>
                                      <p:tavLst>
                                        <p:tav tm="0">
                                          <p:val>
                                            <p:strVal val="#ppt_x"/>
                                          </p:val>
                                        </p:tav>
                                        <p:tav tm="100000">
                                          <p:val>
                                            <p:strVal val="#ppt_x"/>
                                          </p:val>
                                        </p:tav>
                                      </p:tavLst>
                                    </p:anim>
                                    <p:anim calcmode="lin" valueType="num">
                                      <p:cBhvr>
                                        <p:cTn id="63" dur="1000" fill="hold"/>
                                        <p:tgtEl>
                                          <p:spTgt spid="104">
                                            <p:txEl>
                                              <p:pRg st="10" end="10"/>
                                            </p:txEl>
                                          </p:spTgt>
                                        </p:tgtEl>
                                        <p:attrNameLst>
                                          <p:attrName>ppt_y</p:attrName>
                                        </p:attrNameLst>
                                      </p:cBhvr>
                                      <p:tavLst>
                                        <p:tav tm="0">
                                          <p:val>
                                            <p:strVal val="#ppt_y+.1"/>
                                          </p:val>
                                        </p:tav>
                                        <p:tav tm="100000">
                                          <p:val>
                                            <p:strVal val="#ppt_y"/>
                                          </p:val>
                                        </p:tav>
                                      </p:tavLst>
                                    </p:anim>
                                  </p:childTnLst>
                                </p:cTn>
                              </p:par>
                            </p:childTnLst>
                          </p:cTn>
                        </p:par>
                        <p:par>
                          <p:cTn id="64" fill="hold">
                            <p:stCondLst>
                              <p:cond delay="10000"/>
                            </p:stCondLst>
                            <p:childTnLst>
                              <p:par>
                                <p:cTn id="65" presetID="42" presetClass="entr" presetSubtype="0" fill="hold" grpId="0" nodeType="afterEffect">
                                  <p:stCondLst>
                                    <p:cond delay="0"/>
                                  </p:stCondLst>
                                  <p:childTnLst>
                                    <p:set>
                                      <p:cBhvr>
                                        <p:cTn id="66" dur="1" fill="hold">
                                          <p:stCondLst>
                                            <p:cond delay="0"/>
                                          </p:stCondLst>
                                        </p:cTn>
                                        <p:tgtEl>
                                          <p:spTgt spid="104">
                                            <p:txEl>
                                              <p:pRg st="11" end="11"/>
                                            </p:txEl>
                                          </p:spTgt>
                                        </p:tgtEl>
                                        <p:attrNameLst>
                                          <p:attrName>style.visibility</p:attrName>
                                        </p:attrNameLst>
                                      </p:cBhvr>
                                      <p:to>
                                        <p:strVal val="visible"/>
                                      </p:to>
                                    </p:set>
                                    <p:animEffect transition="in" filter="fade">
                                      <p:cBhvr>
                                        <p:cTn id="67" dur="1000"/>
                                        <p:tgtEl>
                                          <p:spTgt spid="104">
                                            <p:txEl>
                                              <p:pRg st="11" end="11"/>
                                            </p:txEl>
                                          </p:spTgt>
                                        </p:tgtEl>
                                      </p:cBhvr>
                                    </p:animEffect>
                                    <p:anim calcmode="lin" valueType="num">
                                      <p:cBhvr>
                                        <p:cTn id="68" dur="1000" fill="hold"/>
                                        <p:tgtEl>
                                          <p:spTgt spid="104">
                                            <p:txEl>
                                              <p:pRg st="11" end="11"/>
                                            </p:txEl>
                                          </p:spTgt>
                                        </p:tgtEl>
                                        <p:attrNameLst>
                                          <p:attrName>ppt_x</p:attrName>
                                        </p:attrNameLst>
                                      </p:cBhvr>
                                      <p:tavLst>
                                        <p:tav tm="0">
                                          <p:val>
                                            <p:strVal val="#ppt_x"/>
                                          </p:val>
                                        </p:tav>
                                        <p:tav tm="100000">
                                          <p:val>
                                            <p:strVal val="#ppt_x"/>
                                          </p:val>
                                        </p:tav>
                                      </p:tavLst>
                                    </p:anim>
                                    <p:anim calcmode="lin" valueType="num">
                                      <p:cBhvr>
                                        <p:cTn id="69" dur="1000" fill="hold"/>
                                        <p:tgtEl>
                                          <p:spTgt spid="104">
                                            <p:txEl>
                                              <p:pRg st="11" end="11"/>
                                            </p:txEl>
                                          </p:spTgt>
                                        </p:tgtEl>
                                        <p:attrNameLst>
                                          <p:attrName>ppt_y</p:attrName>
                                        </p:attrNameLst>
                                      </p:cBhvr>
                                      <p:tavLst>
                                        <p:tav tm="0">
                                          <p:val>
                                            <p:strVal val="#ppt_y+.1"/>
                                          </p:val>
                                        </p:tav>
                                        <p:tav tm="100000">
                                          <p:val>
                                            <p:strVal val="#ppt_y"/>
                                          </p:val>
                                        </p:tav>
                                      </p:tavLst>
                                    </p:anim>
                                  </p:childTnLst>
                                </p:cTn>
                              </p:par>
                            </p:childTnLst>
                          </p:cTn>
                        </p:par>
                        <p:par>
                          <p:cTn id="70" fill="hold">
                            <p:stCondLst>
                              <p:cond delay="11000"/>
                            </p:stCondLst>
                            <p:childTnLst>
                              <p:par>
                                <p:cTn id="71" presetID="42" presetClass="entr" presetSubtype="0" fill="hold" grpId="0" nodeType="afterEffect">
                                  <p:stCondLst>
                                    <p:cond delay="0"/>
                                  </p:stCondLst>
                                  <p:childTnLst>
                                    <p:set>
                                      <p:cBhvr>
                                        <p:cTn id="72" dur="1" fill="hold">
                                          <p:stCondLst>
                                            <p:cond delay="0"/>
                                          </p:stCondLst>
                                        </p:cTn>
                                        <p:tgtEl>
                                          <p:spTgt spid="104">
                                            <p:txEl>
                                              <p:pRg st="12" end="12"/>
                                            </p:txEl>
                                          </p:spTgt>
                                        </p:tgtEl>
                                        <p:attrNameLst>
                                          <p:attrName>style.visibility</p:attrName>
                                        </p:attrNameLst>
                                      </p:cBhvr>
                                      <p:to>
                                        <p:strVal val="visible"/>
                                      </p:to>
                                    </p:set>
                                    <p:animEffect transition="in" filter="fade">
                                      <p:cBhvr>
                                        <p:cTn id="73" dur="1000"/>
                                        <p:tgtEl>
                                          <p:spTgt spid="104">
                                            <p:txEl>
                                              <p:pRg st="12" end="12"/>
                                            </p:txEl>
                                          </p:spTgt>
                                        </p:tgtEl>
                                      </p:cBhvr>
                                    </p:animEffect>
                                    <p:anim calcmode="lin" valueType="num">
                                      <p:cBhvr>
                                        <p:cTn id="74" dur="1000" fill="hold"/>
                                        <p:tgtEl>
                                          <p:spTgt spid="104">
                                            <p:txEl>
                                              <p:pRg st="12" end="12"/>
                                            </p:txEl>
                                          </p:spTgt>
                                        </p:tgtEl>
                                        <p:attrNameLst>
                                          <p:attrName>ppt_x</p:attrName>
                                        </p:attrNameLst>
                                      </p:cBhvr>
                                      <p:tavLst>
                                        <p:tav tm="0">
                                          <p:val>
                                            <p:strVal val="#ppt_x"/>
                                          </p:val>
                                        </p:tav>
                                        <p:tav tm="100000">
                                          <p:val>
                                            <p:strVal val="#ppt_x"/>
                                          </p:val>
                                        </p:tav>
                                      </p:tavLst>
                                    </p:anim>
                                    <p:anim calcmode="lin" valueType="num">
                                      <p:cBhvr>
                                        <p:cTn id="75" dur="1000" fill="hold"/>
                                        <p:tgtEl>
                                          <p:spTgt spid="104">
                                            <p:txEl>
                                              <p:pRg st="12" end="1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2"/>
          <p:cNvSpPr txBox="1">
            <a:spLocks noGrp="1"/>
          </p:cNvSpPr>
          <p:nvPr>
            <p:ph type="title"/>
          </p:nvPr>
        </p:nvSpPr>
        <p:spPr>
          <a:xfrm>
            <a:off x="0" y="0"/>
            <a:ext cx="9144000" cy="1066800"/>
          </a:xfrm>
          <a:prstGeom prst="rect">
            <a:avLst/>
          </a:prstGeom>
          <a:ln/>
        </p:spPr>
        <p:style>
          <a:lnRef idx="0">
            <a:schemeClr val="accent3"/>
          </a:lnRef>
          <a:fillRef idx="3">
            <a:schemeClr val="accent3"/>
          </a:fillRef>
          <a:effectRef idx="3">
            <a:schemeClr val="accent3"/>
          </a:effectRef>
          <a:fontRef idx="minor">
            <a:schemeClr val="lt1"/>
          </a:fontRef>
        </p:style>
        <p:txBody>
          <a:bodyPr spcFirstLastPara="1" wrap="square" lIns="91425" tIns="45700" rIns="91425" bIns="45700" anchor="ctr" anchorCtr="0">
            <a:normAutofit fontScale="90000"/>
          </a:bodyPr>
          <a:lstStyle/>
          <a:p>
            <a:pPr lvl="0">
              <a:defRPr/>
            </a:pPr>
            <a:r>
              <a:rPr lang="en-US" b="1" dirty="0">
                <a:ln w="1905"/>
                <a:solidFill>
                  <a:schemeClr val="tx1"/>
                </a:solidFill>
                <a:effectLst>
                  <a:innerShdw blurRad="69850" dist="43180" dir="5400000">
                    <a:srgbClr val="000000">
                      <a:alpha val="65000"/>
                    </a:srgbClr>
                  </a:innerShdw>
                </a:effectLst>
              </a:rPr>
              <a:t>Linked File Allocation (Chained File Allocation)</a:t>
            </a:r>
          </a:p>
        </p:txBody>
      </p:sp>
      <p:sp>
        <p:nvSpPr>
          <p:cNvPr id="104" name="Google Shape;104;p2"/>
          <p:cNvSpPr txBox="1">
            <a:spLocks noGrp="1"/>
          </p:cNvSpPr>
          <p:nvPr>
            <p:ph type="body" idx="1"/>
          </p:nvPr>
        </p:nvSpPr>
        <p:spPr>
          <a:xfrm>
            <a:off x="0" y="1047750"/>
            <a:ext cx="9144000" cy="5581650"/>
          </a:xfrm>
          <a:prstGeom prst="rect">
            <a:avLst/>
          </a:prstGeom>
          <a:noFill/>
          <a:ln>
            <a:noFill/>
          </a:ln>
        </p:spPr>
        <p:txBody>
          <a:bodyPr spcFirstLastPara="1" wrap="square" lIns="91425" tIns="45700" rIns="91425" bIns="45700" anchor="t" anchorCtr="0">
            <a:noAutofit/>
          </a:bodyPr>
          <a:lstStyle/>
          <a:p>
            <a:pPr algn="just"/>
            <a:r>
              <a:rPr lang="en-US" sz="2400" dirty="0" smtClean="0"/>
              <a:t>With linked allocation, each file is a linked list of disk blocks; the disk blocks may be scattered any where on the disk. The directory contains a pointer to the first (and last) blocks of the file. For example a file of 5 blocks, which starts at block 9 might continue at block 16, then block 1, block 10, and finally block 25. Each block contains a pointer to the next block. These pointers are not made available to the user, thus if sector is 512 words and a disk address (the pointer) requires two words, then the user sees blocks of 510 words.</a:t>
            </a:r>
          </a:p>
          <a:p>
            <a:pPr algn="just"/>
            <a:endParaRPr lang="en-US" sz="2400" dirty="0" smtClean="0"/>
          </a:p>
          <a:p>
            <a:pPr algn="just"/>
            <a:r>
              <a:rPr lang="en-US" sz="2400" dirty="0" smtClean="0"/>
              <a:t>	Creating a file is easy. We simply create a new entry in the device directory. A write to a file removes first free block from free space list and write to it. This new block is then linked to the end of the file. To read a file, we simply read block by following the pointers from block to block. There is no external fragmentation with linked allocation</a:t>
            </a:r>
            <a:endParaRPr lang="en-US" sz="2400" dirty="0"/>
          </a:p>
        </p:txBody>
      </p:sp>
      <p:sp>
        <p:nvSpPr>
          <p:cNvPr id="105" name="Google Shape;105;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pPr marL="0" lvl="0" indent="0" algn="r" rtl="0">
                <a:spcBef>
                  <a:spcPts val="0"/>
                </a:spcBef>
                <a:spcAft>
                  <a:spcPts val="0"/>
                </a:spcAft>
                <a:buNone/>
              </a:pPr>
              <a:t>24</a:t>
            </a:fld>
            <a:endParaRPr dirty="0"/>
          </a:p>
        </p:txBody>
      </p:sp>
    </p:spTree>
    <p:extLst>
      <p:ext uri="{BB962C8B-B14F-4D97-AF65-F5344CB8AC3E}">
        <p14:creationId xmlns:p14="http://schemas.microsoft.com/office/powerpoint/2010/main" xmlns="" val="18690382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04">
                                            <p:txEl>
                                              <p:pRg st="0" end="0"/>
                                            </p:txEl>
                                          </p:spTgt>
                                        </p:tgtEl>
                                        <p:attrNameLst>
                                          <p:attrName>style.visibility</p:attrName>
                                        </p:attrNameLst>
                                      </p:cBhvr>
                                      <p:to>
                                        <p:strVal val="visible"/>
                                      </p:to>
                                    </p:set>
                                    <p:animEffect transition="in" filter="fade">
                                      <p:cBhvr>
                                        <p:cTn id="7" dur="1000"/>
                                        <p:tgtEl>
                                          <p:spTgt spid="104">
                                            <p:txEl>
                                              <p:pRg st="0" end="0"/>
                                            </p:txEl>
                                          </p:spTgt>
                                        </p:tgtEl>
                                      </p:cBhvr>
                                    </p:animEffect>
                                    <p:anim calcmode="lin" valueType="num">
                                      <p:cBhvr>
                                        <p:cTn id="8" dur="1000" fill="hold"/>
                                        <p:tgtEl>
                                          <p:spTgt spid="10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04">
                                            <p:txEl>
                                              <p:pRg st="0" end="0"/>
                                            </p:txEl>
                                          </p:spTgt>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grpId="0" nodeType="afterEffect">
                                  <p:stCondLst>
                                    <p:cond delay="0"/>
                                  </p:stCondLst>
                                  <p:childTnLst>
                                    <p:set>
                                      <p:cBhvr>
                                        <p:cTn id="12" dur="1" fill="hold">
                                          <p:stCondLst>
                                            <p:cond delay="0"/>
                                          </p:stCondLst>
                                        </p:cTn>
                                        <p:tgtEl>
                                          <p:spTgt spid="104">
                                            <p:txEl>
                                              <p:pRg st="2" end="2"/>
                                            </p:txEl>
                                          </p:spTgt>
                                        </p:tgtEl>
                                        <p:attrNameLst>
                                          <p:attrName>style.visibility</p:attrName>
                                        </p:attrNameLst>
                                      </p:cBhvr>
                                      <p:to>
                                        <p:strVal val="visible"/>
                                      </p:to>
                                    </p:set>
                                    <p:animEffect transition="in" filter="fade">
                                      <p:cBhvr>
                                        <p:cTn id="13" dur="1000"/>
                                        <p:tgtEl>
                                          <p:spTgt spid="104">
                                            <p:txEl>
                                              <p:pRg st="2" end="2"/>
                                            </p:txEl>
                                          </p:spTgt>
                                        </p:tgtEl>
                                      </p:cBhvr>
                                    </p:animEffect>
                                    <p:anim calcmode="lin" valueType="num">
                                      <p:cBhvr>
                                        <p:cTn id="14" dur="1000" fill="hold"/>
                                        <p:tgtEl>
                                          <p:spTgt spid="104">
                                            <p:txEl>
                                              <p:pRg st="2" end="2"/>
                                            </p:txEl>
                                          </p:spTgt>
                                        </p:tgtEl>
                                        <p:attrNameLst>
                                          <p:attrName>ppt_x</p:attrName>
                                        </p:attrNameLst>
                                      </p:cBhvr>
                                      <p:tavLst>
                                        <p:tav tm="0">
                                          <p:val>
                                            <p:strVal val="#ppt_x"/>
                                          </p:val>
                                        </p:tav>
                                        <p:tav tm="100000">
                                          <p:val>
                                            <p:strVal val="#ppt_x"/>
                                          </p:val>
                                        </p:tav>
                                      </p:tavLst>
                                    </p:anim>
                                    <p:anim calcmode="lin" valueType="num">
                                      <p:cBhvr>
                                        <p:cTn id="15" dur="1000" fill="hold"/>
                                        <p:tgtEl>
                                          <p:spTgt spid="104">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2"/>
          <p:cNvSpPr txBox="1">
            <a:spLocks noGrp="1"/>
          </p:cNvSpPr>
          <p:nvPr>
            <p:ph type="title"/>
          </p:nvPr>
        </p:nvSpPr>
        <p:spPr>
          <a:xfrm>
            <a:off x="0" y="0"/>
            <a:ext cx="9144000" cy="1066800"/>
          </a:xfrm>
          <a:prstGeom prst="rect">
            <a:avLst/>
          </a:prstGeom>
          <a:ln/>
        </p:spPr>
        <p:style>
          <a:lnRef idx="0">
            <a:schemeClr val="accent3"/>
          </a:lnRef>
          <a:fillRef idx="3">
            <a:schemeClr val="accent3"/>
          </a:fillRef>
          <a:effectRef idx="3">
            <a:schemeClr val="accent3"/>
          </a:effectRef>
          <a:fontRef idx="minor">
            <a:schemeClr val="lt1"/>
          </a:fontRef>
        </p:style>
        <p:txBody>
          <a:bodyPr spcFirstLastPara="1" wrap="square" lIns="91425" tIns="45700" rIns="91425" bIns="45700" anchor="ctr" anchorCtr="0">
            <a:normAutofit fontScale="90000"/>
          </a:bodyPr>
          <a:lstStyle/>
          <a:p>
            <a:pPr lvl="0">
              <a:defRPr/>
            </a:pPr>
            <a:r>
              <a:rPr lang="en-US" b="1" dirty="0">
                <a:ln w="1905"/>
                <a:solidFill>
                  <a:schemeClr val="tx1"/>
                </a:solidFill>
                <a:effectLst>
                  <a:innerShdw blurRad="69850" dist="43180" dir="5400000">
                    <a:srgbClr val="000000">
                      <a:alpha val="65000"/>
                    </a:srgbClr>
                  </a:innerShdw>
                </a:effectLst>
              </a:rPr>
              <a:t>Linked File Allocation (Chained File Allocation)</a:t>
            </a:r>
          </a:p>
        </p:txBody>
      </p:sp>
      <p:sp>
        <p:nvSpPr>
          <p:cNvPr id="105" name="Google Shape;105;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pPr marL="0" lvl="0" indent="0" algn="r" rtl="0">
                <a:spcBef>
                  <a:spcPts val="0"/>
                </a:spcBef>
                <a:spcAft>
                  <a:spcPts val="0"/>
                </a:spcAft>
                <a:buNone/>
              </a:pPr>
              <a:t>25</a:t>
            </a:fld>
            <a:endParaRPr dirty="0"/>
          </a:p>
        </p:txBody>
      </p:sp>
      <p:pic>
        <p:nvPicPr>
          <p:cNvPr id="5" name="Picture 2"/>
          <p:cNvPicPr>
            <a:picLocks noChangeAspect="1" noChangeArrowheads="1"/>
          </p:cNvPicPr>
          <p:nvPr/>
        </p:nvPicPr>
        <p:blipFill>
          <a:blip r:embed="rId3">
            <a:extLst>
              <a:ext uri="{28A0092B-C50C-407E-A947-70E740481C1C}">
                <a14:useLocalDpi xmlns:a14="http://schemas.microsoft.com/office/drawing/2010/main" xmlns="" val="0"/>
              </a:ext>
            </a:extLst>
          </a:blip>
          <a:srcRect/>
          <a:stretch>
            <a:fillRect/>
          </a:stretch>
        </p:blipFill>
        <p:spPr bwMode="auto">
          <a:xfrm>
            <a:off x="152400" y="1257704"/>
            <a:ext cx="8915400" cy="537169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229310510"/>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2"/>
          <p:cNvSpPr txBox="1">
            <a:spLocks noGrp="1"/>
          </p:cNvSpPr>
          <p:nvPr>
            <p:ph type="title"/>
          </p:nvPr>
        </p:nvSpPr>
        <p:spPr>
          <a:xfrm>
            <a:off x="0" y="0"/>
            <a:ext cx="9144000" cy="1066800"/>
          </a:xfrm>
          <a:prstGeom prst="rect">
            <a:avLst/>
          </a:prstGeom>
          <a:ln/>
        </p:spPr>
        <p:style>
          <a:lnRef idx="0">
            <a:schemeClr val="accent3"/>
          </a:lnRef>
          <a:fillRef idx="3">
            <a:schemeClr val="accent3"/>
          </a:fillRef>
          <a:effectRef idx="3">
            <a:schemeClr val="accent3"/>
          </a:effectRef>
          <a:fontRef idx="minor">
            <a:schemeClr val="lt1"/>
          </a:fontRef>
        </p:style>
        <p:txBody>
          <a:bodyPr spcFirstLastPara="1" wrap="square" lIns="91425" tIns="45700" rIns="91425" bIns="45700" anchor="ctr" anchorCtr="0">
            <a:normAutofit fontScale="90000"/>
          </a:bodyPr>
          <a:lstStyle/>
          <a:p>
            <a:pPr lvl="0">
              <a:defRPr/>
            </a:pPr>
            <a:r>
              <a:rPr lang="en-US" b="1" dirty="0">
                <a:ln w="1905"/>
                <a:solidFill>
                  <a:schemeClr val="tx1"/>
                </a:solidFill>
                <a:effectLst>
                  <a:innerShdw blurRad="69850" dist="43180" dir="5400000">
                    <a:srgbClr val="000000">
                      <a:alpha val="65000"/>
                    </a:srgbClr>
                  </a:innerShdw>
                </a:effectLst>
              </a:rPr>
              <a:t>Linked File Allocation (Chained File Allocation)</a:t>
            </a:r>
          </a:p>
        </p:txBody>
      </p:sp>
      <p:sp>
        <p:nvSpPr>
          <p:cNvPr id="104" name="Google Shape;104;p2"/>
          <p:cNvSpPr txBox="1">
            <a:spLocks noGrp="1"/>
          </p:cNvSpPr>
          <p:nvPr>
            <p:ph type="body" idx="1"/>
          </p:nvPr>
        </p:nvSpPr>
        <p:spPr>
          <a:xfrm>
            <a:off x="0" y="1047750"/>
            <a:ext cx="9144000" cy="5581650"/>
          </a:xfrm>
          <a:prstGeom prst="rect">
            <a:avLst/>
          </a:prstGeom>
          <a:noFill/>
          <a:ln>
            <a:noFill/>
          </a:ln>
        </p:spPr>
        <p:txBody>
          <a:bodyPr spcFirstLastPara="1" wrap="square" lIns="91425" tIns="45700" rIns="91425" bIns="45700" anchor="t" anchorCtr="0">
            <a:noAutofit/>
          </a:bodyPr>
          <a:lstStyle/>
          <a:p>
            <a:pPr marL="0" indent="0">
              <a:buNone/>
            </a:pPr>
            <a:r>
              <a:rPr lang="en-US" sz="2100" b="1" dirty="0"/>
              <a:t>Advantages of Linked File Allocation Method:</a:t>
            </a:r>
          </a:p>
          <a:p>
            <a:pPr marL="0" indent="0">
              <a:buNone/>
            </a:pPr>
            <a:r>
              <a:rPr lang="en-US" sz="2100" dirty="0"/>
              <a:t>1. Any free blocks can be added to a chain.</a:t>
            </a:r>
          </a:p>
          <a:p>
            <a:pPr marL="0" indent="0">
              <a:buNone/>
            </a:pPr>
            <a:r>
              <a:rPr lang="en-US" sz="2100" dirty="0"/>
              <a:t>2. There is no external fragmentation.</a:t>
            </a:r>
          </a:p>
          <a:p>
            <a:pPr marL="0" indent="0">
              <a:buNone/>
            </a:pPr>
            <a:r>
              <a:rPr lang="en-US" sz="2100" dirty="0"/>
              <a:t>3. Best suited for sequential files that are to be processed sequentially.</a:t>
            </a:r>
          </a:p>
          <a:p>
            <a:pPr marL="0" indent="0">
              <a:buNone/>
            </a:pPr>
            <a:r>
              <a:rPr lang="en-US" sz="2100" dirty="0"/>
              <a:t>4. No need to know the size of the file in advance.</a:t>
            </a:r>
          </a:p>
          <a:p>
            <a:pPr marL="0" indent="0">
              <a:buNone/>
            </a:pPr>
            <a:r>
              <a:rPr lang="en-US" sz="2100" dirty="0"/>
              <a:t>5. No need to compact or relock files.</a:t>
            </a:r>
          </a:p>
          <a:p>
            <a:pPr marL="0" indent="0">
              <a:buNone/>
            </a:pPr>
            <a:endParaRPr lang="en-US" sz="2100" b="1" dirty="0" smtClean="0"/>
          </a:p>
          <a:p>
            <a:pPr marL="0" indent="0">
              <a:buNone/>
            </a:pPr>
            <a:r>
              <a:rPr lang="en-US" sz="2100" b="1" dirty="0" smtClean="0"/>
              <a:t>Disadvantages </a:t>
            </a:r>
            <a:r>
              <a:rPr lang="en-US" sz="2100" b="1" dirty="0"/>
              <a:t>of Linked File Allocation Method:</a:t>
            </a:r>
          </a:p>
          <a:p>
            <a:pPr marL="0" indent="0">
              <a:buNone/>
            </a:pPr>
            <a:r>
              <a:rPr lang="en-US" sz="2100" dirty="0"/>
              <a:t>1. There is no accommodation of the principle of locality that is series of accesses to different parts of the disk are required.</a:t>
            </a:r>
          </a:p>
          <a:p>
            <a:pPr marL="0" indent="0">
              <a:buNone/>
            </a:pPr>
            <a:r>
              <a:rPr lang="en-US" sz="2100" dirty="0"/>
              <a:t>2. Space is required for the pointers, 1.5% of disk is used for the pointers and not for information. If a pointer is lost or damaged or bug occurs in operating system or disk hardware failure occur, it may result in picking up the wrong pointer.</a:t>
            </a:r>
          </a:p>
          <a:p>
            <a:pPr marL="0" indent="0">
              <a:buNone/>
            </a:pPr>
            <a:r>
              <a:rPr lang="en-US" sz="2100" dirty="0"/>
              <a:t>3. This method cannot support direct access.</a:t>
            </a:r>
          </a:p>
        </p:txBody>
      </p:sp>
      <p:sp>
        <p:nvSpPr>
          <p:cNvPr id="105" name="Google Shape;105;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pPr marL="0" lvl="0" indent="0" algn="r" rtl="0">
                <a:spcBef>
                  <a:spcPts val="0"/>
                </a:spcBef>
                <a:spcAft>
                  <a:spcPts val="0"/>
                </a:spcAft>
                <a:buNone/>
              </a:pPr>
              <a:t>26</a:t>
            </a:fld>
            <a:endParaRPr dirty="0"/>
          </a:p>
        </p:txBody>
      </p:sp>
    </p:spTree>
    <p:extLst>
      <p:ext uri="{BB962C8B-B14F-4D97-AF65-F5344CB8AC3E}">
        <p14:creationId xmlns:p14="http://schemas.microsoft.com/office/powerpoint/2010/main" xmlns="" val="8231979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04">
                                            <p:txEl>
                                              <p:pRg st="0" end="0"/>
                                            </p:txEl>
                                          </p:spTgt>
                                        </p:tgtEl>
                                        <p:attrNameLst>
                                          <p:attrName>style.visibility</p:attrName>
                                        </p:attrNameLst>
                                      </p:cBhvr>
                                      <p:to>
                                        <p:strVal val="visible"/>
                                      </p:to>
                                    </p:set>
                                    <p:animEffect transition="in" filter="fade">
                                      <p:cBhvr>
                                        <p:cTn id="7" dur="1000"/>
                                        <p:tgtEl>
                                          <p:spTgt spid="104">
                                            <p:txEl>
                                              <p:pRg st="0" end="0"/>
                                            </p:txEl>
                                          </p:spTgt>
                                        </p:tgtEl>
                                      </p:cBhvr>
                                    </p:animEffect>
                                    <p:anim calcmode="lin" valueType="num">
                                      <p:cBhvr>
                                        <p:cTn id="8" dur="1000" fill="hold"/>
                                        <p:tgtEl>
                                          <p:spTgt spid="10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04">
                                            <p:txEl>
                                              <p:pRg st="0" end="0"/>
                                            </p:txEl>
                                          </p:spTgt>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grpId="0" nodeType="afterEffect">
                                  <p:stCondLst>
                                    <p:cond delay="0"/>
                                  </p:stCondLst>
                                  <p:childTnLst>
                                    <p:set>
                                      <p:cBhvr>
                                        <p:cTn id="12" dur="1" fill="hold">
                                          <p:stCondLst>
                                            <p:cond delay="0"/>
                                          </p:stCondLst>
                                        </p:cTn>
                                        <p:tgtEl>
                                          <p:spTgt spid="104">
                                            <p:txEl>
                                              <p:pRg st="1" end="1"/>
                                            </p:txEl>
                                          </p:spTgt>
                                        </p:tgtEl>
                                        <p:attrNameLst>
                                          <p:attrName>style.visibility</p:attrName>
                                        </p:attrNameLst>
                                      </p:cBhvr>
                                      <p:to>
                                        <p:strVal val="visible"/>
                                      </p:to>
                                    </p:set>
                                    <p:animEffect transition="in" filter="fade">
                                      <p:cBhvr>
                                        <p:cTn id="13" dur="1000"/>
                                        <p:tgtEl>
                                          <p:spTgt spid="104">
                                            <p:txEl>
                                              <p:pRg st="1" end="1"/>
                                            </p:txEl>
                                          </p:spTgt>
                                        </p:tgtEl>
                                      </p:cBhvr>
                                    </p:animEffect>
                                    <p:anim calcmode="lin" valueType="num">
                                      <p:cBhvr>
                                        <p:cTn id="14" dur="1000" fill="hold"/>
                                        <p:tgtEl>
                                          <p:spTgt spid="104">
                                            <p:txEl>
                                              <p:pRg st="1" end="1"/>
                                            </p:txEl>
                                          </p:spTgt>
                                        </p:tgtEl>
                                        <p:attrNameLst>
                                          <p:attrName>ppt_x</p:attrName>
                                        </p:attrNameLst>
                                      </p:cBhvr>
                                      <p:tavLst>
                                        <p:tav tm="0">
                                          <p:val>
                                            <p:strVal val="#ppt_x"/>
                                          </p:val>
                                        </p:tav>
                                        <p:tav tm="100000">
                                          <p:val>
                                            <p:strVal val="#ppt_x"/>
                                          </p:val>
                                        </p:tav>
                                      </p:tavLst>
                                    </p:anim>
                                    <p:anim calcmode="lin" valueType="num">
                                      <p:cBhvr>
                                        <p:cTn id="15" dur="1000" fill="hold"/>
                                        <p:tgtEl>
                                          <p:spTgt spid="104">
                                            <p:txEl>
                                              <p:pRg st="1" end="1"/>
                                            </p:txEl>
                                          </p:spTgt>
                                        </p:tgtEl>
                                        <p:attrNameLst>
                                          <p:attrName>ppt_y</p:attrName>
                                        </p:attrNameLst>
                                      </p:cBhvr>
                                      <p:tavLst>
                                        <p:tav tm="0">
                                          <p:val>
                                            <p:strVal val="#ppt_y+.1"/>
                                          </p:val>
                                        </p:tav>
                                        <p:tav tm="100000">
                                          <p:val>
                                            <p:strVal val="#ppt_y"/>
                                          </p:val>
                                        </p:tav>
                                      </p:tavLst>
                                    </p:anim>
                                  </p:childTnLst>
                                </p:cTn>
                              </p:par>
                            </p:childTnLst>
                          </p:cTn>
                        </p:par>
                        <p:par>
                          <p:cTn id="16" fill="hold">
                            <p:stCondLst>
                              <p:cond delay="2000"/>
                            </p:stCondLst>
                            <p:childTnLst>
                              <p:par>
                                <p:cTn id="17" presetID="42" presetClass="entr" presetSubtype="0" fill="hold" grpId="0" nodeType="afterEffect">
                                  <p:stCondLst>
                                    <p:cond delay="0"/>
                                  </p:stCondLst>
                                  <p:childTnLst>
                                    <p:set>
                                      <p:cBhvr>
                                        <p:cTn id="18" dur="1" fill="hold">
                                          <p:stCondLst>
                                            <p:cond delay="0"/>
                                          </p:stCondLst>
                                        </p:cTn>
                                        <p:tgtEl>
                                          <p:spTgt spid="104">
                                            <p:txEl>
                                              <p:pRg st="2" end="2"/>
                                            </p:txEl>
                                          </p:spTgt>
                                        </p:tgtEl>
                                        <p:attrNameLst>
                                          <p:attrName>style.visibility</p:attrName>
                                        </p:attrNameLst>
                                      </p:cBhvr>
                                      <p:to>
                                        <p:strVal val="visible"/>
                                      </p:to>
                                    </p:set>
                                    <p:animEffect transition="in" filter="fade">
                                      <p:cBhvr>
                                        <p:cTn id="19" dur="1000"/>
                                        <p:tgtEl>
                                          <p:spTgt spid="104">
                                            <p:txEl>
                                              <p:pRg st="2" end="2"/>
                                            </p:txEl>
                                          </p:spTgt>
                                        </p:tgtEl>
                                      </p:cBhvr>
                                    </p:animEffect>
                                    <p:anim calcmode="lin" valueType="num">
                                      <p:cBhvr>
                                        <p:cTn id="20" dur="1000" fill="hold"/>
                                        <p:tgtEl>
                                          <p:spTgt spid="104">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104">
                                            <p:txEl>
                                              <p:pRg st="2" end="2"/>
                                            </p:txEl>
                                          </p:spTgt>
                                        </p:tgtEl>
                                        <p:attrNameLst>
                                          <p:attrName>ppt_y</p:attrName>
                                        </p:attrNameLst>
                                      </p:cBhvr>
                                      <p:tavLst>
                                        <p:tav tm="0">
                                          <p:val>
                                            <p:strVal val="#ppt_y+.1"/>
                                          </p:val>
                                        </p:tav>
                                        <p:tav tm="100000">
                                          <p:val>
                                            <p:strVal val="#ppt_y"/>
                                          </p:val>
                                        </p:tav>
                                      </p:tavLst>
                                    </p:anim>
                                  </p:childTnLst>
                                </p:cTn>
                              </p:par>
                            </p:childTnLst>
                          </p:cTn>
                        </p:par>
                        <p:par>
                          <p:cTn id="22" fill="hold">
                            <p:stCondLst>
                              <p:cond delay="3000"/>
                            </p:stCondLst>
                            <p:childTnLst>
                              <p:par>
                                <p:cTn id="23" presetID="42" presetClass="entr" presetSubtype="0" fill="hold" grpId="0" nodeType="afterEffect">
                                  <p:stCondLst>
                                    <p:cond delay="0"/>
                                  </p:stCondLst>
                                  <p:childTnLst>
                                    <p:set>
                                      <p:cBhvr>
                                        <p:cTn id="24" dur="1" fill="hold">
                                          <p:stCondLst>
                                            <p:cond delay="0"/>
                                          </p:stCondLst>
                                        </p:cTn>
                                        <p:tgtEl>
                                          <p:spTgt spid="104">
                                            <p:txEl>
                                              <p:pRg st="3" end="3"/>
                                            </p:txEl>
                                          </p:spTgt>
                                        </p:tgtEl>
                                        <p:attrNameLst>
                                          <p:attrName>style.visibility</p:attrName>
                                        </p:attrNameLst>
                                      </p:cBhvr>
                                      <p:to>
                                        <p:strVal val="visible"/>
                                      </p:to>
                                    </p:set>
                                    <p:animEffect transition="in" filter="fade">
                                      <p:cBhvr>
                                        <p:cTn id="25" dur="1000"/>
                                        <p:tgtEl>
                                          <p:spTgt spid="104">
                                            <p:txEl>
                                              <p:pRg st="3" end="3"/>
                                            </p:txEl>
                                          </p:spTgt>
                                        </p:tgtEl>
                                      </p:cBhvr>
                                    </p:animEffect>
                                    <p:anim calcmode="lin" valueType="num">
                                      <p:cBhvr>
                                        <p:cTn id="26" dur="1000" fill="hold"/>
                                        <p:tgtEl>
                                          <p:spTgt spid="104">
                                            <p:txEl>
                                              <p:pRg st="3" end="3"/>
                                            </p:txEl>
                                          </p:spTgt>
                                        </p:tgtEl>
                                        <p:attrNameLst>
                                          <p:attrName>ppt_x</p:attrName>
                                        </p:attrNameLst>
                                      </p:cBhvr>
                                      <p:tavLst>
                                        <p:tav tm="0">
                                          <p:val>
                                            <p:strVal val="#ppt_x"/>
                                          </p:val>
                                        </p:tav>
                                        <p:tav tm="100000">
                                          <p:val>
                                            <p:strVal val="#ppt_x"/>
                                          </p:val>
                                        </p:tav>
                                      </p:tavLst>
                                    </p:anim>
                                    <p:anim calcmode="lin" valueType="num">
                                      <p:cBhvr>
                                        <p:cTn id="27" dur="1000" fill="hold"/>
                                        <p:tgtEl>
                                          <p:spTgt spid="104">
                                            <p:txEl>
                                              <p:pRg st="3" end="3"/>
                                            </p:txEl>
                                          </p:spTgt>
                                        </p:tgtEl>
                                        <p:attrNameLst>
                                          <p:attrName>ppt_y</p:attrName>
                                        </p:attrNameLst>
                                      </p:cBhvr>
                                      <p:tavLst>
                                        <p:tav tm="0">
                                          <p:val>
                                            <p:strVal val="#ppt_y+.1"/>
                                          </p:val>
                                        </p:tav>
                                        <p:tav tm="100000">
                                          <p:val>
                                            <p:strVal val="#ppt_y"/>
                                          </p:val>
                                        </p:tav>
                                      </p:tavLst>
                                    </p:anim>
                                  </p:childTnLst>
                                </p:cTn>
                              </p:par>
                            </p:childTnLst>
                          </p:cTn>
                        </p:par>
                        <p:par>
                          <p:cTn id="28" fill="hold">
                            <p:stCondLst>
                              <p:cond delay="4000"/>
                            </p:stCondLst>
                            <p:childTnLst>
                              <p:par>
                                <p:cTn id="29" presetID="42" presetClass="entr" presetSubtype="0" fill="hold" grpId="0" nodeType="afterEffect">
                                  <p:stCondLst>
                                    <p:cond delay="0"/>
                                  </p:stCondLst>
                                  <p:childTnLst>
                                    <p:set>
                                      <p:cBhvr>
                                        <p:cTn id="30" dur="1" fill="hold">
                                          <p:stCondLst>
                                            <p:cond delay="0"/>
                                          </p:stCondLst>
                                        </p:cTn>
                                        <p:tgtEl>
                                          <p:spTgt spid="104">
                                            <p:txEl>
                                              <p:pRg st="4" end="4"/>
                                            </p:txEl>
                                          </p:spTgt>
                                        </p:tgtEl>
                                        <p:attrNameLst>
                                          <p:attrName>style.visibility</p:attrName>
                                        </p:attrNameLst>
                                      </p:cBhvr>
                                      <p:to>
                                        <p:strVal val="visible"/>
                                      </p:to>
                                    </p:set>
                                    <p:animEffect transition="in" filter="fade">
                                      <p:cBhvr>
                                        <p:cTn id="31" dur="1000"/>
                                        <p:tgtEl>
                                          <p:spTgt spid="104">
                                            <p:txEl>
                                              <p:pRg st="4" end="4"/>
                                            </p:txEl>
                                          </p:spTgt>
                                        </p:tgtEl>
                                      </p:cBhvr>
                                    </p:animEffect>
                                    <p:anim calcmode="lin" valueType="num">
                                      <p:cBhvr>
                                        <p:cTn id="32" dur="1000" fill="hold"/>
                                        <p:tgtEl>
                                          <p:spTgt spid="104">
                                            <p:txEl>
                                              <p:pRg st="4" end="4"/>
                                            </p:txEl>
                                          </p:spTgt>
                                        </p:tgtEl>
                                        <p:attrNameLst>
                                          <p:attrName>ppt_x</p:attrName>
                                        </p:attrNameLst>
                                      </p:cBhvr>
                                      <p:tavLst>
                                        <p:tav tm="0">
                                          <p:val>
                                            <p:strVal val="#ppt_x"/>
                                          </p:val>
                                        </p:tav>
                                        <p:tav tm="100000">
                                          <p:val>
                                            <p:strVal val="#ppt_x"/>
                                          </p:val>
                                        </p:tav>
                                      </p:tavLst>
                                    </p:anim>
                                    <p:anim calcmode="lin" valueType="num">
                                      <p:cBhvr>
                                        <p:cTn id="33" dur="1000" fill="hold"/>
                                        <p:tgtEl>
                                          <p:spTgt spid="104">
                                            <p:txEl>
                                              <p:pRg st="4" end="4"/>
                                            </p:txEl>
                                          </p:spTgt>
                                        </p:tgtEl>
                                        <p:attrNameLst>
                                          <p:attrName>ppt_y</p:attrName>
                                        </p:attrNameLst>
                                      </p:cBhvr>
                                      <p:tavLst>
                                        <p:tav tm="0">
                                          <p:val>
                                            <p:strVal val="#ppt_y+.1"/>
                                          </p:val>
                                        </p:tav>
                                        <p:tav tm="100000">
                                          <p:val>
                                            <p:strVal val="#ppt_y"/>
                                          </p:val>
                                        </p:tav>
                                      </p:tavLst>
                                    </p:anim>
                                  </p:childTnLst>
                                </p:cTn>
                              </p:par>
                            </p:childTnLst>
                          </p:cTn>
                        </p:par>
                        <p:par>
                          <p:cTn id="34" fill="hold">
                            <p:stCondLst>
                              <p:cond delay="5000"/>
                            </p:stCondLst>
                            <p:childTnLst>
                              <p:par>
                                <p:cTn id="35" presetID="42" presetClass="entr" presetSubtype="0" fill="hold" grpId="0" nodeType="afterEffect">
                                  <p:stCondLst>
                                    <p:cond delay="0"/>
                                  </p:stCondLst>
                                  <p:childTnLst>
                                    <p:set>
                                      <p:cBhvr>
                                        <p:cTn id="36" dur="1" fill="hold">
                                          <p:stCondLst>
                                            <p:cond delay="0"/>
                                          </p:stCondLst>
                                        </p:cTn>
                                        <p:tgtEl>
                                          <p:spTgt spid="104">
                                            <p:txEl>
                                              <p:pRg st="5" end="5"/>
                                            </p:txEl>
                                          </p:spTgt>
                                        </p:tgtEl>
                                        <p:attrNameLst>
                                          <p:attrName>style.visibility</p:attrName>
                                        </p:attrNameLst>
                                      </p:cBhvr>
                                      <p:to>
                                        <p:strVal val="visible"/>
                                      </p:to>
                                    </p:set>
                                    <p:animEffect transition="in" filter="fade">
                                      <p:cBhvr>
                                        <p:cTn id="37" dur="1000"/>
                                        <p:tgtEl>
                                          <p:spTgt spid="104">
                                            <p:txEl>
                                              <p:pRg st="5" end="5"/>
                                            </p:txEl>
                                          </p:spTgt>
                                        </p:tgtEl>
                                      </p:cBhvr>
                                    </p:animEffect>
                                    <p:anim calcmode="lin" valueType="num">
                                      <p:cBhvr>
                                        <p:cTn id="38" dur="1000" fill="hold"/>
                                        <p:tgtEl>
                                          <p:spTgt spid="104">
                                            <p:txEl>
                                              <p:pRg st="5" end="5"/>
                                            </p:txEl>
                                          </p:spTgt>
                                        </p:tgtEl>
                                        <p:attrNameLst>
                                          <p:attrName>ppt_x</p:attrName>
                                        </p:attrNameLst>
                                      </p:cBhvr>
                                      <p:tavLst>
                                        <p:tav tm="0">
                                          <p:val>
                                            <p:strVal val="#ppt_x"/>
                                          </p:val>
                                        </p:tav>
                                        <p:tav tm="100000">
                                          <p:val>
                                            <p:strVal val="#ppt_x"/>
                                          </p:val>
                                        </p:tav>
                                      </p:tavLst>
                                    </p:anim>
                                    <p:anim calcmode="lin" valueType="num">
                                      <p:cBhvr>
                                        <p:cTn id="39" dur="1000" fill="hold"/>
                                        <p:tgtEl>
                                          <p:spTgt spid="104">
                                            <p:txEl>
                                              <p:pRg st="5" end="5"/>
                                            </p:txEl>
                                          </p:spTgt>
                                        </p:tgtEl>
                                        <p:attrNameLst>
                                          <p:attrName>ppt_y</p:attrName>
                                        </p:attrNameLst>
                                      </p:cBhvr>
                                      <p:tavLst>
                                        <p:tav tm="0">
                                          <p:val>
                                            <p:strVal val="#ppt_y+.1"/>
                                          </p:val>
                                        </p:tav>
                                        <p:tav tm="100000">
                                          <p:val>
                                            <p:strVal val="#ppt_y"/>
                                          </p:val>
                                        </p:tav>
                                      </p:tavLst>
                                    </p:anim>
                                  </p:childTnLst>
                                </p:cTn>
                              </p:par>
                            </p:childTnLst>
                          </p:cTn>
                        </p:par>
                        <p:par>
                          <p:cTn id="40" fill="hold">
                            <p:stCondLst>
                              <p:cond delay="6000"/>
                            </p:stCondLst>
                            <p:childTnLst>
                              <p:par>
                                <p:cTn id="41" presetID="42" presetClass="entr" presetSubtype="0" fill="hold" grpId="0" nodeType="afterEffect">
                                  <p:stCondLst>
                                    <p:cond delay="0"/>
                                  </p:stCondLst>
                                  <p:childTnLst>
                                    <p:set>
                                      <p:cBhvr>
                                        <p:cTn id="42" dur="1" fill="hold">
                                          <p:stCondLst>
                                            <p:cond delay="0"/>
                                          </p:stCondLst>
                                        </p:cTn>
                                        <p:tgtEl>
                                          <p:spTgt spid="104">
                                            <p:txEl>
                                              <p:pRg st="7" end="7"/>
                                            </p:txEl>
                                          </p:spTgt>
                                        </p:tgtEl>
                                        <p:attrNameLst>
                                          <p:attrName>style.visibility</p:attrName>
                                        </p:attrNameLst>
                                      </p:cBhvr>
                                      <p:to>
                                        <p:strVal val="visible"/>
                                      </p:to>
                                    </p:set>
                                    <p:animEffect transition="in" filter="fade">
                                      <p:cBhvr>
                                        <p:cTn id="43" dur="1000"/>
                                        <p:tgtEl>
                                          <p:spTgt spid="104">
                                            <p:txEl>
                                              <p:pRg st="7" end="7"/>
                                            </p:txEl>
                                          </p:spTgt>
                                        </p:tgtEl>
                                      </p:cBhvr>
                                    </p:animEffect>
                                    <p:anim calcmode="lin" valueType="num">
                                      <p:cBhvr>
                                        <p:cTn id="44" dur="1000" fill="hold"/>
                                        <p:tgtEl>
                                          <p:spTgt spid="104">
                                            <p:txEl>
                                              <p:pRg st="7" end="7"/>
                                            </p:txEl>
                                          </p:spTgt>
                                        </p:tgtEl>
                                        <p:attrNameLst>
                                          <p:attrName>ppt_x</p:attrName>
                                        </p:attrNameLst>
                                      </p:cBhvr>
                                      <p:tavLst>
                                        <p:tav tm="0">
                                          <p:val>
                                            <p:strVal val="#ppt_x"/>
                                          </p:val>
                                        </p:tav>
                                        <p:tav tm="100000">
                                          <p:val>
                                            <p:strVal val="#ppt_x"/>
                                          </p:val>
                                        </p:tav>
                                      </p:tavLst>
                                    </p:anim>
                                    <p:anim calcmode="lin" valueType="num">
                                      <p:cBhvr>
                                        <p:cTn id="45" dur="1000" fill="hold"/>
                                        <p:tgtEl>
                                          <p:spTgt spid="104">
                                            <p:txEl>
                                              <p:pRg st="7" end="7"/>
                                            </p:txEl>
                                          </p:spTgt>
                                        </p:tgtEl>
                                        <p:attrNameLst>
                                          <p:attrName>ppt_y</p:attrName>
                                        </p:attrNameLst>
                                      </p:cBhvr>
                                      <p:tavLst>
                                        <p:tav tm="0">
                                          <p:val>
                                            <p:strVal val="#ppt_y+.1"/>
                                          </p:val>
                                        </p:tav>
                                        <p:tav tm="100000">
                                          <p:val>
                                            <p:strVal val="#ppt_y"/>
                                          </p:val>
                                        </p:tav>
                                      </p:tavLst>
                                    </p:anim>
                                  </p:childTnLst>
                                </p:cTn>
                              </p:par>
                            </p:childTnLst>
                          </p:cTn>
                        </p:par>
                        <p:par>
                          <p:cTn id="46" fill="hold">
                            <p:stCondLst>
                              <p:cond delay="7000"/>
                            </p:stCondLst>
                            <p:childTnLst>
                              <p:par>
                                <p:cTn id="47" presetID="42" presetClass="entr" presetSubtype="0" fill="hold" grpId="0" nodeType="afterEffect">
                                  <p:stCondLst>
                                    <p:cond delay="0"/>
                                  </p:stCondLst>
                                  <p:childTnLst>
                                    <p:set>
                                      <p:cBhvr>
                                        <p:cTn id="48" dur="1" fill="hold">
                                          <p:stCondLst>
                                            <p:cond delay="0"/>
                                          </p:stCondLst>
                                        </p:cTn>
                                        <p:tgtEl>
                                          <p:spTgt spid="104">
                                            <p:txEl>
                                              <p:pRg st="8" end="8"/>
                                            </p:txEl>
                                          </p:spTgt>
                                        </p:tgtEl>
                                        <p:attrNameLst>
                                          <p:attrName>style.visibility</p:attrName>
                                        </p:attrNameLst>
                                      </p:cBhvr>
                                      <p:to>
                                        <p:strVal val="visible"/>
                                      </p:to>
                                    </p:set>
                                    <p:animEffect transition="in" filter="fade">
                                      <p:cBhvr>
                                        <p:cTn id="49" dur="1000"/>
                                        <p:tgtEl>
                                          <p:spTgt spid="104">
                                            <p:txEl>
                                              <p:pRg st="8" end="8"/>
                                            </p:txEl>
                                          </p:spTgt>
                                        </p:tgtEl>
                                      </p:cBhvr>
                                    </p:animEffect>
                                    <p:anim calcmode="lin" valueType="num">
                                      <p:cBhvr>
                                        <p:cTn id="50" dur="1000" fill="hold"/>
                                        <p:tgtEl>
                                          <p:spTgt spid="104">
                                            <p:txEl>
                                              <p:pRg st="8" end="8"/>
                                            </p:txEl>
                                          </p:spTgt>
                                        </p:tgtEl>
                                        <p:attrNameLst>
                                          <p:attrName>ppt_x</p:attrName>
                                        </p:attrNameLst>
                                      </p:cBhvr>
                                      <p:tavLst>
                                        <p:tav tm="0">
                                          <p:val>
                                            <p:strVal val="#ppt_x"/>
                                          </p:val>
                                        </p:tav>
                                        <p:tav tm="100000">
                                          <p:val>
                                            <p:strVal val="#ppt_x"/>
                                          </p:val>
                                        </p:tav>
                                      </p:tavLst>
                                    </p:anim>
                                    <p:anim calcmode="lin" valueType="num">
                                      <p:cBhvr>
                                        <p:cTn id="51" dur="1000" fill="hold"/>
                                        <p:tgtEl>
                                          <p:spTgt spid="104">
                                            <p:txEl>
                                              <p:pRg st="8" end="8"/>
                                            </p:txEl>
                                          </p:spTgt>
                                        </p:tgtEl>
                                        <p:attrNameLst>
                                          <p:attrName>ppt_y</p:attrName>
                                        </p:attrNameLst>
                                      </p:cBhvr>
                                      <p:tavLst>
                                        <p:tav tm="0">
                                          <p:val>
                                            <p:strVal val="#ppt_y+.1"/>
                                          </p:val>
                                        </p:tav>
                                        <p:tav tm="100000">
                                          <p:val>
                                            <p:strVal val="#ppt_y"/>
                                          </p:val>
                                        </p:tav>
                                      </p:tavLst>
                                    </p:anim>
                                  </p:childTnLst>
                                </p:cTn>
                              </p:par>
                            </p:childTnLst>
                          </p:cTn>
                        </p:par>
                        <p:par>
                          <p:cTn id="52" fill="hold">
                            <p:stCondLst>
                              <p:cond delay="8000"/>
                            </p:stCondLst>
                            <p:childTnLst>
                              <p:par>
                                <p:cTn id="53" presetID="42" presetClass="entr" presetSubtype="0" fill="hold" grpId="0" nodeType="afterEffect">
                                  <p:stCondLst>
                                    <p:cond delay="0"/>
                                  </p:stCondLst>
                                  <p:childTnLst>
                                    <p:set>
                                      <p:cBhvr>
                                        <p:cTn id="54" dur="1" fill="hold">
                                          <p:stCondLst>
                                            <p:cond delay="0"/>
                                          </p:stCondLst>
                                        </p:cTn>
                                        <p:tgtEl>
                                          <p:spTgt spid="104">
                                            <p:txEl>
                                              <p:pRg st="9" end="9"/>
                                            </p:txEl>
                                          </p:spTgt>
                                        </p:tgtEl>
                                        <p:attrNameLst>
                                          <p:attrName>style.visibility</p:attrName>
                                        </p:attrNameLst>
                                      </p:cBhvr>
                                      <p:to>
                                        <p:strVal val="visible"/>
                                      </p:to>
                                    </p:set>
                                    <p:animEffect transition="in" filter="fade">
                                      <p:cBhvr>
                                        <p:cTn id="55" dur="1000"/>
                                        <p:tgtEl>
                                          <p:spTgt spid="104">
                                            <p:txEl>
                                              <p:pRg st="9" end="9"/>
                                            </p:txEl>
                                          </p:spTgt>
                                        </p:tgtEl>
                                      </p:cBhvr>
                                    </p:animEffect>
                                    <p:anim calcmode="lin" valueType="num">
                                      <p:cBhvr>
                                        <p:cTn id="56" dur="1000" fill="hold"/>
                                        <p:tgtEl>
                                          <p:spTgt spid="104">
                                            <p:txEl>
                                              <p:pRg st="9" end="9"/>
                                            </p:txEl>
                                          </p:spTgt>
                                        </p:tgtEl>
                                        <p:attrNameLst>
                                          <p:attrName>ppt_x</p:attrName>
                                        </p:attrNameLst>
                                      </p:cBhvr>
                                      <p:tavLst>
                                        <p:tav tm="0">
                                          <p:val>
                                            <p:strVal val="#ppt_x"/>
                                          </p:val>
                                        </p:tav>
                                        <p:tav tm="100000">
                                          <p:val>
                                            <p:strVal val="#ppt_x"/>
                                          </p:val>
                                        </p:tav>
                                      </p:tavLst>
                                    </p:anim>
                                    <p:anim calcmode="lin" valueType="num">
                                      <p:cBhvr>
                                        <p:cTn id="57" dur="1000" fill="hold"/>
                                        <p:tgtEl>
                                          <p:spTgt spid="104">
                                            <p:txEl>
                                              <p:pRg st="9" end="9"/>
                                            </p:txEl>
                                          </p:spTgt>
                                        </p:tgtEl>
                                        <p:attrNameLst>
                                          <p:attrName>ppt_y</p:attrName>
                                        </p:attrNameLst>
                                      </p:cBhvr>
                                      <p:tavLst>
                                        <p:tav tm="0">
                                          <p:val>
                                            <p:strVal val="#ppt_y+.1"/>
                                          </p:val>
                                        </p:tav>
                                        <p:tav tm="100000">
                                          <p:val>
                                            <p:strVal val="#ppt_y"/>
                                          </p:val>
                                        </p:tav>
                                      </p:tavLst>
                                    </p:anim>
                                  </p:childTnLst>
                                </p:cTn>
                              </p:par>
                            </p:childTnLst>
                          </p:cTn>
                        </p:par>
                        <p:par>
                          <p:cTn id="58" fill="hold">
                            <p:stCondLst>
                              <p:cond delay="9000"/>
                            </p:stCondLst>
                            <p:childTnLst>
                              <p:par>
                                <p:cTn id="59" presetID="42" presetClass="entr" presetSubtype="0" fill="hold" grpId="0" nodeType="afterEffect">
                                  <p:stCondLst>
                                    <p:cond delay="0"/>
                                  </p:stCondLst>
                                  <p:childTnLst>
                                    <p:set>
                                      <p:cBhvr>
                                        <p:cTn id="60" dur="1" fill="hold">
                                          <p:stCondLst>
                                            <p:cond delay="0"/>
                                          </p:stCondLst>
                                        </p:cTn>
                                        <p:tgtEl>
                                          <p:spTgt spid="104">
                                            <p:txEl>
                                              <p:pRg st="10" end="10"/>
                                            </p:txEl>
                                          </p:spTgt>
                                        </p:tgtEl>
                                        <p:attrNameLst>
                                          <p:attrName>style.visibility</p:attrName>
                                        </p:attrNameLst>
                                      </p:cBhvr>
                                      <p:to>
                                        <p:strVal val="visible"/>
                                      </p:to>
                                    </p:set>
                                    <p:animEffect transition="in" filter="fade">
                                      <p:cBhvr>
                                        <p:cTn id="61" dur="1000"/>
                                        <p:tgtEl>
                                          <p:spTgt spid="104">
                                            <p:txEl>
                                              <p:pRg st="10" end="10"/>
                                            </p:txEl>
                                          </p:spTgt>
                                        </p:tgtEl>
                                      </p:cBhvr>
                                    </p:animEffect>
                                    <p:anim calcmode="lin" valueType="num">
                                      <p:cBhvr>
                                        <p:cTn id="62" dur="1000" fill="hold"/>
                                        <p:tgtEl>
                                          <p:spTgt spid="104">
                                            <p:txEl>
                                              <p:pRg st="10" end="10"/>
                                            </p:txEl>
                                          </p:spTgt>
                                        </p:tgtEl>
                                        <p:attrNameLst>
                                          <p:attrName>ppt_x</p:attrName>
                                        </p:attrNameLst>
                                      </p:cBhvr>
                                      <p:tavLst>
                                        <p:tav tm="0">
                                          <p:val>
                                            <p:strVal val="#ppt_x"/>
                                          </p:val>
                                        </p:tav>
                                        <p:tav tm="100000">
                                          <p:val>
                                            <p:strVal val="#ppt_x"/>
                                          </p:val>
                                        </p:tav>
                                      </p:tavLst>
                                    </p:anim>
                                    <p:anim calcmode="lin" valueType="num">
                                      <p:cBhvr>
                                        <p:cTn id="63" dur="1000" fill="hold"/>
                                        <p:tgtEl>
                                          <p:spTgt spid="104">
                                            <p:txEl>
                                              <p:pRg st="10" end="1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2"/>
          <p:cNvSpPr txBox="1">
            <a:spLocks noGrp="1"/>
          </p:cNvSpPr>
          <p:nvPr>
            <p:ph type="title"/>
          </p:nvPr>
        </p:nvSpPr>
        <p:spPr>
          <a:xfrm>
            <a:off x="0" y="0"/>
            <a:ext cx="9144000" cy="1066800"/>
          </a:xfrm>
          <a:prstGeom prst="rect">
            <a:avLst/>
          </a:prstGeom>
          <a:ln/>
        </p:spPr>
        <p:style>
          <a:lnRef idx="0">
            <a:schemeClr val="accent3"/>
          </a:lnRef>
          <a:fillRef idx="3">
            <a:schemeClr val="accent3"/>
          </a:fillRef>
          <a:effectRef idx="3">
            <a:schemeClr val="accent3"/>
          </a:effectRef>
          <a:fontRef idx="minor">
            <a:schemeClr val="lt1"/>
          </a:fontRef>
        </p:style>
        <p:txBody>
          <a:bodyPr spcFirstLastPara="1" wrap="square" lIns="91425" tIns="45700" rIns="91425" bIns="45700" anchor="ctr" anchorCtr="0">
            <a:normAutofit/>
          </a:bodyPr>
          <a:lstStyle/>
          <a:p>
            <a:pPr lvl="0">
              <a:defRPr/>
            </a:pPr>
            <a:r>
              <a:rPr lang="en-US" b="1" dirty="0">
                <a:ln w="1905"/>
                <a:solidFill>
                  <a:schemeClr val="tx1"/>
                </a:solidFill>
                <a:effectLst>
                  <a:innerShdw blurRad="69850" dist="43180" dir="5400000">
                    <a:srgbClr val="000000">
                      <a:alpha val="65000"/>
                    </a:srgbClr>
                  </a:innerShdw>
                </a:effectLst>
              </a:rPr>
              <a:t>Indexed File Allocation</a:t>
            </a:r>
          </a:p>
        </p:txBody>
      </p:sp>
      <p:sp>
        <p:nvSpPr>
          <p:cNvPr id="104" name="Google Shape;104;p2"/>
          <p:cNvSpPr txBox="1">
            <a:spLocks noGrp="1"/>
          </p:cNvSpPr>
          <p:nvPr>
            <p:ph type="body" idx="1"/>
          </p:nvPr>
        </p:nvSpPr>
        <p:spPr>
          <a:xfrm>
            <a:off x="0" y="1047750"/>
            <a:ext cx="9144000" cy="5581650"/>
          </a:xfrm>
          <a:prstGeom prst="rect">
            <a:avLst/>
          </a:prstGeom>
          <a:noFill/>
          <a:ln>
            <a:noFill/>
          </a:ln>
        </p:spPr>
        <p:txBody>
          <a:bodyPr spcFirstLastPara="1" wrap="square" lIns="91425" tIns="45700" rIns="91425" bIns="45700" anchor="t" anchorCtr="0">
            <a:noAutofit/>
          </a:bodyPr>
          <a:lstStyle/>
          <a:p>
            <a:pPr marL="285750" indent="-285750" algn="just"/>
            <a:r>
              <a:rPr lang="en-US" sz="2200" dirty="0"/>
              <a:t>Linked allocation solves the external fragmentation and size declaration problems of contiguous allocation. However linked allocation cannot support direct access, since the blocks are scattered all over the </a:t>
            </a:r>
            <a:r>
              <a:rPr lang="en-US" sz="2200" dirty="0" err="1"/>
              <a:t>disk.Mostly</a:t>
            </a:r>
            <a:r>
              <a:rPr lang="en-US" sz="2200" dirty="0"/>
              <a:t> pointers to blocks are scattered all over the disk. </a:t>
            </a:r>
          </a:p>
          <a:p>
            <a:pPr marL="285750" indent="-285750" algn="just"/>
            <a:r>
              <a:rPr lang="en-US" sz="2200" dirty="0"/>
              <a:t>Indexed allocation solves this problem by bringing all of the pointers together into one location the Index Block.</a:t>
            </a:r>
          </a:p>
          <a:p>
            <a:pPr marL="285750" indent="-285750" algn="just"/>
            <a:r>
              <a:rPr lang="en-US" sz="2200" dirty="0"/>
              <a:t>Each file has its own index block, which is an array of disk block addresses. The </a:t>
            </a:r>
            <a:r>
              <a:rPr lang="en-US" sz="2200" dirty="0" err="1"/>
              <a:t>ith</a:t>
            </a:r>
            <a:r>
              <a:rPr lang="en-US" sz="2200" dirty="0"/>
              <a:t> entry in the index block points to the </a:t>
            </a:r>
            <a:r>
              <a:rPr lang="en-US" sz="2200" dirty="0" err="1"/>
              <a:t>ith</a:t>
            </a:r>
            <a:r>
              <a:rPr lang="en-US" sz="2200" dirty="0"/>
              <a:t> block of the file. The directory contains the address of the index block.</a:t>
            </a:r>
          </a:p>
          <a:p>
            <a:pPr marL="285750" indent="-285750" algn="just"/>
            <a:r>
              <a:rPr lang="en-US" sz="2200" dirty="0"/>
              <a:t>To read the </a:t>
            </a:r>
            <a:r>
              <a:rPr lang="en-US" sz="2200" dirty="0" err="1"/>
              <a:t>ith</a:t>
            </a:r>
            <a:r>
              <a:rPr lang="en-US" sz="2200" dirty="0"/>
              <a:t> block we use pointer in </a:t>
            </a:r>
            <a:r>
              <a:rPr lang="en-US" sz="2200" dirty="0" err="1"/>
              <a:t>ith</a:t>
            </a:r>
            <a:r>
              <a:rPr lang="en-US" sz="2200" dirty="0"/>
              <a:t> index block entry to find and read the desired block. When the file is created, all pointers in the index block are set to nil. When the </a:t>
            </a:r>
            <a:r>
              <a:rPr lang="en-US" sz="2200" dirty="0" err="1"/>
              <a:t>ith</a:t>
            </a:r>
            <a:r>
              <a:rPr lang="en-US" sz="2200" dirty="0"/>
              <a:t> block is first written a lock is removed from the free space list and its address is put in the </a:t>
            </a:r>
            <a:r>
              <a:rPr lang="en-US" sz="2200" dirty="0" err="1"/>
              <a:t>ith</a:t>
            </a:r>
            <a:r>
              <a:rPr lang="en-US" sz="2200" dirty="0"/>
              <a:t> index block entry.</a:t>
            </a:r>
          </a:p>
          <a:p>
            <a:endParaRPr lang="en-US" sz="2200" dirty="0"/>
          </a:p>
        </p:txBody>
      </p:sp>
      <p:sp>
        <p:nvSpPr>
          <p:cNvPr id="105" name="Google Shape;105;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pPr marL="0" lvl="0" indent="0" algn="r" rtl="0">
                <a:spcBef>
                  <a:spcPts val="0"/>
                </a:spcBef>
                <a:spcAft>
                  <a:spcPts val="0"/>
                </a:spcAft>
                <a:buNone/>
              </a:pPr>
              <a:t>27</a:t>
            </a:fld>
            <a:endParaRPr dirty="0"/>
          </a:p>
        </p:txBody>
      </p:sp>
    </p:spTree>
    <p:extLst>
      <p:ext uri="{BB962C8B-B14F-4D97-AF65-F5344CB8AC3E}">
        <p14:creationId xmlns:p14="http://schemas.microsoft.com/office/powerpoint/2010/main" xmlns="" val="35475882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04">
                                            <p:txEl>
                                              <p:pRg st="0" end="0"/>
                                            </p:txEl>
                                          </p:spTgt>
                                        </p:tgtEl>
                                        <p:attrNameLst>
                                          <p:attrName>style.visibility</p:attrName>
                                        </p:attrNameLst>
                                      </p:cBhvr>
                                      <p:to>
                                        <p:strVal val="visible"/>
                                      </p:to>
                                    </p:set>
                                    <p:animEffect transition="in" filter="fade">
                                      <p:cBhvr>
                                        <p:cTn id="7" dur="1000"/>
                                        <p:tgtEl>
                                          <p:spTgt spid="104">
                                            <p:txEl>
                                              <p:pRg st="0" end="0"/>
                                            </p:txEl>
                                          </p:spTgt>
                                        </p:tgtEl>
                                      </p:cBhvr>
                                    </p:animEffect>
                                    <p:anim calcmode="lin" valueType="num">
                                      <p:cBhvr>
                                        <p:cTn id="8" dur="1000" fill="hold"/>
                                        <p:tgtEl>
                                          <p:spTgt spid="10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04">
                                            <p:txEl>
                                              <p:pRg st="0" end="0"/>
                                            </p:txEl>
                                          </p:spTgt>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grpId="0" nodeType="afterEffect">
                                  <p:stCondLst>
                                    <p:cond delay="0"/>
                                  </p:stCondLst>
                                  <p:childTnLst>
                                    <p:set>
                                      <p:cBhvr>
                                        <p:cTn id="12" dur="1" fill="hold">
                                          <p:stCondLst>
                                            <p:cond delay="0"/>
                                          </p:stCondLst>
                                        </p:cTn>
                                        <p:tgtEl>
                                          <p:spTgt spid="104">
                                            <p:txEl>
                                              <p:pRg st="1" end="1"/>
                                            </p:txEl>
                                          </p:spTgt>
                                        </p:tgtEl>
                                        <p:attrNameLst>
                                          <p:attrName>style.visibility</p:attrName>
                                        </p:attrNameLst>
                                      </p:cBhvr>
                                      <p:to>
                                        <p:strVal val="visible"/>
                                      </p:to>
                                    </p:set>
                                    <p:animEffect transition="in" filter="fade">
                                      <p:cBhvr>
                                        <p:cTn id="13" dur="1000"/>
                                        <p:tgtEl>
                                          <p:spTgt spid="104">
                                            <p:txEl>
                                              <p:pRg st="1" end="1"/>
                                            </p:txEl>
                                          </p:spTgt>
                                        </p:tgtEl>
                                      </p:cBhvr>
                                    </p:animEffect>
                                    <p:anim calcmode="lin" valueType="num">
                                      <p:cBhvr>
                                        <p:cTn id="14" dur="1000" fill="hold"/>
                                        <p:tgtEl>
                                          <p:spTgt spid="104">
                                            <p:txEl>
                                              <p:pRg st="1" end="1"/>
                                            </p:txEl>
                                          </p:spTgt>
                                        </p:tgtEl>
                                        <p:attrNameLst>
                                          <p:attrName>ppt_x</p:attrName>
                                        </p:attrNameLst>
                                      </p:cBhvr>
                                      <p:tavLst>
                                        <p:tav tm="0">
                                          <p:val>
                                            <p:strVal val="#ppt_x"/>
                                          </p:val>
                                        </p:tav>
                                        <p:tav tm="100000">
                                          <p:val>
                                            <p:strVal val="#ppt_x"/>
                                          </p:val>
                                        </p:tav>
                                      </p:tavLst>
                                    </p:anim>
                                    <p:anim calcmode="lin" valueType="num">
                                      <p:cBhvr>
                                        <p:cTn id="15" dur="1000" fill="hold"/>
                                        <p:tgtEl>
                                          <p:spTgt spid="104">
                                            <p:txEl>
                                              <p:pRg st="1" end="1"/>
                                            </p:txEl>
                                          </p:spTgt>
                                        </p:tgtEl>
                                        <p:attrNameLst>
                                          <p:attrName>ppt_y</p:attrName>
                                        </p:attrNameLst>
                                      </p:cBhvr>
                                      <p:tavLst>
                                        <p:tav tm="0">
                                          <p:val>
                                            <p:strVal val="#ppt_y+.1"/>
                                          </p:val>
                                        </p:tav>
                                        <p:tav tm="100000">
                                          <p:val>
                                            <p:strVal val="#ppt_y"/>
                                          </p:val>
                                        </p:tav>
                                      </p:tavLst>
                                    </p:anim>
                                  </p:childTnLst>
                                </p:cTn>
                              </p:par>
                            </p:childTnLst>
                          </p:cTn>
                        </p:par>
                        <p:par>
                          <p:cTn id="16" fill="hold">
                            <p:stCondLst>
                              <p:cond delay="2000"/>
                            </p:stCondLst>
                            <p:childTnLst>
                              <p:par>
                                <p:cTn id="17" presetID="42" presetClass="entr" presetSubtype="0" fill="hold" grpId="0" nodeType="afterEffect">
                                  <p:stCondLst>
                                    <p:cond delay="0"/>
                                  </p:stCondLst>
                                  <p:childTnLst>
                                    <p:set>
                                      <p:cBhvr>
                                        <p:cTn id="18" dur="1" fill="hold">
                                          <p:stCondLst>
                                            <p:cond delay="0"/>
                                          </p:stCondLst>
                                        </p:cTn>
                                        <p:tgtEl>
                                          <p:spTgt spid="104">
                                            <p:txEl>
                                              <p:pRg st="2" end="2"/>
                                            </p:txEl>
                                          </p:spTgt>
                                        </p:tgtEl>
                                        <p:attrNameLst>
                                          <p:attrName>style.visibility</p:attrName>
                                        </p:attrNameLst>
                                      </p:cBhvr>
                                      <p:to>
                                        <p:strVal val="visible"/>
                                      </p:to>
                                    </p:set>
                                    <p:animEffect transition="in" filter="fade">
                                      <p:cBhvr>
                                        <p:cTn id="19" dur="1000"/>
                                        <p:tgtEl>
                                          <p:spTgt spid="104">
                                            <p:txEl>
                                              <p:pRg st="2" end="2"/>
                                            </p:txEl>
                                          </p:spTgt>
                                        </p:tgtEl>
                                      </p:cBhvr>
                                    </p:animEffect>
                                    <p:anim calcmode="lin" valueType="num">
                                      <p:cBhvr>
                                        <p:cTn id="20" dur="1000" fill="hold"/>
                                        <p:tgtEl>
                                          <p:spTgt spid="104">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104">
                                            <p:txEl>
                                              <p:pRg st="2" end="2"/>
                                            </p:txEl>
                                          </p:spTgt>
                                        </p:tgtEl>
                                        <p:attrNameLst>
                                          <p:attrName>ppt_y</p:attrName>
                                        </p:attrNameLst>
                                      </p:cBhvr>
                                      <p:tavLst>
                                        <p:tav tm="0">
                                          <p:val>
                                            <p:strVal val="#ppt_y+.1"/>
                                          </p:val>
                                        </p:tav>
                                        <p:tav tm="100000">
                                          <p:val>
                                            <p:strVal val="#ppt_y"/>
                                          </p:val>
                                        </p:tav>
                                      </p:tavLst>
                                    </p:anim>
                                  </p:childTnLst>
                                </p:cTn>
                              </p:par>
                            </p:childTnLst>
                          </p:cTn>
                        </p:par>
                        <p:par>
                          <p:cTn id="22" fill="hold">
                            <p:stCondLst>
                              <p:cond delay="3000"/>
                            </p:stCondLst>
                            <p:childTnLst>
                              <p:par>
                                <p:cTn id="23" presetID="42" presetClass="entr" presetSubtype="0" fill="hold" grpId="0" nodeType="afterEffect">
                                  <p:stCondLst>
                                    <p:cond delay="0"/>
                                  </p:stCondLst>
                                  <p:childTnLst>
                                    <p:set>
                                      <p:cBhvr>
                                        <p:cTn id="24" dur="1" fill="hold">
                                          <p:stCondLst>
                                            <p:cond delay="0"/>
                                          </p:stCondLst>
                                        </p:cTn>
                                        <p:tgtEl>
                                          <p:spTgt spid="104">
                                            <p:txEl>
                                              <p:pRg st="3" end="3"/>
                                            </p:txEl>
                                          </p:spTgt>
                                        </p:tgtEl>
                                        <p:attrNameLst>
                                          <p:attrName>style.visibility</p:attrName>
                                        </p:attrNameLst>
                                      </p:cBhvr>
                                      <p:to>
                                        <p:strVal val="visible"/>
                                      </p:to>
                                    </p:set>
                                    <p:animEffect transition="in" filter="fade">
                                      <p:cBhvr>
                                        <p:cTn id="25" dur="1000"/>
                                        <p:tgtEl>
                                          <p:spTgt spid="104">
                                            <p:txEl>
                                              <p:pRg st="3" end="3"/>
                                            </p:txEl>
                                          </p:spTgt>
                                        </p:tgtEl>
                                      </p:cBhvr>
                                    </p:animEffect>
                                    <p:anim calcmode="lin" valueType="num">
                                      <p:cBhvr>
                                        <p:cTn id="26" dur="1000" fill="hold"/>
                                        <p:tgtEl>
                                          <p:spTgt spid="104">
                                            <p:txEl>
                                              <p:pRg st="3" end="3"/>
                                            </p:txEl>
                                          </p:spTgt>
                                        </p:tgtEl>
                                        <p:attrNameLst>
                                          <p:attrName>ppt_x</p:attrName>
                                        </p:attrNameLst>
                                      </p:cBhvr>
                                      <p:tavLst>
                                        <p:tav tm="0">
                                          <p:val>
                                            <p:strVal val="#ppt_x"/>
                                          </p:val>
                                        </p:tav>
                                        <p:tav tm="100000">
                                          <p:val>
                                            <p:strVal val="#ppt_x"/>
                                          </p:val>
                                        </p:tav>
                                      </p:tavLst>
                                    </p:anim>
                                    <p:anim calcmode="lin" valueType="num">
                                      <p:cBhvr>
                                        <p:cTn id="27" dur="1000" fill="hold"/>
                                        <p:tgtEl>
                                          <p:spTgt spid="104">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2"/>
          <p:cNvSpPr txBox="1">
            <a:spLocks noGrp="1"/>
          </p:cNvSpPr>
          <p:nvPr>
            <p:ph type="title"/>
          </p:nvPr>
        </p:nvSpPr>
        <p:spPr>
          <a:xfrm>
            <a:off x="0" y="0"/>
            <a:ext cx="9144000" cy="1066800"/>
          </a:xfrm>
          <a:prstGeom prst="rect">
            <a:avLst/>
          </a:prstGeom>
          <a:ln/>
        </p:spPr>
        <p:style>
          <a:lnRef idx="0">
            <a:schemeClr val="accent3"/>
          </a:lnRef>
          <a:fillRef idx="3">
            <a:schemeClr val="accent3"/>
          </a:fillRef>
          <a:effectRef idx="3">
            <a:schemeClr val="accent3"/>
          </a:effectRef>
          <a:fontRef idx="minor">
            <a:schemeClr val="lt1"/>
          </a:fontRef>
        </p:style>
        <p:txBody>
          <a:bodyPr spcFirstLastPara="1" wrap="square" lIns="91425" tIns="45700" rIns="91425" bIns="45700" anchor="ctr" anchorCtr="0">
            <a:normAutofit/>
          </a:bodyPr>
          <a:lstStyle/>
          <a:p>
            <a:pPr lvl="0">
              <a:defRPr/>
            </a:pPr>
            <a:r>
              <a:rPr lang="en-US" b="1" dirty="0">
                <a:ln w="1905"/>
                <a:solidFill>
                  <a:schemeClr val="tx1"/>
                </a:solidFill>
                <a:effectLst>
                  <a:innerShdw blurRad="69850" dist="43180" dir="5400000">
                    <a:srgbClr val="000000">
                      <a:alpha val="65000"/>
                    </a:srgbClr>
                  </a:innerShdw>
                </a:effectLst>
              </a:rPr>
              <a:t>Indexed File Allocation</a:t>
            </a:r>
          </a:p>
        </p:txBody>
      </p:sp>
      <p:sp>
        <p:nvSpPr>
          <p:cNvPr id="104" name="Google Shape;104;p2"/>
          <p:cNvSpPr txBox="1">
            <a:spLocks noGrp="1"/>
          </p:cNvSpPr>
          <p:nvPr>
            <p:ph type="body" idx="1"/>
          </p:nvPr>
        </p:nvSpPr>
        <p:spPr>
          <a:xfrm>
            <a:off x="0" y="1047750"/>
            <a:ext cx="9144000" cy="5581650"/>
          </a:xfrm>
          <a:prstGeom prst="rect">
            <a:avLst/>
          </a:prstGeom>
          <a:noFill/>
          <a:ln>
            <a:noFill/>
          </a:ln>
        </p:spPr>
        <p:txBody>
          <a:bodyPr spcFirstLastPara="1" wrap="square" lIns="91425" tIns="45700" rIns="91425" bIns="45700" anchor="t" anchorCtr="0">
            <a:noAutofit/>
          </a:bodyPr>
          <a:lstStyle/>
          <a:p>
            <a:r>
              <a:rPr lang="en-US" dirty="0"/>
              <a:t>Indexed allocation supports direct access, without suffering from external fragmentation. Indexed allocation does suffer from wasted space. The pointer overhead of index block is worse than pointer over head of linked allocation. Assume we have a file of only one or two blocks with linked allocation we only lose the space of one pointer per block. With indexed allocation an index block must be allocated even if only one or two pointers will be non-nil.</a:t>
            </a:r>
          </a:p>
          <a:p>
            <a:endParaRPr lang="en-US" dirty="0"/>
          </a:p>
        </p:txBody>
      </p:sp>
      <p:sp>
        <p:nvSpPr>
          <p:cNvPr id="105" name="Google Shape;105;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pPr marL="0" lvl="0" indent="0" algn="r" rtl="0">
                <a:spcBef>
                  <a:spcPts val="0"/>
                </a:spcBef>
                <a:spcAft>
                  <a:spcPts val="0"/>
                </a:spcAft>
                <a:buNone/>
              </a:pPr>
              <a:t>28</a:t>
            </a:fld>
            <a:endParaRPr dirty="0"/>
          </a:p>
        </p:txBody>
      </p:sp>
    </p:spTree>
    <p:extLst>
      <p:ext uri="{BB962C8B-B14F-4D97-AF65-F5344CB8AC3E}">
        <p14:creationId xmlns:p14="http://schemas.microsoft.com/office/powerpoint/2010/main" xmlns="" val="31057661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04">
                                            <p:txEl>
                                              <p:pRg st="0" end="0"/>
                                            </p:txEl>
                                          </p:spTgt>
                                        </p:tgtEl>
                                        <p:attrNameLst>
                                          <p:attrName>style.visibility</p:attrName>
                                        </p:attrNameLst>
                                      </p:cBhvr>
                                      <p:to>
                                        <p:strVal val="visible"/>
                                      </p:to>
                                    </p:set>
                                    <p:animEffect transition="in" filter="fade">
                                      <p:cBhvr>
                                        <p:cTn id="7" dur="1000"/>
                                        <p:tgtEl>
                                          <p:spTgt spid="104">
                                            <p:txEl>
                                              <p:pRg st="0" end="0"/>
                                            </p:txEl>
                                          </p:spTgt>
                                        </p:tgtEl>
                                      </p:cBhvr>
                                    </p:animEffect>
                                    <p:anim calcmode="lin" valueType="num">
                                      <p:cBhvr>
                                        <p:cTn id="8" dur="1000" fill="hold"/>
                                        <p:tgtEl>
                                          <p:spTgt spid="10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04">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2"/>
          <p:cNvSpPr txBox="1">
            <a:spLocks noGrp="1"/>
          </p:cNvSpPr>
          <p:nvPr>
            <p:ph type="title"/>
          </p:nvPr>
        </p:nvSpPr>
        <p:spPr>
          <a:xfrm>
            <a:off x="0" y="0"/>
            <a:ext cx="9144000" cy="1066800"/>
          </a:xfrm>
          <a:prstGeom prst="rect">
            <a:avLst/>
          </a:prstGeom>
          <a:ln/>
        </p:spPr>
        <p:style>
          <a:lnRef idx="0">
            <a:schemeClr val="accent3"/>
          </a:lnRef>
          <a:fillRef idx="3">
            <a:schemeClr val="accent3"/>
          </a:fillRef>
          <a:effectRef idx="3">
            <a:schemeClr val="accent3"/>
          </a:effectRef>
          <a:fontRef idx="minor">
            <a:schemeClr val="lt1"/>
          </a:fontRef>
        </p:style>
        <p:txBody>
          <a:bodyPr spcFirstLastPara="1" wrap="square" lIns="91425" tIns="45700" rIns="91425" bIns="45700" anchor="ctr" anchorCtr="0">
            <a:normAutofit/>
          </a:bodyPr>
          <a:lstStyle/>
          <a:p>
            <a:pPr lvl="0">
              <a:defRPr/>
            </a:pPr>
            <a:r>
              <a:rPr lang="en-US" b="1" dirty="0">
                <a:ln w="1905"/>
                <a:solidFill>
                  <a:schemeClr val="tx1"/>
                </a:solidFill>
                <a:effectLst>
                  <a:innerShdw blurRad="69850" dist="43180" dir="5400000">
                    <a:srgbClr val="000000">
                      <a:alpha val="65000"/>
                    </a:srgbClr>
                  </a:innerShdw>
                </a:effectLst>
              </a:rPr>
              <a:t>Indexed File Allocation</a:t>
            </a:r>
          </a:p>
        </p:txBody>
      </p:sp>
      <p:sp>
        <p:nvSpPr>
          <p:cNvPr id="105" name="Google Shape;105;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pPr marL="0" lvl="0" indent="0" algn="r" rtl="0">
                <a:spcBef>
                  <a:spcPts val="0"/>
                </a:spcBef>
                <a:spcAft>
                  <a:spcPts val="0"/>
                </a:spcAft>
                <a:buNone/>
              </a:pPr>
              <a:t>29</a:t>
            </a:fld>
            <a:endParaRPr dirty="0"/>
          </a:p>
        </p:txBody>
      </p:sp>
      <p:pic>
        <p:nvPicPr>
          <p:cNvPr id="5" name="Picture 2"/>
          <p:cNvPicPr>
            <a:picLocks noChangeAspect="1" noChangeArrowheads="1"/>
          </p:cNvPicPr>
          <p:nvPr/>
        </p:nvPicPr>
        <p:blipFill>
          <a:blip r:embed="rId3">
            <a:extLst>
              <a:ext uri="{28A0092B-C50C-407E-A947-70E740481C1C}">
                <a14:useLocalDpi xmlns:a14="http://schemas.microsoft.com/office/drawing/2010/main" xmlns="" val="0"/>
              </a:ext>
            </a:extLst>
          </a:blip>
          <a:srcRect/>
          <a:stretch>
            <a:fillRect/>
          </a:stretch>
        </p:blipFill>
        <p:spPr bwMode="auto">
          <a:xfrm>
            <a:off x="304800" y="1306620"/>
            <a:ext cx="8686799" cy="524658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1388735239"/>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2"/>
          <p:cNvSpPr txBox="1">
            <a:spLocks noGrp="1"/>
          </p:cNvSpPr>
          <p:nvPr>
            <p:ph type="title"/>
          </p:nvPr>
        </p:nvSpPr>
        <p:spPr>
          <a:xfrm>
            <a:off x="0" y="0"/>
            <a:ext cx="9144000" cy="1066800"/>
          </a:xfrm>
          <a:prstGeom prst="rect">
            <a:avLst/>
          </a:prstGeom>
          <a:ln/>
        </p:spPr>
        <p:style>
          <a:lnRef idx="0">
            <a:schemeClr val="accent3"/>
          </a:lnRef>
          <a:fillRef idx="3">
            <a:schemeClr val="accent3"/>
          </a:fillRef>
          <a:effectRef idx="3">
            <a:schemeClr val="accent3"/>
          </a:effectRef>
          <a:fontRef idx="minor">
            <a:schemeClr val="lt1"/>
          </a:fontRef>
        </p:style>
        <p:txBody>
          <a:bodyPr spcFirstLastPara="1" wrap="square" lIns="91425" tIns="45700" rIns="91425" bIns="45700" anchor="ctr" anchorCtr="0">
            <a:normAutofit/>
          </a:bodyPr>
          <a:lstStyle/>
          <a:p>
            <a:pPr lvl="0">
              <a:defRPr/>
            </a:pPr>
            <a:r>
              <a:rPr lang="en-US" b="1" dirty="0">
                <a:ln w="1905"/>
                <a:solidFill>
                  <a:schemeClr val="tx1"/>
                </a:solidFill>
                <a:effectLst>
                  <a:innerShdw blurRad="69850" dist="43180" dir="5400000">
                    <a:srgbClr val="000000">
                      <a:alpha val="65000"/>
                    </a:srgbClr>
                  </a:innerShdw>
                </a:effectLst>
              </a:rPr>
              <a:t>Indexed File Allocation</a:t>
            </a:r>
          </a:p>
        </p:txBody>
      </p:sp>
      <p:sp>
        <p:nvSpPr>
          <p:cNvPr id="104" name="Google Shape;104;p2"/>
          <p:cNvSpPr txBox="1">
            <a:spLocks noGrp="1"/>
          </p:cNvSpPr>
          <p:nvPr>
            <p:ph type="body" idx="1"/>
          </p:nvPr>
        </p:nvSpPr>
        <p:spPr>
          <a:xfrm>
            <a:off x="0" y="1047750"/>
            <a:ext cx="9144000" cy="5581650"/>
          </a:xfrm>
          <a:prstGeom prst="rect">
            <a:avLst/>
          </a:prstGeom>
          <a:noFill/>
          <a:ln>
            <a:noFill/>
          </a:ln>
        </p:spPr>
        <p:txBody>
          <a:bodyPr spcFirstLastPara="1" wrap="square" lIns="91425" tIns="45700" rIns="91425" bIns="45700" anchor="t" anchorCtr="0">
            <a:noAutofit/>
          </a:bodyPr>
          <a:lstStyle/>
          <a:p>
            <a:pPr marL="0" indent="0">
              <a:buNone/>
            </a:pPr>
            <a:r>
              <a:rPr lang="en-US" sz="2200" b="1" dirty="0"/>
              <a:t>Advantages of Indexed File Allocation Method:</a:t>
            </a:r>
          </a:p>
          <a:p>
            <a:pPr marL="0" indent="0">
              <a:buNone/>
            </a:pPr>
            <a:r>
              <a:rPr lang="en-US" sz="2200" dirty="0"/>
              <a:t>1. Does not suffer from external fragmentation.</a:t>
            </a:r>
          </a:p>
          <a:p>
            <a:pPr marL="0" indent="0">
              <a:buNone/>
            </a:pPr>
            <a:r>
              <a:rPr lang="en-US" sz="2200" dirty="0"/>
              <a:t>2. Support both sequential and direct access to the file.</a:t>
            </a:r>
          </a:p>
          <a:p>
            <a:pPr marL="0" indent="0">
              <a:buNone/>
            </a:pPr>
            <a:r>
              <a:rPr lang="en-US" sz="2200" dirty="0"/>
              <a:t>3. No need for user to know size of the file in advance.</a:t>
            </a:r>
          </a:p>
          <a:p>
            <a:pPr marL="0" indent="0">
              <a:buNone/>
            </a:pPr>
            <a:r>
              <a:rPr lang="en-US" sz="2200" dirty="0"/>
              <a:t>4. Entire block is available for data as no space is occupied by pointers.</a:t>
            </a:r>
          </a:p>
          <a:p>
            <a:pPr marL="0" indent="0">
              <a:buNone/>
            </a:pPr>
            <a:endParaRPr lang="en-US" sz="2200" dirty="0"/>
          </a:p>
          <a:p>
            <a:pPr marL="0" indent="0">
              <a:buNone/>
            </a:pPr>
            <a:r>
              <a:rPr lang="en-US" sz="2200" b="1" dirty="0"/>
              <a:t>Disadvantages of Indexed File Allocation Method:</a:t>
            </a:r>
          </a:p>
          <a:p>
            <a:pPr marL="0" indent="0">
              <a:buNone/>
            </a:pPr>
            <a:r>
              <a:rPr lang="en-US" sz="2200" dirty="0"/>
              <a:t>1. It required lot of space for keeping pointers so wasted space of memory.</a:t>
            </a:r>
          </a:p>
          <a:p>
            <a:pPr marL="0" indent="0">
              <a:buNone/>
            </a:pPr>
            <a:r>
              <a:rPr lang="en-US" sz="2200" dirty="0"/>
              <a:t>2. Overhead of index blocks is not feasible for very small file.</a:t>
            </a:r>
          </a:p>
          <a:p>
            <a:pPr marL="0" indent="0">
              <a:buNone/>
            </a:pPr>
            <a:r>
              <a:rPr lang="en-US" sz="2200" dirty="0"/>
              <a:t>4. Overhead of index blocks is not feasible for very big file also, because it is difficult to manage</a:t>
            </a:r>
          </a:p>
          <a:p>
            <a:pPr marL="0" indent="0">
              <a:buNone/>
            </a:pPr>
            <a:r>
              <a:rPr lang="en-US" sz="2200" dirty="0"/>
              <a:t>levels of indices.</a:t>
            </a:r>
          </a:p>
          <a:p>
            <a:pPr marL="0" indent="0">
              <a:buNone/>
            </a:pPr>
            <a:r>
              <a:rPr lang="en-US" sz="2200" dirty="0"/>
              <a:t>5. Keeping index in memory requires space.</a:t>
            </a:r>
          </a:p>
        </p:txBody>
      </p:sp>
      <p:sp>
        <p:nvSpPr>
          <p:cNvPr id="105" name="Google Shape;105;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pPr marL="0" lvl="0" indent="0" algn="r" rtl="0">
                <a:spcBef>
                  <a:spcPts val="0"/>
                </a:spcBef>
                <a:spcAft>
                  <a:spcPts val="0"/>
                </a:spcAft>
                <a:buNone/>
              </a:pPr>
              <a:t>30</a:t>
            </a:fld>
            <a:endParaRPr dirty="0"/>
          </a:p>
        </p:txBody>
      </p:sp>
    </p:spTree>
    <p:extLst>
      <p:ext uri="{BB962C8B-B14F-4D97-AF65-F5344CB8AC3E}">
        <p14:creationId xmlns:p14="http://schemas.microsoft.com/office/powerpoint/2010/main" xmlns="" val="24137442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04">
                                            <p:txEl>
                                              <p:pRg st="0" end="0"/>
                                            </p:txEl>
                                          </p:spTgt>
                                        </p:tgtEl>
                                        <p:attrNameLst>
                                          <p:attrName>style.visibility</p:attrName>
                                        </p:attrNameLst>
                                      </p:cBhvr>
                                      <p:to>
                                        <p:strVal val="visible"/>
                                      </p:to>
                                    </p:set>
                                    <p:animEffect transition="in" filter="fade">
                                      <p:cBhvr>
                                        <p:cTn id="7" dur="1000"/>
                                        <p:tgtEl>
                                          <p:spTgt spid="104">
                                            <p:txEl>
                                              <p:pRg st="0" end="0"/>
                                            </p:txEl>
                                          </p:spTgt>
                                        </p:tgtEl>
                                      </p:cBhvr>
                                    </p:animEffect>
                                    <p:anim calcmode="lin" valueType="num">
                                      <p:cBhvr>
                                        <p:cTn id="8" dur="1000" fill="hold"/>
                                        <p:tgtEl>
                                          <p:spTgt spid="10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04">
                                            <p:txEl>
                                              <p:pRg st="0" end="0"/>
                                            </p:txEl>
                                          </p:spTgt>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grpId="0" nodeType="afterEffect">
                                  <p:stCondLst>
                                    <p:cond delay="0"/>
                                  </p:stCondLst>
                                  <p:childTnLst>
                                    <p:set>
                                      <p:cBhvr>
                                        <p:cTn id="12" dur="1" fill="hold">
                                          <p:stCondLst>
                                            <p:cond delay="0"/>
                                          </p:stCondLst>
                                        </p:cTn>
                                        <p:tgtEl>
                                          <p:spTgt spid="104">
                                            <p:txEl>
                                              <p:pRg st="1" end="1"/>
                                            </p:txEl>
                                          </p:spTgt>
                                        </p:tgtEl>
                                        <p:attrNameLst>
                                          <p:attrName>style.visibility</p:attrName>
                                        </p:attrNameLst>
                                      </p:cBhvr>
                                      <p:to>
                                        <p:strVal val="visible"/>
                                      </p:to>
                                    </p:set>
                                    <p:animEffect transition="in" filter="fade">
                                      <p:cBhvr>
                                        <p:cTn id="13" dur="1000"/>
                                        <p:tgtEl>
                                          <p:spTgt spid="104">
                                            <p:txEl>
                                              <p:pRg st="1" end="1"/>
                                            </p:txEl>
                                          </p:spTgt>
                                        </p:tgtEl>
                                      </p:cBhvr>
                                    </p:animEffect>
                                    <p:anim calcmode="lin" valueType="num">
                                      <p:cBhvr>
                                        <p:cTn id="14" dur="1000" fill="hold"/>
                                        <p:tgtEl>
                                          <p:spTgt spid="104">
                                            <p:txEl>
                                              <p:pRg st="1" end="1"/>
                                            </p:txEl>
                                          </p:spTgt>
                                        </p:tgtEl>
                                        <p:attrNameLst>
                                          <p:attrName>ppt_x</p:attrName>
                                        </p:attrNameLst>
                                      </p:cBhvr>
                                      <p:tavLst>
                                        <p:tav tm="0">
                                          <p:val>
                                            <p:strVal val="#ppt_x"/>
                                          </p:val>
                                        </p:tav>
                                        <p:tav tm="100000">
                                          <p:val>
                                            <p:strVal val="#ppt_x"/>
                                          </p:val>
                                        </p:tav>
                                      </p:tavLst>
                                    </p:anim>
                                    <p:anim calcmode="lin" valueType="num">
                                      <p:cBhvr>
                                        <p:cTn id="15" dur="1000" fill="hold"/>
                                        <p:tgtEl>
                                          <p:spTgt spid="104">
                                            <p:txEl>
                                              <p:pRg st="1" end="1"/>
                                            </p:txEl>
                                          </p:spTgt>
                                        </p:tgtEl>
                                        <p:attrNameLst>
                                          <p:attrName>ppt_y</p:attrName>
                                        </p:attrNameLst>
                                      </p:cBhvr>
                                      <p:tavLst>
                                        <p:tav tm="0">
                                          <p:val>
                                            <p:strVal val="#ppt_y+.1"/>
                                          </p:val>
                                        </p:tav>
                                        <p:tav tm="100000">
                                          <p:val>
                                            <p:strVal val="#ppt_y"/>
                                          </p:val>
                                        </p:tav>
                                      </p:tavLst>
                                    </p:anim>
                                  </p:childTnLst>
                                </p:cTn>
                              </p:par>
                            </p:childTnLst>
                          </p:cTn>
                        </p:par>
                        <p:par>
                          <p:cTn id="16" fill="hold">
                            <p:stCondLst>
                              <p:cond delay="2000"/>
                            </p:stCondLst>
                            <p:childTnLst>
                              <p:par>
                                <p:cTn id="17" presetID="42" presetClass="entr" presetSubtype="0" fill="hold" grpId="0" nodeType="afterEffect">
                                  <p:stCondLst>
                                    <p:cond delay="0"/>
                                  </p:stCondLst>
                                  <p:childTnLst>
                                    <p:set>
                                      <p:cBhvr>
                                        <p:cTn id="18" dur="1" fill="hold">
                                          <p:stCondLst>
                                            <p:cond delay="0"/>
                                          </p:stCondLst>
                                        </p:cTn>
                                        <p:tgtEl>
                                          <p:spTgt spid="104">
                                            <p:txEl>
                                              <p:pRg st="2" end="2"/>
                                            </p:txEl>
                                          </p:spTgt>
                                        </p:tgtEl>
                                        <p:attrNameLst>
                                          <p:attrName>style.visibility</p:attrName>
                                        </p:attrNameLst>
                                      </p:cBhvr>
                                      <p:to>
                                        <p:strVal val="visible"/>
                                      </p:to>
                                    </p:set>
                                    <p:animEffect transition="in" filter="fade">
                                      <p:cBhvr>
                                        <p:cTn id="19" dur="1000"/>
                                        <p:tgtEl>
                                          <p:spTgt spid="104">
                                            <p:txEl>
                                              <p:pRg st="2" end="2"/>
                                            </p:txEl>
                                          </p:spTgt>
                                        </p:tgtEl>
                                      </p:cBhvr>
                                    </p:animEffect>
                                    <p:anim calcmode="lin" valueType="num">
                                      <p:cBhvr>
                                        <p:cTn id="20" dur="1000" fill="hold"/>
                                        <p:tgtEl>
                                          <p:spTgt spid="104">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104">
                                            <p:txEl>
                                              <p:pRg st="2" end="2"/>
                                            </p:txEl>
                                          </p:spTgt>
                                        </p:tgtEl>
                                        <p:attrNameLst>
                                          <p:attrName>ppt_y</p:attrName>
                                        </p:attrNameLst>
                                      </p:cBhvr>
                                      <p:tavLst>
                                        <p:tav tm="0">
                                          <p:val>
                                            <p:strVal val="#ppt_y+.1"/>
                                          </p:val>
                                        </p:tav>
                                        <p:tav tm="100000">
                                          <p:val>
                                            <p:strVal val="#ppt_y"/>
                                          </p:val>
                                        </p:tav>
                                      </p:tavLst>
                                    </p:anim>
                                  </p:childTnLst>
                                </p:cTn>
                              </p:par>
                            </p:childTnLst>
                          </p:cTn>
                        </p:par>
                        <p:par>
                          <p:cTn id="22" fill="hold">
                            <p:stCondLst>
                              <p:cond delay="3000"/>
                            </p:stCondLst>
                            <p:childTnLst>
                              <p:par>
                                <p:cTn id="23" presetID="42" presetClass="entr" presetSubtype="0" fill="hold" grpId="0" nodeType="afterEffect">
                                  <p:stCondLst>
                                    <p:cond delay="0"/>
                                  </p:stCondLst>
                                  <p:childTnLst>
                                    <p:set>
                                      <p:cBhvr>
                                        <p:cTn id="24" dur="1" fill="hold">
                                          <p:stCondLst>
                                            <p:cond delay="0"/>
                                          </p:stCondLst>
                                        </p:cTn>
                                        <p:tgtEl>
                                          <p:spTgt spid="104">
                                            <p:txEl>
                                              <p:pRg st="3" end="3"/>
                                            </p:txEl>
                                          </p:spTgt>
                                        </p:tgtEl>
                                        <p:attrNameLst>
                                          <p:attrName>style.visibility</p:attrName>
                                        </p:attrNameLst>
                                      </p:cBhvr>
                                      <p:to>
                                        <p:strVal val="visible"/>
                                      </p:to>
                                    </p:set>
                                    <p:animEffect transition="in" filter="fade">
                                      <p:cBhvr>
                                        <p:cTn id="25" dur="1000"/>
                                        <p:tgtEl>
                                          <p:spTgt spid="104">
                                            <p:txEl>
                                              <p:pRg st="3" end="3"/>
                                            </p:txEl>
                                          </p:spTgt>
                                        </p:tgtEl>
                                      </p:cBhvr>
                                    </p:animEffect>
                                    <p:anim calcmode="lin" valueType="num">
                                      <p:cBhvr>
                                        <p:cTn id="26" dur="1000" fill="hold"/>
                                        <p:tgtEl>
                                          <p:spTgt spid="104">
                                            <p:txEl>
                                              <p:pRg st="3" end="3"/>
                                            </p:txEl>
                                          </p:spTgt>
                                        </p:tgtEl>
                                        <p:attrNameLst>
                                          <p:attrName>ppt_x</p:attrName>
                                        </p:attrNameLst>
                                      </p:cBhvr>
                                      <p:tavLst>
                                        <p:tav tm="0">
                                          <p:val>
                                            <p:strVal val="#ppt_x"/>
                                          </p:val>
                                        </p:tav>
                                        <p:tav tm="100000">
                                          <p:val>
                                            <p:strVal val="#ppt_x"/>
                                          </p:val>
                                        </p:tav>
                                      </p:tavLst>
                                    </p:anim>
                                    <p:anim calcmode="lin" valueType="num">
                                      <p:cBhvr>
                                        <p:cTn id="27" dur="1000" fill="hold"/>
                                        <p:tgtEl>
                                          <p:spTgt spid="104">
                                            <p:txEl>
                                              <p:pRg st="3" end="3"/>
                                            </p:txEl>
                                          </p:spTgt>
                                        </p:tgtEl>
                                        <p:attrNameLst>
                                          <p:attrName>ppt_y</p:attrName>
                                        </p:attrNameLst>
                                      </p:cBhvr>
                                      <p:tavLst>
                                        <p:tav tm="0">
                                          <p:val>
                                            <p:strVal val="#ppt_y+.1"/>
                                          </p:val>
                                        </p:tav>
                                        <p:tav tm="100000">
                                          <p:val>
                                            <p:strVal val="#ppt_y"/>
                                          </p:val>
                                        </p:tav>
                                      </p:tavLst>
                                    </p:anim>
                                  </p:childTnLst>
                                </p:cTn>
                              </p:par>
                            </p:childTnLst>
                          </p:cTn>
                        </p:par>
                        <p:par>
                          <p:cTn id="28" fill="hold">
                            <p:stCondLst>
                              <p:cond delay="4000"/>
                            </p:stCondLst>
                            <p:childTnLst>
                              <p:par>
                                <p:cTn id="29" presetID="42" presetClass="entr" presetSubtype="0" fill="hold" grpId="0" nodeType="afterEffect">
                                  <p:stCondLst>
                                    <p:cond delay="0"/>
                                  </p:stCondLst>
                                  <p:childTnLst>
                                    <p:set>
                                      <p:cBhvr>
                                        <p:cTn id="30" dur="1" fill="hold">
                                          <p:stCondLst>
                                            <p:cond delay="0"/>
                                          </p:stCondLst>
                                        </p:cTn>
                                        <p:tgtEl>
                                          <p:spTgt spid="104">
                                            <p:txEl>
                                              <p:pRg st="4" end="4"/>
                                            </p:txEl>
                                          </p:spTgt>
                                        </p:tgtEl>
                                        <p:attrNameLst>
                                          <p:attrName>style.visibility</p:attrName>
                                        </p:attrNameLst>
                                      </p:cBhvr>
                                      <p:to>
                                        <p:strVal val="visible"/>
                                      </p:to>
                                    </p:set>
                                    <p:animEffect transition="in" filter="fade">
                                      <p:cBhvr>
                                        <p:cTn id="31" dur="1000"/>
                                        <p:tgtEl>
                                          <p:spTgt spid="104">
                                            <p:txEl>
                                              <p:pRg st="4" end="4"/>
                                            </p:txEl>
                                          </p:spTgt>
                                        </p:tgtEl>
                                      </p:cBhvr>
                                    </p:animEffect>
                                    <p:anim calcmode="lin" valueType="num">
                                      <p:cBhvr>
                                        <p:cTn id="32" dur="1000" fill="hold"/>
                                        <p:tgtEl>
                                          <p:spTgt spid="104">
                                            <p:txEl>
                                              <p:pRg st="4" end="4"/>
                                            </p:txEl>
                                          </p:spTgt>
                                        </p:tgtEl>
                                        <p:attrNameLst>
                                          <p:attrName>ppt_x</p:attrName>
                                        </p:attrNameLst>
                                      </p:cBhvr>
                                      <p:tavLst>
                                        <p:tav tm="0">
                                          <p:val>
                                            <p:strVal val="#ppt_x"/>
                                          </p:val>
                                        </p:tav>
                                        <p:tav tm="100000">
                                          <p:val>
                                            <p:strVal val="#ppt_x"/>
                                          </p:val>
                                        </p:tav>
                                      </p:tavLst>
                                    </p:anim>
                                    <p:anim calcmode="lin" valueType="num">
                                      <p:cBhvr>
                                        <p:cTn id="33" dur="1000" fill="hold"/>
                                        <p:tgtEl>
                                          <p:spTgt spid="104">
                                            <p:txEl>
                                              <p:pRg st="4" end="4"/>
                                            </p:txEl>
                                          </p:spTgt>
                                        </p:tgtEl>
                                        <p:attrNameLst>
                                          <p:attrName>ppt_y</p:attrName>
                                        </p:attrNameLst>
                                      </p:cBhvr>
                                      <p:tavLst>
                                        <p:tav tm="0">
                                          <p:val>
                                            <p:strVal val="#ppt_y+.1"/>
                                          </p:val>
                                        </p:tav>
                                        <p:tav tm="100000">
                                          <p:val>
                                            <p:strVal val="#ppt_y"/>
                                          </p:val>
                                        </p:tav>
                                      </p:tavLst>
                                    </p:anim>
                                  </p:childTnLst>
                                </p:cTn>
                              </p:par>
                            </p:childTnLst>
                          </p:cTn>
                        </p:par>
                        <p:par>
                          <p:cTn id="34" fill="hold">
                            <p:stCondLst>
                              <p:cond delay="5000"/>
                            </p:stCondLst>
                            <p:childTnLst>
                              <p:par>
                                <p:cTn id="35" presetID="42" presetClass="entr" presetSubtype="0" fill="hold" grpId="0" nodeType="afterEffect">
                                  <p:stCondLst>
                                    <p:cond delay="0"/>
                                  </p:stCondLst>
                                  <p:childTnLst>
                                    <p:set>
                                      <p:cBhvr>
                                        <p:cTn id="36" dur="1" fill="hold">
                                          <p:stCondLst>
                                            <p:cond delay="0"/>
                                          </p:stCondLst>
                                        </p:cTn>
                                        <p:tgtEl>
                                          <p:spTgt spid="104">
                                            <p:txEl>
                                              <p:pRg st="6" end="6"/>
                                            </p:txEl>
                                          </p:spTgt>
                                        </p:tgtEl>
                                        <p:attrNameLst>
                                          <p:attrName>style.visibility</p:attrName>
                                        </p:attrNameLst>
                                      </p:cBhvr>
                                      <p:to>
                                        <p:strVal val="visible"/>
                                      </p:to>
                                    </p:set>
                                    <p:animEffect transition="in" filter="fade">
                                      <p:cBhvr>
                                        <p:cTn id="37" dur="1000"/>
                                        <p:tgtEl>
                                          <p:spTgt spid="104">
                                            <p:txEl>
                                              <p:pRg st="6" end="6"/>
                                            </p:txEl>
                                          </p:spTgt>
                                        </p:tgtEl>
                                      </p:cBhvr>
                                    </p:animEffect>
                                    <p:anim calcmode="lin" valueType="num">
                                      <p:cBhvr>
                                        <p:cTn id="38" dur="1000" fill="hold"/>
                                        <p:tgtEl>
                                          <p:spTgt spid="104">
                                            <p:txEl>
                                              <p:pRg st="6" end="6"/>
                                            </p:txEl>
                                          </p:spTgt>
                                        </p:tgtEl>
                                        <p:attrNameLst>
                                          <p:attrName>ppt_x</p:attrName>
                                        </p:attrNameLst>
                                      </p:cBhvr>
                                      <p:tavLst>
                                        <p:tav tm="0">
                                          <p:val>
                                            <p:strVal val="#ppt_x"/>
                                          </p:val>
                                        </p:tav>
                                        <p:tav tm="100000">
                                          <p:val>
                                            <p:strVal val="#ppt_x"/>
                                          </p:val>
                                        </p:tav>
                                      </p:tavLst>
                                    </p:anim>
                                    <p:anim calcmode="lin" valueType="num">
                                      <p:cBhvr>
                                        <p:cTn id="39" dur="1000" fill="hold"/>
                                        <p:tgtEl>
                                          <p:spTgt spid="104">
                                            <p:txEl>
                                              <p:pRg st="6" end="6"/>
                                            </p:txEl>
                                          </p:spTgt>
                                        </p:tgtEl>
                                        <p:attrNameLst>
                                          <p:attrName>ppt_y</p:attrName>
                                        </p:attrNameLst>
                                      </p:cBhvr>
                                      <p:tavLst>
                                        <p:tav tm="0">
                                          <p:val>
                                            <p:strVal val="#ppt_y+.1"/>
                                          </p:val>
                                        </p:tav>
                                        <p:tav tm="100000">
                                          <p:val>
                                            <p:strVal val="#ppt_y"/>
                                          </p:val>
                                        </p:tav>
                                      </p:tavLst>
                                    </p:anim>
                                  </p:childTnLst>
                                </p:cTn>
                              </p:par>
                            </p:childTnLst>
                          </p:cTn>
                        </p:par>
                        <p:par>
                          <p:cTn id="40" fill="hold">
                            <p:stCondLst>
                              <p:cond delay="6000"/>
                            </p:stCondLst>
                            <p:childTnLst>
                              <p:par>
                                <p:cTn id="41" presetID="42" presetClass="entr" presetSubtype="0" fill="hold" grpId="0" nodeType="afterEffect">
                                  <p:stCondLst>
                                    <p:cond delay="0"/>
                                  </p:stCondLst>
                                  <p:childTnLst>
                                    <p:set>
                                      <p:cBhvr>
                                        <p:cTn id="42" dur="1" fill="hold">
                                          <p:stCondLst>
                                            <p:cond delay="0"/>
                                          </p:stCondLst>
                                        </p:cTn>
                                        <p:tgtEl>
                                          <p:spTgt spid="104">
                                            <p:txEl>
                                              <p:pRg st="7" end="7"/>
                                            </p:txEl>
                                          </p:spTgt>
                                        </p:tgtEl>
                                        <p:attrNameLst>
                                          <p:attrName>style.visibility</p:attrName>
                                        </p:attrNameLst>
                                      </p:cBhvr>
                                      <p:to>
                                        <p:strVal val="visible"/>
                                      </p:to>
                                    </p:set>
                                    <p:animEffect transition="in" filter="fade">
                                      <p:cBhvr>
                                        <p:cTn id="43" dur="1000"/>
                                        <p:tgtEl>
                                          <p:spTgt spid="104">
                                            <p:txEl>
                                              <p:pRg st="7" end="7"/>
                                            </p:txEl>
                                          </p:spTgt>
                                        </p:tgtEl>
                                      </p:cBhvr>
                                    </p:animEffect>
                                    <p:anim calcmode="lin" valueType="num">
                                      <p:cBhvr>
                                        <p:cTn id="44" dur="1000" fill="hold"/>
                                        <p:tgtEl>
                                          <p:spTgt spid="104">
                                            <p:txEl>
                                              <p:pRg st="7" end="7"/>
                                            </p:txEl>
                                          </p:spTgt>
                                        </p:tgtEl>
                                        <p:attrNameLst>
                                          <p:attrName>ppt_x</p:attrName>
                                        </p:attrNameLst>
                                      </p:cBhvr>
                                      <p:tavLst>
                                        <p:tav tm="0">
                                          <p:val>
                                            <p:strVal val="#ppt_x"/>
                                          </p:val>
                                        </p:tav>
                                        <p:tav tm="100000">
                                          <p:val>
                                            <p:strVal val="#ppt_x"/>
                                          </p:val>
                                        </p:tav>
                                      </p:tavLst>
                                    </p:anim>
                                    <p:anim calcmode="lin" valueType="num">
                                      <p:cBhvr>
                                        <p:cTn id="45" dur="1000" fill="hold"/>
                                        <p:tgtEl>
                                          <p:spTgt spid="104">
                                            <p:txEl>
                                              <p:pRg st="7" end="7"/>
                                            </p:txEl>
                                          </p:spTgt>
                                        </p:tgtEl>
                                        <p:attrNameLst>
                                          <p:attrName>ppt_y</p:attrName>
                                        </p:attrNameLst>
                                      </p:cBhvr>
                                      <p:tavLst>
                                        <p:tav tm="0">
                                          <p:val>
                                            <p:strVal val="#ppt_y+.1"/>
                                          </p:val>
                                        </p:tav>
                                        <p:tav tm="100000">
                                          <p:val>
                                            <p:strVal val="#ppt_y"/>
                                          </p:val>
                                        </p:tav>
                                      </p:tavLst>
                                    </p:anim>
                                  </p:childTnLst>
                                </p:cTn>
                              </p:par>
                            </p:childTnLst>
                          </p:cTn>
                        </p:par>
                        <p:par>
                          <p:cTn id="46" fill="hold">
                            <p:stCondLst>
                              <p:cond delay="7000"/>
                            </p:stCondLst>
                            <p:childTnLst>
                              <p:par>
                                <p:cTn id="47" presetID="42" presetClass="entr" presetSubtype="0" fill="hold" grpId="0" nodeType="afterEffect">
                                  <p:stCondLst>
                                    <p:cond delay="0"/>
                                  </p:stCondLst>
                                  <p:childTnLst>
                                    <p:set>
                                      <p:cBhvr>
                                        <p:cTn id="48" dur="1" fill="hold">
                                          <p:stCondLst>
                                            <p:cond delay="0"/>
                                          </p:stCondLst>
                                        </p:cTn>
                                        <p:tgtEl>
                                          <p:spTgt spid="104">
                                            <p:txEl>
                                              <p:pRg st="8" end="8"/>
                                            </p:txEl>
                                          </p:spTgt>
                                        </p:tgtEl>
                                        <p:attrNameLst>
                                          <p:attrName>style.visibility</p:attrName>
                                        </p:attrNameLst>
                                      </p:cBhvr>
                                      <p:to>
                                        <p:strVal val="visible"/>
                                      </p:to>
                                    </p:set>
                                    <p:animEffect transition="in" filter="fade">
                                      <p:cBhvr>
                                        <p:cTn id="49" dur="1000"/>
                                        <p:tgtEl>
                                          <p:spTgt spid="104">
                                            <p:txEl>
                                              <p:pRg st="8" end="8"/>
                                            </p:txEl>
                                          </p:spTgt>
                                        </p:tgtEl>
                                      </p:cBhvr>
                                    </p:animEffect>
                                    <p:anim calcmode="lin" valueType="num">
                                      <p:cBhvr>
                                        <p:cTn id="50" dur="1000" fill="hold"/>
                                        <p:tgtEl>
                                          <p:spTgt spid="104">
                                            <p:txEl>
                                              <p:pRg st="8" end="8"/>
                                            </p:txEl>
                                          </p:spTgt>
                                        </p:tgtEl>
                                        <p:attrNameLst>
                                          <p:attrName>ppt_x</p:attrName>
                                        </p:attrNameLst>
                                      </p:cBhvr>
                                      <p:tavLst>
                                        <p:tav tm="0">
                                          <p:val>
                                            <p:strVal val="#ppt_x"/>
                                          </p:val>
                                        </p:tav>
                                        <p:tav tm="100000">
                                          <p:val>
                                            <p:strVal val="#ppt_x"/>
                                          </p:val>
                                        </p:tav>
                                      </p:tavLst>
                                    </p:anim>
                                    <p:anim calcmode="lin" valueType="num">
                                      <p:cBhvr>
                                        <p:cTn id="51" dur="1000" fill="hold"/>
                                        <p:tgtEl>
                                          <p:spTgt spid="104">
                                            <p:txEl>
                                              <p:pRg st="8" end="8"/>
                                            </p:txEl>
                                          </p:spTgt>
                                        </p:tgtEl>
                                        <p:attrNameLst>
                                          <p:attrName>ppt_y</p:attrName>
                                        </p:attrNameLst>
                                      </p:cBhvr>
                                      <p:tavLst>
                                        <p:tav tm="0">
                                          <p:val>
                                            <p:strVal val="#ppt_y+.1"/>
                                          </p:val>
                                        </p:tav>
                                        <p:tav tm="100000">
                                          <p:val>
                                            <p:strVal val="#ppt_y"/>
                                          </p:val>
                                        </p:tav>
                                      </p:tavLst>
                                    </p:anim>
                                  </p:childTnLst>
                                </p:cTn>
                              </p:par>
                            </p:childTnLst>
                          </p:cTn>
                        </p:par>
                        <p:par>
                          <p:cTn id="52" fill="hold">
                            <p:stCondLst>
                              <p:cond delay="8000"/>
                            </p:stCondLst>
                            <p:childTnLst>
                              <p:par>
                                <p:cTn id="53" presetID="42" presetClass="entr" presetSubtype="0" fill="hold" grpId="0" nodeType="afterEffect">
                                  <p:stCondLst>
                                    <p:cond delay="0"/>
                                  </p:stCondLst>
                                  <p:childTnLst>
                                    <p:set>
                                      <p:cBhvr>
                                        <p:cTn id="54" dur="1" fill="hold">
                                          <p:stCondLst>
                                            <p:cond delay="0"/>
                                          </p:stCondLst>
                                        </p:cTn>
                                        <p:tgtEl>
                                          <p:spTgt spid="104">
                                            <p:txEl>
                                              <p:pRg st="9" end="9"/>
                                            </p:txEl>
                                          </p:spTgt>
                                        </p:tgtEl>
                                        <p:attrNameLst>
                                          <p:attrName>style.visibility</p:attrName>
                                        </p:attrNameLst>
                                      </p:cBhvr>
                                      <p:to>
                                        <p:strVal val="visible"/>
                                      </p:to>
                                    </p:set>
                                    <p:animEffect transition="in" filter="fade">
                                      <p:cBhvr>
                                        <p:cTn id="55" dur="1000"/>
                                        <p:tgtEl>
                                          <p:spTgt spid="104">
                                            <p:txEl>
                                              <p:pRg st="9" end="9"/>
                                            </p:txEl>
                                          </p:spTgt>
                                        </p:tgtEl>
                                      </p:cBhvr>
                                    </p:animEffect>
                                    <p:anim calcmode="lin" valueType="num">
                                      <p:cBhvr>
                                        <p:cTn id="56" dur="1000" fill="hold"/>
                                        <p:tgtEl>
                                          <p:spTgt spid="104">
                                            <p:txEl>
                                              <p:pRg st="9" end="9"/>
                                            </p:txEl>
                                          </p:spTgt>
                                        </p:tgtEl>
                                        <p:attrNameLst>
                                          <p:attrName>ppt_x</p:attrName>
                                        </p:attrNameLst>
                                      </p:cBhvr>
                                      <p:tavLst>
                                        <p:tav tm="0">
                                          <p:val>
                                            <p:strVal val="#ppt_x"/>
                                          </p:val>
                                        </p:tav>
                                        <p:tav tm="100000">
                                          <p:val>
                                            <p:strVal val="#ppt_x"/>
                                          </p:val>
                                        </p:tav>
                                      </p:tavLst>
                                    </p:anim>
                                    <p:anim calcmode="lin" valueType="num">
                                      <p:cBhvr>
                                        <p:cTn id="57" dur="1000" fill="hold"/>
                                        <p:tgtEl>
                                          <p:spTgt spid="104">
                                            <p:txEl>
                                              <p:pRg st="9" end="9"/>
                                            </p:txEl>
                                          </p:spTgt>
                                        </p:tgtEl>
                                        <p:attrNameLst>
                                          <p:attrName>ppt_y</p:attrName>
                                        </p:attrNameLst>
                                      </p:cBhvr>
                                      <p:tavLst>
                                        <p:tav tm="0">
                                          <p:val>
                                            <p:strVal val="#ppt_y+.1"/>
                                          </p:val>
                                        </p:tav>
                                        <p:tav tm="100000">
                                          <p:val>
                                            <p:strVal val="#ppt_y"/>
                                          </p:val>
                                        </p:tav>
                                      </p:tavLst>
                                    </p:anim>
                                  </p:childTnLst>
                                </p:cTn>
                              </p:par>
                            </p:childTnLst>
                          </p:cTn>
                        </p:par>
                        <p:par>
                          <p:cTn id="58" fill="hold">
                            <p:stCondLst>
                              <p:cond delay="9000"/>
                            </p:stCondLst>
                            <p:childTnLst>
                              <p:par>
                                <p:cTn id="59" presetID="42" presetClass="entr" presetSubtype="0" fill="hold" grpId="0" nodeType="afterEffect">
                                  <p:stCondLst>
                                    <p:cond delay="0"/>
                                  </p:stCondLst>
                                  <p:childTnLst>
                                    <p:set>
                                      <p:cBhvr>
                                        <p:cTn id="60" dur="1" fill="hold">
                                          <p:stCondLst>
                                            <p:cond delay="0"/>
                                          </p:stCondLst>
                                        </p:cTn>
                                        <p:tgtEl>
                                          <p:spTgt spid="104">
                                            <p:txEl>
                                              <p:pRg st="10" end="10"/>
                                            </p:txEl>
                                          </p:spTgt>
                                        </p:tgtEl>
                                        <p:attrNameLst>
                                          <p:attrName>style.visibility</p:attrName>
                                        </p:attrNameLst>
                                      </p:cBhvr>
                                      <p:to>
                                        <p:strVal val="visible"/>
                                      </p:to>
                                    </p:set>
                                    <p:animEffect transition="in" filter="fade">
                                      <p:cBhvr>
                                        <p:cTn id="61" dur="1000"/>
                                        <p:tgtEl>
                                          <p:spTgt spid="104">
                                            <p:txEl>
                                              <p:pRg st="10" end="10"/>
                                            </p:txEl>
                                          </p:spTgt>
                                        </p:tgtEl>
                                      </p:cBhvr>
                                    </p:animEffect>
                                    <p:anim calcmode="lin" valueType="num">
                                      <p:cBhvr>
                                        <p:cTn id="62" dur="1000" fill="hold"/>
                                        <p:tgtEl>
                                          <p:spTgt spid="104">
                                            <p:txEl>
                                              <p:pRg st="10" end="10"/>
                                            </p:txEl>
                                          </p:spTgt>
                                        </p:tgtEl>
                                        <p:attrNameLst>
                                          <p:attrName>ppt_x</p:attrName>
                                        </p:attrNameLst>
                                      </p:cBhvr>
                                      <p:tavLst>
                                        <p:tav tm="0">
                                          <p:val>
                                            <p:strVal val="#ppt_x"/>
                                          </p:val>
                                        </p:tav>
                                        <p:tav tm="100000">
                                          <p:val>
                                            <p:strVal val="#ppt_x"/>
                                          </p:val>
                                        </p:tav>
                                      </p:tavLst>
                                    </p:anim>
                                    <p:anim calcmode="lin" valueType="num">
                                      <p:cBhvr>
                                        <p:cTn id="63" dur="1000" fill="hold"/>
                                        <p:tgtEl>
                                          <p:spTgt spid="104">
                                            <p:txEl>
                                              <p:pRg st="10" end="10"/>
                                            </p:txEl>
                                          </p:spTgt>
                                        </p:tgtEl>
                                        <p:attrNameLst>
                                          <p:attrName>ppt_y</p:attrName>
                                        </p:attrNameLst>
                                      </p:cBhvr>
                                      <p:tavLst>
                                        <p:tav tm="0">
                                          <p:val>
                                            <p:strVal val="#ppt_y+.1"/>
                                          </p:val>
                                        </p:tav>
                                        <p:tav tm="100000">
                                          <p:val>
                                            <p:strVal val="#ppt_y"/>
                                          </p:val>
                                        </p:tav>
                                      </p:tavLst>
                                    </p:anim>
                                  </p:childTnLst>
                                </p:cTn>
                              </p:par>
                            </p:childTnLst>
                          </p:cTn>
                        </p:par>
                        <p:par>
                          <p:cTn id="64" fill="hold">
                            <p:stCondLst>
                              <p:cond delay="10000"/>
                            </p:stCondLst>
                            <p:childTnLst>
                              <p:par>
                                <p:cTn id="65" presetID="42" presetClass="entr" presetSubtype="0" fill="hold" grpId="0" nodeType="afterEffect">
                                  <p:stCondLst>
                                    <p:cond delay="0"/>
                                  </p:stCondLst>
                                  <p:childTnLst>
                                    <p:set>
                                      <p:cBhvr>
                                        <p:cTn id="66" dur="1" fill="hold">
                                          <p:stCondLst>
                                            <p:cond delay="0"/>
                                          </p:stCondLst>
                                        </p:cTn>
                                        <p:tgtEl>
                                          <p:spTgt spid="104">
                                            <p:txEl>
                                              <p:pRg st="11" end="11"/>
                                            </p:txEl>
                                          </p:spTgt>
                                        </p:tgtEl>
                                        <p:attrNameLst>
                                          <p:attrName>style.visibility</p:attrName>
                                        </p:attrNameLst>
                                      </p:cBhvr>
                                      <p:to>
                                        <p:strVal val="visible"/>
                                      </p:to>
                                    </p:set>
                                    <p:animEffect transition="in" filter="fade">
                                      <p:cBhvr>
                                        <p:cTn id="67" dur="1000"/>
                                        <p:tgtEl>
                                          <p:spTgt spid="104">
                                            <p:txEl>
                                              <p:pRg st="11" end="11"/>
                                            </p:txEl>
                                          </p:spTgt>
                                        </p:tgtEl>
                                      </p:cBhvr>
                                    </p:animEffect>
                                    <p:anim calcmode="lin" valueType="num">
                                      <p:cBhvr>
                                        <p:cTn id="68" dur="1000" fill="hold"/>
                                        <p:tgtEl>
                                          <p:spTgt spid="104">
                                            <p:txEl>
                                              <p:pRg st="11" end="11"/>
                                            </p:txEl>
                                          </p:spTgt>
                                        </p:tgtEl>
                                        <p:attrNameLst>
                                          <p:attrName>ppt_x</p:attrName>
                                        </p:attrNameLst>
                                      </p:cBhvr>
                                      <p:tavLst>
                                        <p:tav tm="0">
                                          <p:val>
                                            <p:strVal val="#ppt_x"/>
                                          </p:val>
                                        </p:tav>
                                        <p:tav tm="100000">
                                          <p:val>
                                            <p:strVal val="#ppt_x"/>
                                          </p:val>
                                        </p:tav>
                                      </p:tavLst>
                                    </p:anim>
                                    <p:anim calcmode="lin" valueType="num">
                                      <p:cBhvr>
                                        <p:cTn id="69" dur="1000" fill="hold"/>
                                        <p:tgtEl>
                                          <p:spTgt spid="104">
                                            <p:txEl>
                                              <p:pRg st="11" end="1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 grpId="0"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2"/>
          <p:cNvSpPr txBox="1">
            <a:spLocks noGrp="1"/>
          </p:cNvSpPr>
          <p:nvPr>
            <p:ph type="title"/>
          </p:nvPr>
        </p:nvSpPr>
        <p:spPr>
          <a:xfrm>
            <a:off x="0" y="0"/>
            <a:ext cx="9144000" cy="1066800"/>
          </a:xfrm>
          <a:prstGeom prst="rect">
            <a:avLst/>
          </a:prstGeom>
          <a:ln/>
        </p:spPr>
        <p:style>
          <a:lnRef idx="0">
            <a:schemeClr val="accent3"/>
          </a:lnRef>
          <a:fillRef idx="3">
            <a:schemeClr val="accent3"/>
          </a:fillRef>
          <a:effectRef idx="3">
            <a:schemeClr val="accent3"/>
          </a:effectRef>
          <a:fontRef idx="minor">
            <a:schemeClr val="lt1"/>
          </a:fontRef>
        </p:style>
        <p:txBody>
          <a:bodyPr spcFirstLastPara="1" wrap="square" lIns="91425" tIns="45700" rIns="91425" bIns="45700" anchor="ctr" anchorCtr="0">
            <a:normAutofit/>
          </a:bodyPr>
          <a:lstStyle/>
          <a:p>
            <a:pPr lvl="0">
              <a:defRPr/>
            </a:pPr>
            <a:r>
              <a:rPr lang="en-US" b="1" dirty="0">
                <a:ln w="1905"/>
                <a:solidFill>
                  <a:schemeClr val="tx1"/>
                </a:solidFill>
                <a:effectLst>
                  <a:innerShdw blurRad="69850" dist="43180" dir="5400000">
                    <a:srgbClr val="000000">
                      <a:alpha val="65000"/>
                    </a:srgbClr>
                  </a:innerShdw>
                </a:effectLst>
              </a:rPr>
              <a:t>Single Level Directory Structure</a:t>
            </a:r>
          </a:p>
        </p:txBody>
      </p:sp>
      <p:sp>
        <p:nvSpPr>
          <p:cNvPr id="104" name="Google Shape;104;p2"/>
          <p:cNvSpPr txBox="1">
            <a:spLocks noGrp="1"/>
          </p:cNvSpPr>
          <p:nvPr>
            <p:ph type="body" idx="1"/>
          </p:nvPr>
        </p:nvSpPr>
        <p:spPr>
          <a:xfrm>
            <a:off x="0" y="1047750"/>
            <a:ext cx="9144000" cy="5581650"/>
          </a:xfrm>
          <a:prstGeom prst="rect">
            <a:avLst/>
          </a:prstGeom>
          <a:noFill/>
          <a:ln>
            <a:noFill/>
          </a:ln>
        </p:spPr>
        <p:txBody>
          <a:bodyPr spcFirstLastPara="1" wrap="square" lIns="91425" tIns="45700" rIns="91425" bIns="45700" anchor="t" anchorCtr="0">
            <a:noAutofit/>
          </a:bodyPr>
          <a:lstStyle/>
          <a:p>
            <a:pPr marL="285750" indent="-285750" algn="just"/>
            <a:r>
              <a:rPr lang="en-US" sz="2400" dirty="0"/>
              <a:t>It is the simplest form of directory system is having one directory containing all the files. Sometimes, it is called the root directory.</a:t>
            </a:r>
          </a:p>
          <a:p>
            <a:pPr marL="285750" indent="-285750" algn="just"/>
            <a:endParaRPr lang="en-US" sz="2400" dirty="0"/>
          </a:p>
          <a:p>
            <a:pPr marL="285750" indent="-285750" algn="just"/>
            <a:r>
              <a:rPr lang="en-US" sz="2400" dirty="0"/>
              <a:t>In single level directory structure, the entire files are contained in the same directory. So unique name must be assigned to each file of the directory</a:t>
            </a:r>
          </a:p>
          <a:p>
            <a:pPr marL="285750" indent="-285750" algn="just"/>
            <a:endParaRPr lang="en-US" sz="2400" dirty="0"/>
          </a:p>
          <a:p>
            <a:pPr marL="285750" indent="-285750" algn="just"/>
            <a:r>
              <a:rPr lang="en-US" sz="2400" dirty="0"/>
              <a:t>Single level directory structure was implemented in the older versions of single user systems.</a:t>
            </a:r>
          </a:p>
          <a:p>
            <a:pPr marL="285750" indent="-285750" algn="just"/>
            <a:endParaRPr lang="en-US" sz="2400" dirty="0"/>
          </a:p>
          <a:p>
            <a:pPr marL="285750" indent="-285750" algn="just"/>
            <a:r>
              <a:rPr lang="en-US" sz="2400" dirty="0"/>
              <a:t>The world’s first supercomputer, the CDC 6600, had only a single directory for all files, even though it was used by many users at once.</a:t>
            </a:r>
          </a:p>
        </p:txBody>
      </p:sp>
      <p:sp>
        <p:nvSpPr>
          <p:cNvPr id="105" name="Google Shape;105;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pPr marL="0" lvl="0" indent="0" algn="r" rtl="0">
                <a:spcBef>
                  <a:spcPts val="0"/>
                </a:spcBef>
                <a:spcAft>
                  <a:spcPts val="0"/>
                </a:spcAft>
                <a:buNone/>
              </a:pPr>
              <a:t>31</a:t>
            </a:fld>
            <a:endParaRPr dirty="0"/>
          </a:p>
        </p:txBody>
      </p:sp>
    </p:spTree>
    <p:extLst>
      <p:ext uri="{BB962C8B-B14F-4D97-AF65-F5344CB8AC3E}">
        <p14:creationId xmlns:p14="http://schemas.microsoft.com/office/powerpoint/2010/main" xmlns="" val="1992773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04">
                                            <p:txEl>
                                              <p:pRg st="0" end="0"/>
                                            </p:txEl>
                                          </p:spTgt>
                                        </p:tgtEl>
                                        <p:attrNameLst>
                                          <p:attrName>style.visibility</p:attrName>
                                        </p:attrNameLst>
                                      </p:cBhvr>
                                      <p:to>
                                        <p:strVal val="visible"/>
                                      </p:to>
                                    </p:set>
                                    <p:animEffect transition="in" filter="fade">
                                      <p:cBhvr>
                                        <p:cTn id="7" dur="1000"/>
                                        <p:tgtEl>
                                          <p:spTgt spid="104">
                                            <p:txEl>
                                              <p:pRg st="0" end="0"/>
                                            </p:txEl>
                                          </p:spTgt>
                                        </p:tgtEl>
                                      </p:cBhvr>
                                    </p:animEffect>
                                    <p:anim calcmode="lin" valueType="num">
                                      <p:cBhvr>
                                        <p:cTn id="8" dur="1000" fill="hold"/>
                                        <p:tgtEl>
                                          <p:spTgt spid="10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04">
                                            <p:txEl>
                                              <p:pRg st="0" end="0"/>
                                            </p:txEl>
                                          </p:spTgt>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grpId="0" nodeType="afterEffect">
                                  <p:stCondLst>
                                    <p:cond delay="0"/>
                                  </p:stCondLst>
                                  <p:childTnLst>
                                    <p:set>
                                      <p:cBhvr>
                                        <p:cTn id="12" dur="1" fill="hold">
                                          <p:stCondLst>
                                            <p:cond delay="0"/>
                                          </p:stCondLst>
                                        </p:cTn>
                                        <p:tgtEl>
                                          <p:spTgt spid="104">
                                            <p:txEl>
                                              <p:pRg st="2" end="2"/>
                                            </p:txEl>
                                          </p:spTgt>
                                        </p:tgtEl>
                                        <p:attrNameLst>
                                          <p:attrName>style.visibility</p:attrName>
                                        </p:attrNameLst>
                                      </p:cBhvr>
                                      <p:to>
                                        <p:strVal val="visible"/>
                                      </p:to>
                                    </p:set>
                                    <p:animEffect transition="in" filter="fade">
                                      <p:cBhvr>
                                        <p:cTn id="13" dur="1000"/>
                                        <p:tgtEl>
                                          <p:spTgt spid="104">
                                            <p:txEl>
                                              <p:pRg st="2" end="2"/>
                                            </p:txEl>
                                          </p:spTgt>
                                        </p:tgtEl>
                                      </p:cBhvr>
                                    </p:animEffect>
                                    <p:anim calcmode="lin" valueType="num">
                                      <p:cBhvr>
                                        <p:cTn id="14" dur="1000" fill="hold"/>
                                        <p:tgtEl>
                                          <p:spTgt spid="104">
                                            <p:txEl>
                                              <p:pRg st="2" end="2"/>
                                            </p:txEl>
                                          </p:spTgt>
                                        </p:tgtEl>
                                        <p:attrNameLst>
                                          <p:attrName>ppt_x</p:attrName>
                                        </p:attrNameLst>
                                      </p:cBhvr>
                                      <p:tavLst>
                                        <p:tav tm="0">
                                          <p:val>
                                            <p:strVal val="#ppt_x"/>
                                          </p:val>
                                        </p:tav>
                                        <p:tav tm="100000">
                                          <p:val>
                                            <p:strVal val="#ppt_x"/>
                                          </p:val>
                                        </p:tav>
                                      </p:tavLst>
                                    </p:anim>
                                    <p:anim calcmode="lin" valueType="num">
                                      <p:cBhvr>
                                        <p:cTn id="15" dur="1000" fill="hold"/>
                                        <p:tgtEl>
                                          <p:spTgt spid="104">
                                            <p:txEl>
                                              <p:pRg st="2" end="2"/>
                                            </p:txEl>
                                          </p:spTgt>
                                        </p:tgtEl>
                                        <p:attrNameLst>
                                          <p:attrName>ppt_y</p:attrName>
                                        </p:attrNameLst>
                                      </p:cBhvr>
                                      <p:tavLst>
                                        <p:tav tm="0">
                                          <p:val>
                                            <p:strVal val="#ppt_y+.1"/>
                                          </p:val>
                                        </p:tav>
                                        <p:tav tm="100000">
                                          <p:val>
                                            <p:strVal val="#ppt_y"/>
                                          </p:val>
                                        </p:tav>
                                      </p:tavLst>
                                    </p:anim>
                                  </p:childTnLst>
                                </p:cTn>
                              </p:par>
                            </p:childTnLst>
                          </p:cTn>
                        </p:par>
                        <p:par>
                          <p:cTn id="16" fill="hold">
                            <p:stCondLst>
                              <p:cond delay="2000"/>
                            </p:stCondLst>
                            <p:childTnLst>
                              <p:par>
                                <p:cTn id="17" presetID="42" presetClass="entr" presetSubtype="0" fill="hold" grpId="0" nodeType="afterEffect">
                                  <p:stCondLst>
                                    <p:cond delay="0"/>
                                  </p:stCondLst>
                                  <p:childTnLst>
                                    <p:set>
                                      <p:cBhvr>
                                        <p:cTn id="18" dur="1" fill="hold">
                                          <p:stCondLst>
                                            <p:cond delay="0"/>
                                          </p:stCondLst>
                                        </p:cTn>
                                        <p:tgtEl>
                                          <p:spTgt spid="104">
                                            <p:txEl>
                                              <p:pRg st="4" end="4"/>
                                            </p:txEl>
                                          </p:spTgt>
                                        </p:tgtEl>
                                        <p:attrNameLst>
                                          <p:attrName>style.visibility</p:attrName>
                                        </p:attrNameLst>
                                      </p:cBhvr>
                                      <p:to>
                                        <p:strVal val="visible"/>
                                      </p:to>
                                    </p:set>
                                    <p:animEffect transition="in" filter="fade">
                                      <p:cBhvr>
                                        <p:cTn id="19" dur="1000"/>
                                        <p:tgtEl>
                                          <p:spTgt spid="104">
                                            <p:txEl>
                                              <p:pRg st="4" end="4"/>
                                            </p:txEl>
                                          </p:spTgt>
                                        </p:tgtEl>
                                      </p:cBhvr>
                                    </p:animEffect>
                                    <p:anim calcmode="lin" valueType="num">
                                      <p:cBhvr>
                                        <p:cTn id="20" dur="1000" fill="hold"/>
                                        <p:tgtEl>
                                          <p:spTgt spid="104">
                                            <p:txEl>
                                              <p:pRg st="4" end="4"/>
                                            </p:txEl>
                                          </p:spTgt>
                                        </p:tgtEl>
                                        <p:attrNameLst>
                                          <p:attrName>ppt_x</p:attrName>
                                        </p:attrNameLst>
                                      </p:cBhvr>
                                      <p:tavLst>
                                        <p:tav tm="0">
                                          <p:val>
                                            <p:strVal val="#ppt_x"/>
                                          </p:val>
                                        </p:tav>
                                        <p:tav tm="100000">
                                          <p:val>
                                            <p:strVal val="#ppt_x"/>
                                          </p:val>
                                        </p:tav>
                                      </p:tavLst>
                                    </p:anim>
                                    <p:anim calcmode="lin" valueType="num">
                                      <p:cBhvr>
                                        <p:cTn id="21" dur="1000" fill="hold"/>
                                        <p:tgtEl>
                                          <p:spTgt spid="104">
                                            <p:txEl>
                                              <p:pRg st="4" end="4"/>
                                            </p:txEl>
                                          </p:spTgt>
                                        </p:tgtEl>
                                        <p:attrNameLst>
                                          <p:attrName>ppt_y</p:attrName>
                                        </p:attrNameLst>
                                      </p:cBhvr>
                                      <p:tavLst>
                                        <p:tav tm="0">
                                          <p:val>
                                            <p:strVal val="#ppt_y+.1"/>
                                          </p:val>
                                        </p:tav>
                                        <p:tav tm="100000">
                                          <p:val>
                                            <p:strVal val="#ppt_y"/>
                                          </p:val>
                                        </p:tav>
                                      </p:tavLst>
                                    </p:anim>
                                  </p:childTnLst>
                                </p:cTn>
                              </p:par>
                            </p:childTnLst>
                          </p:cTn>
                        </p:par>
                        <p:par>
                          <p:cTn id="22" fill="hold">
                            <p:stCondLst>
                              <p:cond delay="3000"/>
                            </p:stCondLst>
                            <p:childTnLst>
                              <p:par>
                                <p:cTn id="23" presetID="42" presetClass="entr" presetSubtype="0" fill="hold" grpId="0" nodeType="afterEffect">
                                  <p:stCondLst>
                                    <p:cond delay="0"/>
                                  </p:stCondLst>
                                  <p:childTnLst>
                                    <p:set>
                                      <p:cBhvr>
                                        <p:cTn id="24" dur="1" fill="hold">
                                          <p:stCondLst>
                                            <p:cond delay="0"/>
                                          </p:stCondLst>
                                        </p:cTn>
                                        <p:tgtEl>
                                          <p:spTgt spid="104">
                                            <p:txEl>
                                              <p:pRg st="6" end="6"/>
                                            </p:txEl>
                                          </p:spTgt>
                                        </p:tgtEl>
                                        <p:attrNameLst>
                                          <p:attrName>style.visibility</p:attrName>
                                        </p:attrNameLst>
                                      </p:cBhvr>
                                      <p:to>
                                        <p:strVal val="visible"/>
                                      </p:to>
                                    </p:set>
                                    <p:animEffect transition="in" filter="fade">
                                      <p:cBhvr>
                                        <p:cTn id="25" dur="1000"/>
                                        <p:tgtEl>
                                          <p:spTgt spid="104">
                                            <p:txEl>
                                              <p:pRg st="6" end="6"/>
                                            </p:txEl>
                                          </p:spTgt>
                                        </p:tgtEl>
                                      </p:cBhvr>
                                    </p:animEffect>
                                    <p:anim calcmode="lin" valueType="num">
                                      <p:cBhvr>
                                        <p:cTn id="26" dur="1000" fill="hold"/>
                                        <p:tgtEl>
                                          <p:spTgt spid="104">
                                            <p:txEl>
                                              <p:pRg st="6" end="6"/>
                                            </p:txEl>
                                          </p:spTgt>
                                        </p:tgtEl>
                                        <p:attrNameLst>
                                          <p:attrName>ppt_x</p:attrName>
                                        </p:attrNameLst>
                                      </p:cBhvr>
                                      <p:tavLst>
                                        <p:tav tm="0">
                                          <p:val>
                                            <p:strVal val="#ppt_x"/>
                                          </p:val>
                                        </p:tav>
                                        <p:tav tm="100000">
                                          <p:val>
                                            <p:strVal val="#ppt_x"/>
                                          </p:val>
                                        </p:tav>
                                      </p:tavLst>
                                    </p:anim>
                                    <p:anim calcmode="lin" valueType="num">
                                      <p:cBhvr>
                                        <p:cTn id="27" dur="1000" fill="hold"/>
                                        <p:tgtEl>
                                          <p:spTgt spid="104">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 grpId="0"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2"/>
          <p:cNvSpPr txBox="1">
            <a:spLocks noGrp="1"/>
          </p:cNvSpPr>
          <p:nvPr>
            <p:ph type="title"/>
          </p:nvPr>
        </p:nvSpPr>
        <p:spPr>
          <a:xfrm>
            <a:off x="0" y="0"/>
            <a:ext cx="9144000" cy="1066800"/>
          </a:xfrm>
          <a:prstGeom prst="rect">
            <a:avLst/>
          </a:prstGeom>
          <a:ln/>
        </p:spPr>
        <p:style>
          <a:lnRef idx="0">
            <a:schemeClr val="accent3"/>
          </a:lnRef>
          <a:fillRef idx="3">
            <a:schemeClr val="accent3"/>
          </a:fillRef>
          <a:effectRef idx="3">
            <a:schemeClr val="accent3"/>
          </a:effectRef>
          <a:fontRef idx="minor">
            <a:schemeClr val="lt1"/>
          </a:fontRef>
        </p:style>
        <p:txBody>
          <a:bodyPr spcFirstLastPara="1" wrap="square" lIns="91425" tIns="45700" rIns="91425" bIns="45700" anchor="ctr" anchorCtr="0">
            <a:normAutofit/>
          </a:bodyPr>
          <a:lstStyle/>
          <a:p>
            <a:pPr lvl="0">
              <a:defRPr/>
            </a:pPr>
            <a:r>
              <a:rPr lang="en-US" b="1" dirty="0">
                <a:ln w="1905"/>
                <a:solidFill>
                  <a:schemeClr val="tx1"/>
                </a:solidFill>
                <a:effectLst>
                  <a:innerShdw blurRad="69850" dist="43180" dir="5400000">
                    <a:srgbClr val="000000">
                      <a:alpha val="65000"/>
                    </a:srgbClr>
                  </a:innerShdw>
                </a:effectLst>
              </a:rPr>
              <a:t>Single Level Directory Structure</a:t>
            </a:r>
          </a:p>
        </p:txBody>
      </p:sp>
      <p:sp>
        <p:nvSpPr>
          <p:cNvPr id="105" name="Google Shape;105;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pPr marL="0" lvl="0" indent="0" algn="r" rtl="0">
                <a:spcBef>
                  <a:spcPts val="0"/>
                </a:spcBef>
                <a:spcAft>
                  <a:spcPts val="0"/>
                </a:spcAft>
                <a:buNone/>
              </a:pPr>
              <a:t>32</a:t>
            </a:fld>
            <a:endParaRPr dirty="0"/>
          </a:p>
        </p:txBody>
      </p:sp>
      <p:pic>
        <p:nvPicPr>
          <p:cNvPr id="5" name="Picture 2"/>
          <p:cNvPicPr>
            <a:picLocks noChangeAspect="1" noChangeArrowheads="1"/>
          </p:cNvPicPr>
          <p:nvPr/>
        </p:nvPicPr>
        <p:blipFill>
          <a:blip r:embed="rId3">
            <a:extLst>
              <a:ext uri="{28A0092B-C50C-407E-A947-70E740481C1C}">
                <a14:useLocalDpi xmlns:a14="http://schemas.microsoft.com/office/drawing/2010/main" xmlns="" val="0"/>
              </a:ext>
            </a:extLst>
          </a:blip>
          <a:srcRect/>
          <a:stretch>
            <a:fillRect/>
          </a:stretch>
        </p:blipFill>
        <p:spPr bwMode="auto">
          <a:xfrm>
            <a:off x="228600" y="1143000"/>
            <a:ext cx="8762999" cy="5562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3419242368"/>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2"/>
          <p:cNvSpPr txBox="1">
            <a:spLocks noGrp="1"/>
          </p:cNvSpPr>
          <p:nvPr>
            <p:ph type="title"/>
          </p:nvPr>
        </p:nvSpPr>
        <p:spPr>
          <a:xfrm>
            <a:off x="0" y="0"/>
            <a:ext cx="9144000" cy="1066800"/>
          </a:xfrm>
          <a:prstGeom prst="rect">
            <a:avLst/>
          </a:prstGeom>
          <a:ln/>
        </p:spPr>
        <p:style>
          <a:lnRef idx="0">
            <a:schemeClr val="accent3"/>
          </a:lnRef>
          <a:fillRef idx="3">
            <a:schemeClr val="accent3"/>
          </a:fillRef>
          <a:effectRef idx="3">
            <a:schemeClr val="accent3"/>
          </a:effectRef>
          <a:fontRef idx="minor">
            <a:schemeClr val="lt1"/>
          </a:fontRef>
        </p:style>
        <p:txBody>
          <a:bodyPr spcFirstLastPara="1" wrap="square" lIns="91425" tIns="45700" rIns="91425" bIns="45700" anchor="ctr" anchorCtr="0">
            <a:normAutofit/>
          </a:bodyPr>
          <a:lstStyle/>
          <a:p>
            <a:pPr lvl="0">
              <a:defRPr/>
            </a:pPr>
            <a:r>
              <a:rPr lang="en-US" b="1" dirty="0">
                <a:ln w="1905"/>
                <a:solidFill>
                  <a:schemeClr val="tx1"/>
                </a:solidFill>
                <a:effectLst>
                  <a:innerShdw blurRad="69850" dist="43180" dir="5400000">
                    <a:srgbClr val="000000">
                      <a:alpha val="65000"/>
                    </a:srgbClr>
                  </a:innerShdw>
                </a:effectLst>
              </a:rPr>
              <a:t>Two Level Directory Structure</a:t>
            </a:r>
          </a:p>
        </p:txBody>
      </p:sp>
      <p:sp>
        <p:nvSpPr>
          <p:cNvPr id="104" name="Google Shape;104;p2"/>
          <p:cNvSpPr txBox="1">
            <a:spLocks noGrp="1"/>
          </p:cNvSpPr>
          <p:nvPr>
            <p:ph type="body" idx="1"/>
          </p:nvPr>
        </p:nvSpPr>
        <p:spPr>
          <a:xfrm>
            <a:off x="0" y="1047750"/>
            <a:ext cx="9144000" cy="5581650"/>
          </a:xfrm>
          <a:prstGeom prst="rect">
            <a:avLst/>
          </a:prstGeom>
          <a:noFill/>
          <a:ln>
            <a:noFill/>
          </a:ln>
        </p:spPr>
        <p:txBody>
          <a:bodyPr spcFirstLastPara="1" wrap="square" lIns="91425" tIns="45700" rIns="91425" bIns="45700" anchor="t" anchorCtr="0">
            <a:noAutofit/>
          </a:bodyPr>
          <a:lstStyle/>
          <a:p>
            <a:pPr marL="285750" indent="-285750"/>
            <a:r>
              <a:rPr lang="en-US" sz="2100" dirty="0"/>
              <a:t>The structure of two level directory structure is divided into two levels of directories namely, a master directory and user directories. The user directories are the sub-directories of the master directory.</a:t>
            </a:r>
          </a:p>
          <a:p>
            <a:pPr marL="285750" indent="-285750"/>
            <a:endParaRPr lang="en-US" sz="2100" dirty="0"/>
          </a:p>
          <a:p>
            <a:pPr marL="285750" indent="-285750"/>
            <a:r>
              <a:rPr lang="en-US" sz="2100" dirty="0"/>
              <a:t>In two level directory structure, a separate directory is provided to each user and all these directories are contained and indexed in the master directory.</a:t>
            </a:r>
          </a:p>
          <a:p>
            <a:pPr marL="285750" indent="-285750"/>
            <a:endParaRPr lang="en-US" sz="2100" dirty="0"/>
          </a:p>
          <a:p>
            <a:pPr marL="285750" indent="-285750"/>
            <a:r>
              <a:rPr lang="en-US" sz="2100" dirty="0"/>
              <a:t>The user directory represents a list of files of a specific user. In this directory structure, each users has its private directory known as User File Directory (UFD).</a:t>
            </a:r>
          </a:p>
          <a:p>
            <a:pPr marL="285750" indent="-285750"/>
            <a:endParaRPr lang="en-US" sz="2100" dirty="0"/>
          </a:p>
          <a:p>
            <a:pPr marL="285750" indent="-285750"/>
            <a:r>
              <a:rPr lang="en-US" sz="2100" dirty="0"/>
              <a:t>The user directories themselves must be created and deleted as necessary. A special system program is run with the appropriate user name and account information. The program creates a new UFD and adds an entry for it to the Master File Directory (MFD). Thus the two level directories solve the name collision problem.</a:t>
            </a:r>
          </a:p>
        </p:txBody>
      </p:sp>
      <p:sp>
        <p:nvSpPr>
          <p:cNvPr id="105" name="Google Shape;105;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pPr marL="0" lvl="0" indent="0" algn="r" rtl="0">
                <a:spcBef>
                  <a:spcPts val="0"/>
                </a:spcBef>
                <a:spcAft>
                  <a:spcPts val="0"/>
                </a:spcAft>
                <a:buNone/>
              </a:pPr>
              <a:t>33</a:t>
            </a:fld>
            <a:endParaRPr dirty="0"/>
          </a:p>
        </p:txBody>
      </p:sp>
    </p:spTree>
    <p:extLst>
      <p:ext uri="{BB962C8B-B14F-4D97-AF65-F5344CB8AC3E}">
        <p14:creationId xmlns:p14="http://schemas.microsoft.com/office/powerpoint/2010/main" xmlns="" val="1678394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04">
                                            <p:txEl>
                                              <p:pRg st="0" end="0"/>
                                            </p:txEl>
                                          </p:spTgt>
                                        </p:tgtEl>
                                        <p:attrNameLst>
                                          <p:attrName>style.visibility</p:attrName>
                                        </p:attrNameLst>
                                      </p:cBhvr>
                                      <p:to>
                                        <p:strVal val="visible"/>
                                      </p:to>
                                    </p:set>
                                    <p:animEffect transition="in" filter="fade">
                                      <p:cBhvr>
                                        <p:cTn id="7" dur="1000"/>
                                        <p:tgtEl>
                                          <p:spTgt spid="104">
                                            <p:txEl>
                                              <p:pRg st="0" end="0"/>
                                            </p:txEl>
                                          </p:spTgt>
                                        </p:tgtEl>
                                      </p:cBhvr>
                                    </p:animEffect>
                                    <p:anim calcmode="lin" valueType="num">
                                      <p:cBhvr>
                                        <p:cTn id="8" dur="1000" fill="hold"/>
                                        <p:tgtEl>
                                          <p:spTgt spid="10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04">
                                            <p:txEl>
                                              <p:pRg st="0" end="0"/>
                                            </p:txEl>
                                          </p:spTgt>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grpId="0" nodeType="afterEffect">
                                  <p:stCondLst>
                                    <p:cond delay="0"/>
                                  </p:stCondLst>
                                  <p:childTnLst>
                                    <p:set>
                                      <p:cBhvr>
                                        <p:cTn id="12" dur="1" fill="hold">
                                          <p:stCondLst>
                                            <p:cond delay="0"/>
                                          </p:stCondLst>
                                        </p:cTn>
                                        <p:tgtEl>
                                          <p:spTgt spid="104">
                                            <p:txEl>
                                              <p:pRg st="2" end="2"/>
                                            </p:txEl>
                                          </p:spTgt>
                                        </p:tgtEl>
                                        <p:attrNameLst>
                                          <p:attrName>style.visibility</p:attrName>
                                        </p:attrNameLst>
                                      </p:cBhvr>
                                      <p:to>
                                        <p:strVal val="visible"/>
                                      </p:to>
                                    </p:set>
                                    <p:animEffect transition="in" filter="fade">
                                      <p:cBhvr>
                                        <p:cTn id="13" dur="1000"/>
                                        <p:tgtEl>
                                          <p:spTgt spid="104">
                                            <p:txEl>
                                              <p:pRg st="2" end="2"/>
                                            </p:txEl>
                                          </p:spTgt>
                                        </p:tgtEl>
                                      </p:cBhvr>
                                    </p:animEffect>
                                    <p:anim calcmode="lin" valueType="num">
                                      <p:cBhvr>
                                        <p:cTn id="14" dur="1000" fill="hold"/>
                                        <p:tgtEl>
                                          <p:spTgt spid="104">
                                            <p:txEl>
                                              <p:pRg st="2" end="2"/>
                                            </p:txEl>
                                          </p:spTgt>
                                        </p:tgtEl>
                                        <p:attrNameLst>
                                          <p:attrName>ppt_x</p:attrName>
                                        </p:attrNameLst>
                                      </p:cBhvr>
                                      <p:tavLst>
                                        <p:tav tm="0">
                                          <p:val>
                                            <p:strVal val="#ppt_x"/>
                                          </p:val>
                                        </p:tav>
                                        <p:tav tm="100000">
                                          <p:val>
                                            <p:strVal val="#ppt_x"/>
                                          </p:val>
                                        </p:tav>
                                      </p:tavLst>
                                    </p:anim>
                                    <p:anim calcmode="lin" valueType="num">
                                      <p:cBhvr>
                                        <p:cTn id="15" dur="1000" fill="hold"/>
                                        <p:tgtEl>
                                          <p:spTgt spid="104">
                                            <p:txEl>
                                              <p:pRg st="2" end="2"/>
                                            </p:txEl>
                                          </p:spTgt>
                                        </p:tgtEl>
                                        <p:attrNameLst>
                                          <p:attrName>ppt_y</p:attrName>
                                        </p:attrNameLst>
                                      </p:cBhvr>
                                      <p:tavLst>
                                        <p:tav tm="0">
                                          <p:val>
                                            <p:strVal val="#ppt_y+.1"/>
                                          </p:val>
                                        </p:tav>
                                        <p:tav tm="100000">
                                          <p:val>
                                            <p:strVal val="#ppt_y"/>
                                          </p:val>
                                        </p:tav>
                                      </p:tavLst>
                                    </p:anim>
                                  </p:childTnLst>
                                </p:cTn>
                              </p:par>
                            </p:childTnLst>
                          </p:cTn>
                        </p:par>
                        <p:par>
                          <p:cTn id="16" fill="hold">
                            <p:stCondLst>
                              <p:cond delay="2000"/>
                            </p:stCondLst>
                            <p:childTnLst>
                              <p:par>
                                <p:cTn id="17" presetID="42" presetClass="entr" presetSubtype="0" fill="hold" grpId="0" nodeType="afterEffect">
                                  <p:stCondLst>
                                    <p:cond delay="0"/>
                                  </p:stCondLst>
                                  <p:childTnLst>
                                    <p:set>
                                      <p:cBhvr>
                                        <p:cTn id="18" dur="1" fill="hold">
                                          <p:stCondLst>
                                            <p:cond delay="0"/>
                                          </p:stCondLst>
                                        </p:cTn>
                                        <p:tgtEl>
                                          <p:spTgt spid="104">
                                            <p:txEl>
                                              <p:pRg st="4" end="4"/>
                                            </p:txEl>
                                          </p:spTgt>
                                        </p:tgtEl>
                                        <p:attrNameLst>
                                          <p:attrName>style.visibility</p:attrName>
                                        </p:attrNameLst>
                                      </p:cBhvr>
                                      <p:to>
                                        <p:strVal val="visible"/>
                                      </p:to>
                                    </p:set>
                                    <p:animEffect transition="in" filter="fade">
                                      <p:cBhvr>
                                        <p:cTn id="19" dur="1000"/>
                                        <p:tgtEl>
                                          <p:spTgt spid="104">
                                            <p:txEl>
                                              <p:pRg st="4" end="4"/>
                                            </p:txEl>
                                          </p:spTgt>
                                        </p:tgtEl>
                                      </p:cBhvr>
                                    </p:animEffect>
                                    <p:anim calcmode="lin" valueType="num">
                                      <p:cBhvr>
                                        <p:cTn id="20" dur="1000" fill="hold"/>
                                        <p:tgtEl>
                                          <p:spTgt spid="104">
                                            <p:txEl>
                                              <p:pRg st="4" end="4"/>
                                            </p:txEl>
                                          </p:spTgt>
                                        </p:tgtEl>
                                        <p:attrNameLst>
                                          <p:attrName>ppt_x</p:attrName>
                                        </p:attrNameLst>
                                      </p:cBhvr>
                                      <p:tavLst>
                                        <p:tav tm="0">
                                          <p:val>
                                            <p:strVal val="#ppt_x"/>
                                          </p:val>
                                        </p:tav>
                                        <p:tav tm="100000">
                                          <p:val>
                                            <p:strVal val="#ppt_x"/>
                                          </p:val>
                                        </p:tav>
                                      </p:tavLst>
                                    </p:anim>
                                    <p:anim calcmode="lin" valueType="num">
                                      <p:cBhvr>
                                        <p:cTn id="21" dur="1000" fill="hold"/>
                                        <p:tgtEl>
                                          <p:spTgt spid="104">
                                            <p:txEl>
                                              <p:pRg st="4" end="4"/>
                                            </p:txEl>
                                          </p:spTgt>
                                        </p:tgtEl>
                                        <p:attrNameLst>
                                          <p:attrName>ppt_y</p:attrName>
                                        </p:attrNameLst>
                                      </p:cBhvr>
                                      <p:tavLst>
                                        <p:tav tm="0">
                                          <p:val>
                                            <p:strVal val="#ppt_y+.1"/>
                                          </p:val>
                                        </p:tav>
                                        <p:tav tm="100000">
                                          <p:val>
                                            <p:strVal val="#ppt_y"/>
                                          </p:val>
                                        </p:tav>
                                      </p:tavLst>
                                    </p:anim>
                                  </p:childTnLst>
                                </p:cTn>
                              </p:par>
                            </p:childTnLst>
                          </p:cTn>
                        </p:par>
                        <p:par>
                          <p:cTn id="22" fill="hold">
                            <p:stCondLst>
                              <p:cond delay="3000"/>
                            </p:stCondLst>
                            <p:childTnLst>
                              <p:par>
                                <p:cTn id="23" presetID="42" presetClass="entr" presetSubtype="0" fill="hold" grpId="0" nodeType="afterEffect">
                                  <p:stCondLst>
                                    <p:cond delay="0"/>
                                  </p:stCondLst>
                                  <p:childTnLst>
                                    <p:set>
                                      <p:cBhvr>
                                        <p:cTn id="24" dur="1" fill="hold">
                                          <p:stCondLst>
                                            <p:cond delay="0"/>
                                          </p:stCondLst>
                                        </p:cTn>
                                        <p:tgtEl>
                                          <p:spTgt spid="104">
                                            <p:txEl>
                                              <p:pRg st="6" end="6"/>
                                            </p:txEl>
                                          </p:spTgt>
                                        </p:tgtEl>
                                        <p:attrNameLst>
                                          <p:attrName>style.visibility</p:attrName>
                                        </p:attrNameLst>
                                      </p:cBhvr>
                                      <p:to>
                                        <p:strVal val="visible"/>
                                      </p:to>
                                    </p:set>
                                    <p:animEffect transition="in" filter="fade">
                                      <p:cBhvr>
                                        <p:cTn id="25" dur="1000"/>
                                        <p:tgtEl>
                                          <p:spTgt spid="104">
                                            <p:txEl>
                                              <p:pRg st="6" end="6"/>
                                            </p:txEl>
                                          </p:spTgt>
                                        </p:tgtEl>
                                      </p:cBhvr>
                                    </p:animEffect>
                                    <p:anim calcmode="lin" valueType="num">
                                      <p:cBhvr>
                                        <p:cTn id="26" dur="1000" fill="hold"/>
                                        <p:tgtEl>
                                          <p:spTgt spid="104">
                                            <p:txEl>
                                              <p:pRg st="6" end="6"/>
                                            </p:txEl>
                                          </p:spTgt>
                                        </p:tgtEl>
                                        <p:attrNameLst>
                                          <p:attrName>ppt_x</p:attrName>
                                        </p:attrNameLst>
                                      </p:cBhvr>
                                      <p:tavLst>
                                        <p:tav tm="0">
                                          <p:val>
                                            <p:strVal val="#ppt_x"/>
                                          </p:val>
                                        </p:tav>
                                        <p:tav tm="100000">
                                          <p:val>
                                            <p:strVal val="#ppt_x"/>
                                          </p:val>
                                        </p:tav>
                                      </p:tavLst>
                                    </p:anim>
                                    <p:anim calcmode="lin" valueType="num">
                                      <p:cBhvr>
                                        <p:cTn id="27" dur="1000" fill="hold"/>
                                        <p:tgtEl>
                                          <p:spTgt spid="104">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 grpId="0"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2"/>
          <p:cNvSpPr txBox="1">
            <a:spLocks noGrp="1"/>
          </p:cNvSpPr>
          <p:nvPr>
            <p:ph type="title"/>
          </p:nvPr>
        </p:nvSpPr>
        <p:spPr>
          <a:xfrm>
            <a:off x="0" y="0"/>
            <a:ext cx="9144000" cy="1066800"/>
          </a:xfrm>
          <a:prstGeom prst="rect">
            <a:avLst/>
          </a:prstGeom>
          <a:ln/>
        </p:spPr>
        <p:style>
          <a:lnRef idx="0">
            <a:schemeClr val="accent3"/>
          </a:lnRef>
          <a:fillRef idx="3">
            <a:schemeClr val="accent3"/>
          </a:fillRef>
          <a:effectRef idx="3">
            <a:schemeClr val="accent3"/>
          </a:effectRef>
          <a:fontRef idx="minor">
            <a:schemeClr val="lt1"/>
          </a:fontRef>
        </p:style>
        <p:txBody>
          <a:bodyPr spcFirstLastPara="1" wrap="square" lIns="91425" tIns="45700" rIns="91425" bIns="45700" anchor="ctr" anchorCtr="0">
            <a:normAutofit/>
          </a:bodyPr>
          <a:lstStyle/>
          <a:p>
            <a:pPr lvl="0">
              <a:defRPr/>
            </a:pPr>
            <a:r>
              <a:rPr lang="en-US" b="1" dirty="0">
                <a:ln w="1905"/>
                <a:solidFill>
                  <a:schemeClr val="tx1"/>
                </a:solidFill>
                <a:effectLst>
                  <a:innerShdw blurRad="69850" dist="43180" dir="5400000">
                    <a:srgbClr val="000000">
                      <a:alpha val="65000"/>
                    </a:srgbClr>
                  </a:innerShdw>
                </a:effectLst>
              </a:rPr>
              <a:t>Two Level Directory Structure</a:t>
            </a:r>
          </a:p>
        </p:txBody>
      </p:sp>
      <p:sp>
        <p:nvSpPr>
          <p:cNvPr id="105" name="Google Shape;105;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pPr marL="0" lvl="0" indent="0" algn="r" rtl="0">
                <a:spcBef>
                  <a:spcPts val="0"/>
                </a:spcBef>
                <a:spcAft>
                  <a:spcPts val="0"/>
                </a:spcAft>
                <a:buNone/>
              </a:pPr>
              <a:t>34</a:t>
            </a:fld>
            <a:endParaRPr dirty="0"/>
          </a:p>
        </p:txBody>
      </p:sp>
      <p:pic>
        <p:nvPicPr>
          <p:cNvPr id="5" name="Picture 2"/>
          <p:cNvPicPr>
            <a:picLocks noChangeAspect="1" noChangeArrowheads="1"/>
          </p:cNvPicPr>
          <p:nvPr/>
        </p:nvPicPr>
        <p:blipFill>
          <a:blip r:embed="rId3">
            <a:extLst>
              <a:ext uri="{28A0092B-C50C-407E-A947-70E740481C1C}">
                <a14:useLocalDpi xmlns:a14="http://schemas.microsoft.com/office/drawing/2010/main" xmlns="" val="0"/>
              </a:ext>
            </a:extLst>
          </a:blip>
          <a:srcRect/>
          <a:stretch>
            <a:fillRect/>
          </a:stretch>
        </p:blipFill>
        <p:spPr bwMode="auto">
          <a:xfrm>
            <a:off x="152400" y="1178114"/>
            <a:ext cx="8839200" cy="552748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4058054924"/>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2"/>
          <p:cNvSpPr txBox="1">
            <a:spLocks noGrp="1"/>
          </p:cNvSpPr>
          <p:nvPr>
            <p:ph type="title"/>
          </p:nvPr>
        </p:nvSpPr>
        <p:spPr>
          <a:xfrm>
            <a:off x="0" y="0"/>
            <a:ext cx="9144000" cy="1066800"/>
          </a:xfrm>
          <a:prstGeom prst="rect">
            <a:avLst/>
          </a:prstGeom>
          <a:ln/>
        </p:spPr>
        <p:style>
          <a:lnRef idx="0">
            <a:schemeClr val="accent3"/>
          </a:lnRef>
          <a:fillRef idx="3">
            <a:schemeClr val="accent3"/>
          </a:fillRef>
          <a:effectRef idx="3">
            <a:schemeClr val="accent3"/>
          </a:effectRef>
          <a:fontRef idx="minor">
            <a:schemeClr val="lt1"/>
          </a:fontRef>
        </p:style>
        <p:txBody>
          <a:bodyPr spcFirstLastPara="1" wrap="square" lIns="91425" tIns="45700" rIns="91425" bIns="45700" anchor="ctr" anchorCtr="0">
            <a:noAutofit/>
          </a:bodyPr>
          <a:lstStyle/>
          <a:p>
            <a:pPr lvl="0">
              <a:defRPr/>
            </a:pPr>
            <a:r>
              <a:rPr lang="en-US" sz="3600" b="1" dirty="0">
                <a:ln w="1905"/>
                <a:solidFill>
                  <a:schemeClr val="tx1"/>
                </a:solidFill>
                <a:effectLst>
                  <a:innerShdw blurRad="69850" dist="43180" dir="5400000">
                    <a:srgbClr val="000000">
                      <a:alpha val="65000"/>
                    </a:srgbClr>
                  </a:innerShdw>
                </a:effectLst>
              </a:rPr>
              <a:t>Hierarchical Directory Structure (Tree Structure)</a:t>
            </a:r>
          </a:p>
        </p:txBody>
      </p:sp>
      <p:sp>
        <p:nvSpPr>
          <p:cNvPr id="104" name="Google Shape;104;p2"/>
          <p:cNvSpPr txBox="1">
            <a:spLocks noGrp="1"/>
          </p:cNvSpPr>
          <p:nvPr>
            <p:ph type="body" idx="1"/>
          </p:nvPr>
        </p:nvSpPr>
        <p:spPr>
          <a:xfrm>
            <a:off x="0" y="1047750"/>
            <a:ext cx="9144000" cy="5581650"/>
          </a:xfrm>
          <a:prstGeom prst="rect">
            <a:avLst/>
          </a:prstGeom>
          <a:noFill/>
          <a:ln>
            <a:noFill/>
          </a:ln>
        </p:spPr>
        <p:txBody>
          <a:bodyPr spcFirstLastPara="1" wrap="square" lIns="91425" tIns="45700" rIns="91425" bIns="45700" anchor="t" anchorCtr="0">
            <a:noAutofit/>
          </a:bodyPr>
          <a:lstStyle/>
          <a:p>
            <a:pPr marL="285750" indent="-285750" algn="just"/>
            <a:r>
              <a:rPr lang="en-US" dirty="0"/>
              <a:t>The two level hierarchies eliminate name conflicts among users but are not satisfactory for users with a large number of files. We needed general hierarchy i.e., a tree of directories.</a:t>
            </a:r>
          </a:p>
          <a:p>
            <a:pPr marL="285750" indent="-285750" algn="just"/>
            <a:r>
              <a:rPr lang="en-US" dirty="0"/>
              <a:t>The tree structured directory structure, allows users to create their own subdirectory and to organize their files accordingly. A subdirectory contains a set of files or subdirectories. A directory is simply another file, but it is treated in a special way.</a:t>
            </a:r>
          </a:p>
        </p:txBody>
      </p:sp>
      <p:sp>
        <p:nvSpPr>
          <p:cNvPr id="105" name="Google Shape;105;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pPr marL="0" lvl="0" indent="0" algn="r" rtl="0">
                <a:spcBef>
                  <a:spcPts val="0"/>
                </a:spcBef>
                <a:spcAft>
                  <a:spcPts val="0"/>
                </a:spcAft>
                <a:buNone/>
              </a:pPr>
              <a:t>35</a:t>
            </a:fld>
            <a:endParaRPr dirty="0"/>
          </a:p>
        </p:txBody>
      </p:sp>
    </p:spTree>
    <p:extLst>
      <p:ext uri="{BB962C8B-B14F-4D97-AF65-F5344CB8AC3E}">
        <p14:creationId xmlns:p14="http://schemas.microsoft.com/office/powerpoint/2010/main" xmlns="" val="24926785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04">
                                            <p:txEl>
                                              <p:pRg st="0" end="0"/>
                                            </p:txEl>
                                          </p:spTgt>
                                        </p:tgtEl>
                                        <p:attrNameLst>
                                          <p:attrName>style.visibility</p:attrName>
                                        </p:attrNameLst>
                                      </p:cBhvr>
                                      <p:to>
                                        <p:strVal val="visible"/>
                                      </p:to>
                                    </p:set>
                                    <p:animEffect transition="in" filter="fade">
                                      <p:cBhvr>
                                        <p:cTn id="7" dur="1000"/>
                                        <p:tgtEl>
                                          <p:spTgt spid="104">
                                            <p:txEl>
                                              <p:pRg st="0" end="0"/>
                                            </p:txEl>
                                          </p:spTgt>
                                        </p:tgtEl>
                                      </p:cBhvr>
                                    </p:animEffect>
                                    <p:anim calcmode="lin" valueType="num">
                                      <p:cBhvr>
                                        <p:cTn id="8" dur="1000" fill="hold"/>
                                        <p:tgtEl>
                                          <p:spTgt spid="10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04">
                                            <p:txEl>
                                              <p:pRg st="0" end="0"/>
                                            </p:txEl>
                                          </p:spTgt>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grpId="0" nodeType="afterEffect">
                                  <p:stCondLst>
                                    <p:cond delay="0"/>
                                  </p:stCondLst>
                                  <p:childTnLst>
                                    <p:set>
                                      <p:cBhvr>
                                        <p:cTn id="12" dur="1" fill="hold">
                                          <p:stCondLst>
                                            <p:cond delay="0"/>
                                          </p:stCondLst>
                                        </p:cTn>
                                        <p:tgtEl>
                                          <p:spTgt spid="104">
                                            <p:txEl>
                                              <p:pRg st="1" end="1"/>
                                            </p:txEl>
                                          </p:spTgt>
                                        </p:tgtEl>
                                        <p:attrNameLst>
                                          <p:attrName>style.visibility</p:attrName>
                                        </p:attrNameLst>
                                      </p:cBhvr>
                                      <p:to>
                                        <p:strVal val="visible"/>
                                      </p:to>
                                    </p:set>
                                    <p:animEffect transition="in" filter="fade">
                                      <p:cBhvr>
                                        <p:cTn id="13" dur="1000"/>
                                        <p:tgtEl>
                                          <p:spTgt spid="104">
                                            <p:txEl>
                                              <p:pRg st="1" end="1"/>
                                            </p:txEl>
                                          </p:spTgt>
                                        </p:tgtEl>
                                      </p:cBhvr>
                                    </p:animEffect>
                                    <p:anim calcmode="lin" valueType="num">
                                      <p:cBhvr>
                                        <p:cTn id="14" dur="1000" fill="hold"/>
                                        <p:tgtEl>
                                          <p:spTgt spid="104">
                                            <p:txEl>
                                              <p:pRg st="1" end="1"/>
                                            </p:txEl>
                                          </p:spTgt>
                                        </p:tgtEl>
                                        <p:attrNameLst>
                                          <p:attrName>ppt_x</p:attrName>
                                        </p:attrNameLst>
                                      </p:cBhvr>
                                      <p:tavLst>
                                        <p:tav tm="0">
                                          <p:val>
                                            <p:strVal val="#ppt_x"/>
                                          </p:val>
                                        </p:tav>
                                        <p:tav tm="100000">
                                          <p:val>
                                            <p:strVal val="#ppt_x"/>
                                          </p:val>
                                        </p:tav>
                                      </p:tavLst>
                                    </p:anim>
                                    <p:anim calcmode="lin" valueType="num">
                                      <p:cBhvr>
                                        <p:cTn id="15" dur="1000" fill="hold"/>
                                        <p:tgtEl>
                                          <p:spTgt spid="104">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 grpId="0"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2"/>
          <p:cNvSpPr txBox="1">
            <a:spLocks noGrp="1"/>
          </p:cNvSpPr>
          <p:nvPr>
            <p:ph type="title"/>
          </p:nvPr>
        </p:nvSpPr>
        <p:spPr>
          <a:xfrm>
            <a:off x="0" y="0"/>
            <a:ext cx="9144000" cy="1066800"/>
          </a:xfrm>
          <a:prstGeom prst="rect">
            <a:avLst/>
          </a:prstGeom>
          <a:ln/>
        </p:spPr>
        <p:style>
          <a:lnRef idx="0">
            <a:schemeClr val="accent3"/>
          </a:lnRef>
          <a:fillRef idx="3">
            <a:schemeClr val="accent3"/>
          </a:fillRef>
          <a:effectRef idx="3">
            <a:schemeClr val="accent3"/>
          </a:effectRef>
          <a:fontRef idx="minor">
            <a:schemeClr val="lt1"/>
          </a:fontRef>
        </p:style>
        <p:txBody>
          <a:bodyPr spcFirstLastPara="1" wrap="square" lIns="91425" tIns="45700" rIns="91425" bIns="45700" anchor="ctr" anchorCtr="0">
            <a:noAutofit/>
          </a:bodyPr>
          <a:lstStyle/>
          <a:p>
            <a:pPr lvl="0">
              <a:defRPr/>
            </a:pPr>
            <a:r>
              <a:rPr lang="en-US" sz="3600" b="1" dirty="0">
                <a:ln w="1905"/>
                <a:solidFill>
                  <a:schemeClr val="tx1"/>
                </a:solidFill>
                <a:effectLst>
                  <a:innerShdw blurRad="69850" dist="43180" dir="5400000">
                    <a:srgbClr val="000000">
                      <a:alpha val="65000"/>
                    </a:srgbClr>
                  </a:innerShdw>
                </a:effectLst>
              </a:rPr>
              <a:t>Hierarchical Directory Structure (Tree Structure)</a:t>
            </a:r>
          </a:p>
        </p:txBody>
      </p:sp>
      <p:sp>
        <p:nvSpPr>
          <p:cNvPr id="105" name="Google Shape;105;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pPr marL="0" lvl="0" indent="0" algn="r" rtl="0">
                <a:spcBef>
                  <a:spcPts val="0"/>
                </a:spcBef>
                <a:spcAft>
                  <a:spcPts val="0"/>
                </a:spcAft>
                <a:buNone/>
              </a:pPr>
              <a:t>36</a:t>
            </a:fld>
            <a:endParaRPr dirty="0"/>
          </a:p>
        </p:txBody>
      </p:sp>
      <p:pic>
        <p:nvPicPr>
          <p:cNvPr id="5" name="Picture 2"/>
          <p:cNvPicPr>
            <a:picLocks noChangeAspect="1" noChangeArrowheads="1"/>
          </p:cNvPicPr>
          <p:nvPr/>
        </p:nvPicPr>
        <p:blipFill>
          <a:blip r:embed="rId3">
            <a:extLst>
              <a:ext uri="{28A0092B-C50C-407E-A947-70E740481C1C}">
                <a14:useLocalDpi xmlns:a14="http://schemas.microsoft.com/office/drawing/2010/main" xmlns="" val="0"/>
              </a:ext>
            </a:extLst>
          </a:blip>
          <a:srcRect/>
          <a:stretch>
            <a:fillRect/>
          </a:stretch>
        </p:blipFill>
        <p:spPr bwMode="auto">
          <a:xfrm>
            <a:off x="152400" y="1069382"/>
            <a:ext cx="8839199" cy="548381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78307545"/>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2"/>
          <p:cNvSpPr txBox="1">
            <a:spLocks noGrp="1"/>
          </p:cNvSpPr>
          <p:nvPr>
            <p:ph type="title"/>
          </p:nvPr>
        </p:nvSpPr>
        <p:spPr>
          <a:xfrm>
            <a:off x="0" y="0"/>
            <a:ext cx="9144000" cy="1066800"/>
          </a:xfrm>
          <a:prstGeom prst="rect">
            <a:avLst/>
          </a:prstGeom>
          <a:ln/>
        </p:spPr>
        <p:style>
          <a:lnRef idx="0">
            <a:schemeClr val="accent3"/>
          </a:lnRef>
          <a:fillRef idx="3">
            <a:schemeClr val="accent3"/>
          </a:fillRef>
          <a:effectRef idx="3">
            <a:schemeClr val="accent3"/>
          </a:effectRef>
          <a:fontRef idx="minor">
            <a:schemeClr val="lt1"/>
          </a:fontRef>
        </p:style>
        <p:txBody>
          <a:bodyPr spcFirstLastPara="1" wrap="square" lIns="91425" tIns="45700" rIns="91425" bIns="45700" anchor="ctr" anchorCtr="0">
            <a:noAutofit/>
          </a:bodyPr>
          <a:lstStyle/>
          <a:p>
            <a:pPr lvl="0">
              <a:defRPr/>
            </a:pPr>
            <a:r>
              <a:rPr lang="en-US" sz="3600" b="1" dirty="0">
                <a:ln w="1905"/>
                <a:solidFill>
                  <a:schemeClr val="tx1"/>
                </a:solidFill>
                <a:effectLst>
                  <a:innerShdw blurRad="69850" dist="43180" dir="5400000">
                    <a:srgbClr val="000000">
                      <a:alpha val="65000"/>
                    </a:srgbClr>
                  </a:innerShdw>
                </a:effectLst>
              </a:rPr>
              <a:t>Disk management in Linux</a:t>
            </a:r>
          </a:p>
        </p:txBody>
      </p:sp>
      <p:sp>
        <p:nvSpPr>
          <p:cNvPr id="105" name="Google Shape;105;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pPr marL="0" lvl="0" indent="0" algn="r" rtl="0">
                <a:spcBef>
                  <a:spcPts val="0"/>
                </a:spcBef>
                <a:spcAft>
                  <a:spcPts val="0"/>
                </a:spcAft>
                <a:buNone/>
              </a:pPr>
              <a:t>37</a:t>
            </a:fld>
            <a:endParaRPr dirty="0"/>
          </a:p>
        </p:txBody>
      </p:sp>
      <p:pic>
        <p:nvPicPr>
          <p:cNvPr id="5" name="Picture 4"/>
          <p:cNvPicPr>
            <a:picLocks noChangeAspect="1"/>
          </p:cNvPicPr>
          <p:nvPr/>
        </p:nvPicPr>
        <p:blipFill>
          <a:blip r:embed="rId3"/>
          <a:stretch>
            <a:fillRect/>
          </a:stretch>
        </p:blipFill>
        <p:spPr>
          <a:xfrm>
            <a:off x="152400" y="1228070"/>
            <a:ext cx="8839200" cy="5477530"/>
          </a:xfrm>
          <a:prstGeom prst="rect">
            <a:avLst/>
          </a:prstGeom>
        </p:spPr>
      </p:pic>
    </p:spTree>
    <p:extLst>
      <p:ext uri="{BB962C8B-B14F-4D97-AF65-F5344CB8AC3E}">
        <p14:creationId xmlns:p14="http://schemas.microsoft.com/office/powerpoint/2010/main" xmlns="" val="363132483"/>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2"/>
          <p:cNvSpPr txBox="1">
            <a:spLocks noGrp="1"/>
          </p:cNvSpPr>
          <p:nvPr>
            <p:ph type="title"/>
          </p:nvPr>
        </p:nvSpPr>
        <p:spPr>
          <a:xfrm>
            <a:off x="0" y="0"/>
            <a:ext cx="9144000" cy="1066800"/>
          </a:xfrm>
          <a:prstGeom prst="rect">
            <a:avLst/>
          </a:prstGeom>
          <a:ln/>
        </p:spPr>
        <p:style>
          <a:lnRef idx="0">
            <a:schemeClr val="accent3"/>
          </a:lnRef>
          <a:fillRef idx="3">
            <a:schemeClr val="accent3"/>
          </a:fillRef>
          <a:effectRef idx="3">
            <a:schemeClr val="accent3"/>
          </a:effectRef>
          <a:fontRef idx="minor">
            <a:schemeClr val="lt1"/>
          </a:fontRef>
        </p:style>
        <p:txBody>
          <a:bodyPr spcFirstLastPara="1" wrap="square" lIns="91425" tIns="45700" rIns="91425" bIns="45700" anchor="ctr" anchorCtr="0">
            <a:noAutofit/>
          </a:bodyPr>
          <a:lstStyle/>
          <a:p>
            <a:pPr lvl="0">
              <a:defRPr/>
            </a:pPr>
            <a:r>
              <a:rPr lang="en-US" sz="3600" b="1" dirty="0">
                <a:ln w="1905"/>
                <a:solidFill>
                  <a:schemeClr val="tx1"/>
                </a:solidFill>
                <a:effectLst>
                  <a:innerShdw blurRad="69850" dist="43180" dir="5400000">
                    <a:srgbClr val="000000">
                      <a:alpha val="65000"/>
                    </a:srgbClr>
                  </a:innerShdw>
                </a:effectLst>
              </a:rPr>
              <a:t>Disk Management in Windows OS</a:t>
            </a:r>
          </a:p>
        </p:txBody>
      </p:sp>
      <p:sp>
        <p:nvSpPr>
          <p:cNvPr id="105" name="Google Shape;105;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pPr marL="0" lvl="0" indent="0" algn="r" rtl="0">
                <a:spcBef>
                  <a:spcPts val="0"/>
                </a:spcBef>
                <a:spcAft>
                  <a:spcPts val="0"/>
                </a:spcAft>
                <a:buNone/>
              </a:pPr>
              <a:t>38</a:t>
            </a:fld>
            <a:endParaRPr dirty="0"/>
          </a:p>
        </p:txBody>
      </p:sp>
      <p:pic>
        <p:nvPicPr>
          <p:cNvPr id="6" name="Picture 5"/>
          <p:cNvPicPr>
            <a:picLocks noChangeAspect="1"/>
          </p:cNvPicPr>
          <p:nvPr/>
        </p:nvPicPr>
        <p:blipFill>
          <a:blip r:embed="rId3"/>
          <a:stretch>
            <a:fillRect/>
          </a:stretch>
        </p:blipFill>
        <p:spPr>
          <a:xfrm>
            <a:off x="152400" y="1107212"/>
            <a:ext cx="8915399" cy="5750788"/>
          </a:xfrm>
          <a:prstGeom prst="rect">
            <a:avLst/>
          </a:prstGeom>
        </p:spPr>
      </p:pic>
    </p:spTree>
    <p:extLst>
      <p:ext uri="{BB962C8B-B14F-4D97-AF65-F5344CB8AC3E}">
        <p14:creationId xmlns:p14="http://schemas.microsoft.com/office/powerpoint/2010/main" xmlns="" val="265425989"/>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2"/>
          <p:cNvSpPr txBox="1">
            <a:spLocks noGrp="1"/>
          </p:cNvSpPr>
          <p:nvPr>
            <p:ph type="title"/>
          </p:nvPr>
        </p:nvSpPr>
        <p:spPr>
          <a:xfrm>
            <a:off x="0" y="0"/>
            <a:ext cx="9144000" cy="1066800"/>
          </a:xfrm>
          <a:prstGeom prst="rect">
            <a:avLst/>
          </a:prstGeom>
          <a:ln/>
        </p:spPr>
        <p:style>
          <a:lnRef idx="0">
            <a:schemeClr val="accent3"/>
          </a:lnRef>
          <a:fillRef idx="3">
            <a:schemeClr val="accent3"/>
          </a:fillRef>
          <a:effectRef idx="3">
            <a:schemeClr val="accent3"/>
          </a:effectRef>
          <a:fontRef idx="minor">
            <a:schemeClr val="lt1"/>
          </a:fontRef>
        </p:style>
        <p:txBody>
          <a:bodyPr spcFirstLastPara="1" wrap="square" lIns="91425" tIns="45700" rIns="91425" bIns="45700" anchor="ctr" anchorCtr="0">
            <a:noAutofit/>
          </a:bodyPr>
          <a:lstStyle/>
          <a:p>
            <a:pPr lvl="0">
              <a:defRPr/>
            </a:pPr>
            <a:r>
              <a:rPr lang="en-US" sz="3600" b="1" dirty="0">
                <a:ln w="1905"/>
                <a:solidFill>
                  <a:schemeClr val="tx1"/>
                </a:solidFill>
                <a:effectLst>
                  <a:innerShdw blurRad="69850" dist="43180" dir="5400000">
                    <a:srgbClr val="000000">
                      <a:alpha val="65000"/>
                    </a:srgbClr>
                  </a:innerShdw>
                </a:effectLst>
              </a:rPr>
              <a:t>Measurement of speed of the disk</a:t>
            </a:r>
          </a:p>
        </p:txBody>
      </p:sp>
      <p:sp>
        <p:nvSpPr>
          <p:cNvPr id="104" name="Google Shape;104;p2"/>
          <p:cNvSpPr txBox="1">
            <a:spLocks noGrp="1"/>
          </p:cNvSpPr>
          <p:nvPr>
            <p:ph type="body" idx="1"/>
          </p:nvPr>
        </p:nvSpPr>
        <p:spPr>
          <a:xfrm>
            <a:off x="0" y="1047750"/>
            <a:ext cx="9144000" cy="5581650"/>
          </a:xfrm>
          <a:prstGeom prst="rect">
            <a:avLst/>
          </a:prstGeom>
          <a:noFill/>
          <a:ln>
            <a:noFill/>
          </a:ln>
        </p:spPr>
        <p:txBody>
          <a:bodyPr spcFirstLastPara="1" wrap="square" lIns="91425" tIns="45700" rIns="91425" bIns="45700" anchor="t" anchorCtr="0">
            <a:noAutofit/>
          </a:bodyPr>
          <a:lstStyle/>
          <a:p>
            <a:pPr marL="285750" indent="-285750"/>
            <a:r>
              <a:rPr lang="en-US" sz="2300" b="1" dirty="0"/>
              <a:t>Transfer Rate </a:t>
            </a:r>
            <a:r>
              <a:rPr lang="en-US" sz="2300" dirty="0"/>
              <a:t>is the rate at which the data moves from disk to the computer.</a:t>
            </a:r>
          </a:p>
          <a:p>
            <a:pPr marL="285750" indent="-285750"/>
            <a:endParaRPr lang="en-US" sz="2300" dirty="0"/>
          </a:p>
          <a:p>
            <a:pPr marL="285750" indent="-285750"/>
            <a:r>
              <a:rPr lang="en-US" sz="2300" b="1" dirty="0"/>
              <a:t>Random Access Time </a:t>
            </a:r>
            <a:r>
              <a:rPr lang="en-US" sz="2300" dirty="0"/>
              <a:t>is the sum of the seek time and rotational latency.</a:t>
            </a:r>
          </a:p>
          <a:p>
            <a:pPr marL="285750" indent="-285750"/>
            <a:endParaRPr lang="en-US" sz="2300" dirty="0"/>
          </a:p>
          <a:p>
            <a:pPr marL="285750" indent="-285750"/>
            <a:r>
              <a:rPr lang="en-US" sz="2300" dirty="0"/>
              <a:t>The </a:t>
            </a:r>
            <a:r>
              <a:rPr lang="en-US" sz="2300" b="1" dirty="0"/>
              <a:t>seek time </a:t>
            </a:r>
            <a:r>
              <a:rPr lang="en-US" sz="2300" dirty="0"/>
              <a:t>is the time for the disk arm to move the head to the required cylinder containing the desired track.</a:t>
            </a:r>
          </a:p>
          <a:p>
            <a:pPr marL="285750" indent="-285750"/>
            <a:endParaRPr lang="en-US" sz="2300" dirty="0"/>
          </a:p>
          <a:p>
            <a:pPr marL="285750" indent="-285750"/>
            <a:r>
              <a:rPr lang="en-US" sz="2300" dirty="0"/>
              <a:t>The </a:t>
            </a:r>
            <a:r>
              <a:rPr lang="en-US" sz="2300" b="1" dirty="0"/>
              <a:t>rotational latency </a:t>
            </a:r>
            <a:r>
              <a:rPr lang="en-US" sz="2300" dirty="0"/>
              <a:t>is the additional time for the disk to rotate the desired sector to the disk head.</a:t>
            </a:r>
          </a:p>
          <a:p>
            <a:pPr marL="285750" indent="-285750"/>
            <a:endParaRPr lang="en-US" sz="2300" dirty="0"/>
          </a:p>
          <a:p>
            <a:pPr marL="285750" indent="-285750"/>
            <a:r>
              <a:rPr lang="en-US" sz="2300" dirty="0"/>
              <a:t>The </a:t>
            </a:r>
            <a:r>
              <a:rPr lang="en-US" sz="2300" b="1" dirty="0"/>
              <a:t>disk bandwidth </a:t>
            </a:r>
            <a:r>
              <a:rPr lang="en-US" sz="2300" dirty="0"/>
              <a:t>is the total number of bytes transferred, divided by the total time between the first request for service and the completion of the last transfer.</a:t>
            </a:r>
          </a:p>
        </p:txBody>
      </p:sp>
      <p:sp>
        <p:nvSpPr>
          <p:cNvPr id="105" name="Google Shape;105;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pPr marL="0" lvl="0" indent="0" algn="r" rtl="0">
                <a:spcBef>
                  <a:spcPts val="0"/>
                </a:spcBef>
                <a:spcAft>
                  <a:spcPts val="0"/>
                </a:spcAft>
                <a:buNone/>
              </a:pPr>
              <a:t>39</a:t>
            </a:fld>
            <a:endParaRPr dirty="0"/>
          </a:p>
        </p:txBody>
      </p:sp>
    </p:spTree>
    <p:extLst>
      <p:ext uri="{BB962C8B-B14F-4D97-AF65-F5344CB8AC3E}">
        <p14:creationId xmlns:p14="http://schemas.microsoft.com/office/powerpoint/2010/main" xmlns="" val="11332394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04">
                                            <p:txEl>
                                              <p:pRg st="0" end="0"/>
                                            </p:txEl>
                                          </p:spTgt>
                                        </p:tgtEl>
                                        <p:attrNameLst>
                                          <p:attrName>style.visibility</p:attrName>
                                        </p:attrNameLst>
                                      </p:cBhvr>
                                      <p:to>
                                        <p:strVal val="visible"/>
                                      </p:to>
                                    </p:set>
                                    <p:animEffect transition="in" filter="fade">
                                      <p:cBhvr>
                                        <p:cTn id="7" dur="1000"/>
                                        <p:tgtEl>
                                          <p:spTgt spid="104">
                                            <p:txEl>
                                              <p:pRg st="0" end="0"/>
                                            </p:txEl>
                                          </p:spTgt>
                                        </p:tgtEl>
                                      </p:cBhvr>
                                    </p:animEffect>
                                    <p:anim calcmode="lin" valueType="num">
                                      <p:cBhvr>
                                        <p:cTn id="8" dur="1000" fill="hold"/>
                                        <p:tgtEl>
                                          <p:spTgt spid="10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04">
                                            <p:txEl>
                                              <p:pRg st="0" end="0"/>
                                            </p:txEl>
                                          </p:spTgt>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grpId="0" nodeType="afterEffect">
                                  <p:stCondLst>
                                    <p:cond delay="0"/>
                                  </p:stCondLst>
                                  <p:childTnLst>
                                    <p:set>
                                      <p:cBhvr>
                                        <p:cTn id="12" dur="1" fill="hold">
                                          <p:stCondLst>
                                            <p:cond delay="0"/>
                                          </p:stCondLst>
                                        </p:cTn>
                                        <p:tgtEl>
                                          <p:spTgt spid="104">
                                            <p:txEl>
                                              <p:pRg st="2" end="2"/>
                                            </p:txEl>
                                          </p:spTgt>
                                        </p:tgtEl>
                                        <p:attrNameLst>
                                          <p:attrName>style.visibility</p:attrName>
                                        </p:attrNameLst>
                                      </p:cBhvr>
                                      <p:to>
                                        <p:strVal val="visible"/>
                                      </p:to>
                                    </p:set>
                                    <p:animEffect transition="in" filter="fade">
                                      <p:cBhvr>
                                        <p:cTn id="13" dur="1000"/>
                                        <p:tgtEl>
                                          <p:spTgt spid="104">
                                            <p:txEl>
                                              <p:pRg st="2" end="2"/>
                                            </p:txEl>
                                          </p:spTgt>
                                        </p:tgtEl>
                                      </p:cBhvr>
                                    </p:animEffect>
                                    <p:anim calcmode="lin" valueType="num">
                                      <p:cBhvr>
                                        <p:cTn id="14" dur="1000" fill="hold"/>
                                        <p:tgtEl>
                                          <p:spTgt spid="104">
                                            <p:txEl>
                                              <p:pRg st="2" end="2"/>
                                            </p:txEl>
                                          </p:spTgt>
                                        </p:tgtEl>
                                        <p:attrNameLst>
                                          <p:attrName>ppt_x</p:attrName>
                                        </p:attrNameLst>
                                      </p:cBhvr>
                                      <p:tavLst>
                                        <p:tav tm="0">
                                          <p:val>
                                            <p:strVal val="#ppt_x"/>
                                          </p:val>
                                        </p:tav>
                                        <p:tav tm="100000">
                                          <p:val>
                                            <p:strVal val="#ppt_x"/>
                                          </p:val>
                                        </p:tav>
                                      </p:tavLst>
                                    </p:anim>
                                    <p:anim calcmode="lin" valueType="num">
                                      <p:cBhvr>
                                        <p:cTn id="15" dur="1000" fill="hold"/>
                                        <p:tgtEl>
                                          <p:spTgt spid="104">
                                            <p:txEl>
                                              <p:pRg st="2" end="2"/>
                                            </p:txEl>
                                          </p:spTgt>
                                        </p:tgtEl>
                                        <p:attrNameLst>
                                          <p:attrName>ppt_y</p:attrName>
                                        </p:attrNameLst>
                                      </p:cBhvr>
                                      <p:tavLst>
                                        <p:tav tm="0">
                                          <p:val>
                                            <p:strVal val="#ppt_y+.1"/>
                                          </p:val>
                                        </p:tav>
                                        <p:tav tm="100000">
                                          <p:val>
                                            <p:strVal val="#ppt_y"/>
                                          </p:val>
                                        </p:tav>
                                      </p:tavLst>
                                    </p:anim>
                                  </p:childTnLst>
                                </p:cTn>
                              </p:par>
                            </p:childTnLst>
                          </p:cTn>
                        </p:par>
                        <p:par>
                          <p:cTn id="16" fill="hold">
                            <p:stCondLst>
                              <p:cond delay="2000"/>
                            </p:stCondLst>
                            <p:childTnLst>
                              <p:par>
                                <p:cTn id="17" presetID="42" presetClass="entr" presetSubtype="0" fill="hold" grpId="0" nodeType="afterEffect">
                                  <p:stCondLst>
                                    <p:cond delay="0"/>
                                  </p:stCondLst>
                                  <p:childTnLst>
                                    <p:set>
                                      <p:cBhvr>
                                        <p:cTn id="18" dur="1" fill="hold">
                                          <p:stCondLst>
                                            <p:cond delay="0"/>
                                          </p:stCondLst>
                                        </p:cTn>
                                        <p:tgtEl>
                                          <p:spTgt spid="104">
                                            <p:txEl>
                                              <p:pRg st="4" end="4"/>
                                            </p:txEl>
                                          </p:spTgt>
                                        </p:tgtEl>
                                        <p:attrNameLst>
                                          <p:attrName>style.visibility</p:attrName>
                                        </p:attrNameLst>
                                      </p:cBhvr>
                                      <p:to>
                                        <p:strVal val="visible"/>
                                      </p:to>
                                    </p:set>
                                    <p:animEffect transition="in" filter="fade">
                                      <p:cBhvr>
                                        <p:cTn id="19" dur="1000"/>
                                        <p:tgtEl>
                                          <p:spTgt spid="104">
                                            <p:txEl>
                                              <p:pRg st="4" end="4"/>
                                            </p:txEl>
                                          </p:spTgt>
                                        </p:tgtEl>
                                      </p:cBhvr>
                                    </p:animEffect>
                                    <p:anim calcmode="lin" valueType="num">
                                      <p:cBhvr>
                                        <p:cTn id="20" dur="1000" fill="hold"/>
                                        <p:tgtEl>
                                          <p:spTgt spid="104">
                                            <p:txEl>
                                              <p:pRg st="4" end="4"/>
                                            </p:txEl>
                                          </p:spTgt>
                                        </p:tgtEl>
                                        <p:attrNameLst>
                                          <p:attrName>ppt_x</p:attrName>
                                        </p:attrNameLst>
                                      </p:cBhvr>
                                      <p:tavLst>
                                        <p:tav tm="0">
                                          <p:val>
                                            <p:strVal val="#ppt_x"/>
                                          </p:val>
                                        </p:tav>
                                        <p:tav tm="100000">
                                          <p:val>
                                            <p:strVal val="#ppt_x"/>
                                          </p:val>
                                        </p:tav>
                                      </p:tavLst>
                                    </p:anim>
                                    <p:anim calcmode="lin" valueType="num">
                                      <p:cBhvr>
                                        <p:cTn id="21" dur="1000" fill="hold"/>
                                        <p:tgtEl>
                                          <p:spTgt spid="104">
                                            <p:txEl>
                                              <p:pRg st="4" end="4"/>
                                            </p:txEl>
                                          </p:spTgt>
                                        </p:tgtEl>
                                        <p:attrNameLst>
                                          <p:attrName>ppt_y</p:attrName>
                                        </p:attrNameLst>
                                      </p:cBhvr>
                                      <p:tavLst>
                                        <p:tav tm="0">
                                          <p:val>
                                            <p:strVal val="#ppt_y+.1"/>
                                          </p:val>
                                        </p:tav>
                                        <p:tav tm="100000">
                                          <p:val>
                                            <p:strVal val="#ppt_y"/>
                                          </p:val>
                                        </p:tav>
                                      </p:tavLst>
                                    </p:anim>
                                  </p:childTnLst>
                                </p:cTn>
                              </p:par>
                            </p:childTnLst>
                          </p:cTn>
                        </p:par>
                        <p:par>
                          <p:cTn id="22" fill="hold">
                            <p:stCondLst>
                              <p:cond delay="3000"/>
                            </p:stCondLst>
                            <p:childTnLst>
                              <p:par>
                                <p:cTn id="23" presetID="42" presetClass="entr" presetSubtype="0" fill="hold" grpId="0" nodeType="afterEffect">
                                  <p:stCondLst>
                                    <p:cond delay="0"/>
                                  </p:stCondLst>
                                  <p:childTnLst>
                                    <p:set>
                                      <p:cBhvr>
                                        <p:cTn id="24" dur="1" fill="hold">
                                          <p:stCondLst>
                                            <p:cond delay="0"/>
                                          </p:stCondLst>
                                        </p:cTn>
                                        <p:tgtEl>
                                          <p:spTgt spid="104">
                                            <p:txEl>
                                              <p:pRg st="6" end="6"/>
                                            </p:txEl>
                                          </p:spTgt>
                                        </p:tgtEl>
                                        <p:attrNameLst>
                                          <p:attrName>style.visibility</p:attrName>
                                        </p:attrNameLst>
                                      </p:cBhvr>
                                      <p:to>
                                        <p:strVal val="visible"/>
                                      </p:to>
                                    </p:set>
                                    <p:animEffect transition="in" filter="fade">
                                      <p:cBhvr>
                                        <p:cTn id="25" dur="1000"/>
                                        <p:tgtEl>
                                          <p:spTgt spid="104">
                                            <p:txEl>
                                              <p:pRg st="6" end="6"/>
                                            </p:txEl>
                                          </p:spTgt>
                                        </p:tgtEl>
                                      </p:cBhvr>
                                    </p:animEffect>
                                    <p:anim calcmode="lin" valueType="num">
                                      <p:cBhvr>
                                        <p:cTn id="26" dur="1000" fill="hold"/>
                                        <p:tgtEl>
                                          <p:spTgt spid="104">
                                            <p:txEl>
                                              <p:pRg st="6" end="6"/>
                                            </p:txEl>
                                          </p:spTgt>
                                        </p:tgtEl>
                                        <p:attrNameLst>
                                          <p:attrName>ppt_x</p:attrName>
                                        </p:attrNameLst>
                                      </p:cBhvr>
                                      <p:tavLst>
                                        <p:tav tm="0">
                                          <p:val>
                                            <p:strVal val="#ppt_x"/>
                                          </p:val>
                                        </p:tav>
                                        <p:tav tm="100000">
                                          <p:val>
                                            <p:strVal val="#ppt_x"/>
                                          </p:val>
                                        </p:tav>
                                      </p:tavLst>
                                    </p:anim>
                                    <p:anim calcmode="lin" valueType="num">
                                      <p:cBhvr>
                                        <p:cTn id="27" dur="1000" fill="hold"/>
                                        <p:tgtEl>
                                          <p:spTgt spid="104">
                                            <p:txEl>
                                              <p:pRg st="6" end="6"/>
                                            </p:txEl>
                                          </p:spTgt>
                                        </p:tgtEl>
                                        <p:attrNameLst>
                                          <p:attrName>ppt_y</p:attrName>
                                        </p:attrNameLst>
                                      </p:cBhvr>
                                      <p:tavLst>
                                        <p:tav tm="0">
                                          <p:val>
                                            <p:strVal val="#ppt_y+.1"/>
                                          </p:val>
                                        </p:tav>
                                        <p:tav tm="100000">
                                          <p:val>
                                            <p:strVal val="#ppt_y"/>
                                          </p:val>
                                        </p:tav>
                                      </p:tavLst>
                                    </p:anim>
                                  </p:childTnLst>
                                </p:cTn>
                              </p:par>
                            </p:childTnLst>
                          </p:cTn>
                        </p:par>
                        <p:par>
                          <p:cTn id="28" fill="hold">
                            <p:stCondLst>
                              <p:cond delay="4000"/>
                            </p:stCondLst>
                            <p:childTnLst>
                              <p:par>
                                <p:cTn id="29" presetID="42" presetClass="entr" presetSubtype="0" fill="hold" grpId="0" nodeType="afterEffect">
                                  <p:stCondLst>
                                    <p:cond delay="0"/>
                                  </p:stCondLst>
                                  <p:childTnLst>
                                    <p:set>
                                      <p:cBhvr>
                                        <p:cTn id="30" dur="1" fill="hold">
                                          <p:stCondLst>
                                            <p:cond delay="0"/>
                                          </p:stCondLst>
                                        </p:cTn>
                                        <p:tgtEl>
                                          <p:spTgt spid="104">
                                            <p:txEl>
                                              <p:pRg st="8" end="8"/>
                                            </p:txEl>
                                          </p:spTgt>
                                        </p:tgtEl>
                                        <p:attrNameLst>
                                          <p:attrName>style.visibility</p:attrName>
                                        </p:attrNameLst>
                                      </p:cBhvr>
                                      <p:to>
                                        <p:strVal val="visible"/>
                                      </p:to>
                                    </p:set>
                                    <p:animEffect transition="in" filter="fade">
                                      <p:cBhvr>
                                        <p:cTn id="31" dur="1000"/>
                                        <p:tgtEl>
                                          <p:spTgt spid="104">
                                            <p:txEl>
                                              <p:pRg st="8" end="8"/>
                                            </p:txEl>
                                          </p:spTgt>
                                        </p:tgtEl>
                                      </p:cBhvr>
                                    </p:animEffect>
                                    <p:anim calcmode="lin" valueType="num">
                                      <p:cBhvr>
                                        <p:cTn id="32" dur="1000" fill="hold"/>
                                        <p:tgtEl>
                                          <p:spTgt spid="104">
                                            <p:txEl>
                                              <p:pRg st="8" end="8"/>
                                            </p:txEl>
                                          </p:spTgt>
                                        </p:tgtEl>
                                        <p:attrNameLst>
                                          <p:attrName>ppt_x</p:attrName>
                                        </p:attrNameLst>
                                      </p:cBhvr>
                                      <p:tavLst>
                                        <p:tav tm="0">
                                          <p:val>
                                            <p:strVal val="#ppt_x"/>
                                          </p:val>
                                        </p:tav>
                                        <p:tav tm="100000">
                                          <p:val>
                                            <p:strVal val="#ppt_x"/>
                                          </p:val>
                                        </p:tav>
                                      </p:tavLst>
                                    </p:anim>
                                    <p:anim calcmode="lin" valueType="num">
                                      <p:cBhvr>
                                        <p:cTn id="33" dur="1000" fill="hold"/>
                                        <p:tgtEl>
                                          <p:spTgt spid="104">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 grpId="0" build="p"/>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135" name="Google Shape;135;p6"/>
          <p:cNvSpPr txBox="1">
            <a:spLocks noGrp="1"/>
          </p:cNvSpPr>
          <p:nvPr>
            <p:ph type="title"/>
          </p:nvPr>
        </p:nvSpPr>
        <p:spPr>
          <a:prstGeom prst="rect">
            <a:avLst/>
          </a:prstGeom>
          <a:ln/>
        </p:spPr>
        <p:style>
          <a:lnRef idx="0">
            <a:schemeClr val="accent3"/>
          </a:lnRef>
          <a:fillRef idx="3">
            <a:schemeClr val="accent3"/>
          </a:fillRef>
          <a:effectRef idx="3">
            <a:schemeClr val="accent3"/>
          </a:effectRef>
          <a:fontRef idx="minor">
            <a:schemeClr val="lt1"/>
          </a:fontRef>
        </p:style>
        <p:txBody>
          <a:bodyPr spcFirstLastPara="1" wrap="square" lIns="91425" tIns="45700" rIns="91425" bIns="45700" anchor="ctr" anchorCtr="0">
            <a:normAutofit/>
          </a:bodyPr>
          <a:lstStyle/>
          <a:p>
            <a:pPr lvl="0">
              <a:defRPr/>
            </a:pPr>
            <a:r>
              <a:rPr lang="en-IN" dirty="0">
                <a:solidFill>
                  <a:schemeClr val="tx1"/>
                </a:solidFill>
              </a:rPr>
              <a:t>Thank you…..</a:t>
            </a:r>
            <a:endParaRPr lang="en-US" b="1" dirty="0">
              <a:ln w="1905"/>
              <a:solidFill>
                <a:schemeClr val="tx1"/>
              </a:solidFill>
              <a:effectLst>
                <a:innerShdw blurRad="69850" dist="43180" dir="5400000">
                  <a:srgbClr val="000000">
                    <a:alpha val="65000"/>
                  </a:srgbClr>
                </a:innerShdw>
              </a:effectLst>
            </a:endParaRPr>
          </a:p>
        </p:txBody>
      </p:sp>
      <p:sp>
        <p:nvSpPr>
          <p:cNvPr id="136" name="Google Shape;136;p6"/>
          <p:cNvSpPr txBox="1">
            <a:spLocks noGrp="1"/>
          </p:cNvSpPr>
          <p:nvPr>
            <p:ph idx="1"/>
          </p:nvPr>
        </p:nvSpPr>
        <p:spPr>
          <a:xfrm>
            <a:off x="0" y="1570892"/>
            <a:ext cx="9144000" cy="5257800"/>
          </a:xfrm>
          <a:prstGeom prst="rect">
            <a:avLst/>
          </a:prstGeom>
          <a:noFill/>
          <a:ln>
            <a:noFill/>
          </a:ln>
        </p:spPr>
        <p:txBody>
          <a:bodyPr spcFirstLastPara="1" wrap="square" lIns="91425" tIns="45700" rIns="91425" bIns="45700" anchor="t" anchorCtr="0">
            <a:noAutofit/>
          </a:bodyPr>
          <a:lstStyle/>
          <a:p>
            <a:pPr marL="0" indent="0">
              <a:buNone/>
            </a:pPr>
            <a:endParaRPr lang="en-US" b="1" dirty="0">
              <a:solidFill>
                <a:prstClr val="black"/>
              </a:solidFill>
            </a:endParaRPr>
          </a:p>
          <a:p>
            <a:pPr marL="0" indent="0">
              <a:buNone/>
            </a:pPr>
            <a:r>
              <a:rPr lang="en-US" b="1" dirty="0">
                <a:solidFill>
                  <a:prstClr val="black"/>
                </a:solidFill>
              </a:rPr>
              <a:t>					</a:t>
            </a:r>
          </a:p>
          <a:p>
            <a:endParaRPr lang="en-US" b="1" dirty="0">
              <a:solidFill>
                <a:prstClr val="black"/>
              </a:solidFill>
            </a:endParaRPr>
          </a:p>
          <a:p>
            <a:pPr marL="0" indent="0">
              <a:buNone/>
            </a:pPr>
            <a:r>
              <a:rPr lang="en-US" b="1" dirty="0">
                <a:solidFill>
                  <a:prstClr val="black"/>
                </a:solidFill>
              </a:rPr>
              <a:t>	You can mail your Queries to :</a:t>
            </a:r>
          </a:p>
          <a:p>
            <a:pPr marL="0" indent="0">
              <a:buNone/>
            </a:pPr>
            <a:r>
              <a:rPr lang="en-US" b="1" dirty="0">
                <a:solidFill>
                  <a:prstClr val="black"/>
                </a:solidFill>
              </a:rPr>
              <a:t>		a2kousarj@gmail.com</a:t>
            </a:r>
            <a:endParaRPr lang="en-IN" dirty="0"/>
          </a:p>
          <a:p>
            <a:pPr marL="0" indent="0">
              <a:buNone/>
            </a:pPr>
            <a:endParaRPr lang="en-US" dirty="0"/>
          </a:p>
        </p:txBody>
      </p:sp>
      <p:sp>
        <p:nvSpPr>
          <p:cNvPr id="137" name="Google Shape;137;p6"/>
          <p:cNvSpPr txBox="1">
            <a:spLocks noGrp="1"/>
          </p:cNvSpPr>
          <p:nvPr>
            <p:ph type="sldNum" sz="quarter" idx="12"/>
          </p:nvPr>
        </p:nvSpPr>
        <p:spPr>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pPr marL="0" lvl="0" indent="0" algn="r" rtl="0">
                <a:spcBef>
                  <a:spcPts val="0"/>
                </a:spcBef>
                <a:spcAft>
                  <a:spcPts val="0"/>
                </a:spcAft>
                <a:buNone/>
              </a:pPr>
              <a:t>40</a:t>
            </a:fld>
            <a:endParaRPr/>
          </a:p>
        </p:txBody>
      </p:sp>
    </p:spTree>
    <p:extLst>
      <p:ext uri="{BB962C8B-B14F-4D97-AF65-F5344CB8AC3E}">
        <p14:creationId xmlns:p14="http://schemas.microsoft.com/office/powerpoint/2010/main" xmlns="" val="2559210524"/>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103</TotalTime>
  <Words>3553</Words>
  <Application>Microsoft Office PowerPoint</Application>
  <PresentationFormat>On-screen Show (4:3)</PresentationFormat>
  <Paragraphs>267</Paragraphs>
  <Slides>40</Slides>
  <Notes>40</Notes>
  <HiddenSlides>0</HiddenSlides>
  <MMClips>0</MMClips>
  <ScaleCrop>false</ScaleCrop>
  <HeadingPairs>
    <vt:vector size="4" baseType="variant">
      <vt:variant>
        <vt:lpstr>Theme</vt:lpstr>
      </vt:variant>
      <vt:variant>
        <vt:i4>1</vt:i4>
      </vt:variant>
      <vt:variant>
        <vt:lpstr>Slide Titles</vt:lpstr>
      </vt:variant>
      <vt:variant>
        <vt:i4>40</vt:i4>
      </vt:variant>
    </vt:vector>
  </HeadingPairs>
  <TitlesOfParts>
    <vt:vector size="41" baseType="lpstr">
      <vt:lpstr>Office Theme</vt:lpstr>
      <vt:lpstr>Operating System(22516)  Unit-6 File Management              Marks: 10</vt:lpstr>
      <vt:lpstr>Learning Outcomes</vt:lpstr>
      <vt:lpstr> File</vt:lpstr>
      <vt:lpstr>File Attributes</vt:lpstr>
      <vt:lpstr>File Operations</vt:lpstr>
      <vt:lpstr>File Operations</vt:lpstr>
      <vt:lpstr>File Structure</vt:lpstr>
      <vt:lpstr>Serial File</vt:lpstr>
      <vt:lpstr>Serial File</vt:lpstr>
      <vt:lpstr>Sequential File Access</vt:lpstr>
      <vt:lpstr>Sequential File Access</vt:lpstr>
      <vt:lpstr>Index Sequential File</vt:lpstr>
      <vt:lpstr>Index Sequential File</vt:lpstr>
      <vt:lpstr>Direct Access</vt:lpstr>
      <vt:lpstr>Direct Access</vt:lpstr>
      <vt:lpstr>Hashing</vt:lpstr>
      <vt:lpstr>Hashing</vt:lpstr>
      <vt:lpstr>Swapping</vt:lpstr>
      <vt:lpstr>Swapping</vt:lpstr>
      <vt:lpstr>Allocation methods</vt:lpstr>
      <vt:lpstr>Contiguous Allocation</vt:lpstr>
      <vt:lpstr>Contiguous Allocation</vt:lpstr>
      <vt:lpstr>Contiguous Allocation</vt:lpstr>
      <vt:lpstr>Linked File Allocation (Chained File Allocation)</vt:lpstr>
      <vt:lpstr>Linked File Allocation (Chained File Allocation)</vt:lpstr>
      <vt:lpstr>Linked File Allocation (Chained File Allocation)</vt:lpstr>
      <vt:lpstr>Indexed File Allocation</vt:lpstr>
      <vt:lpstr>Indexed File Allocation</vt:lpstr>
      <vt:lpstr>Indexed File Allocation</vt:lpstr>
      <vt:lpstr>Indexed File Allocation</vt:lpstr>
      <vt:lpstr>Single Level Directory Structure</vt:lpstr>
      <vt:lpstr>Single Level Directory Structure</vt:lpstr>
      <vt:lpstr>Two Level Directory Structure</vt:lpstr>
      <vt:lpstr>Two Level Directory Structure</vt:lpstr>
      <vt:lpstr>Hierarchical Directory Structure (Tree Structure)</vt:lpstr>
      <vt:lpstr>Hierarchical Directory Structure (Tree Structure)</vt:lpstr>
      <vt:lpstr>Disk management in Linux</vt:lpstr>
      <vt:lpstr>Disk Management in Windows OS</vt:lpstr>
      <vt:lpstr>Measurement of speed of the disk</vt:lpstr>
      <vt:lpstr>Thank you…..</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Operating System(22516)  Unit-6 File Management              Marks: 10</dc:title>
  <dc:creator>Perfect Shop Sharjah</dc:creator>
  <cp:lastModifiedBy>admin</cp:lastModifiedBy>
  <cp:revision>30</cp:revision>
  <dcterms:created xsi:type="dcterms:W3CDTF">2020-09-19T10:54:04Z</dcterms:created>
  <dcterms:modified xsi:type="dcterms:W3CDTF">2021-11-25T05:57:45Z</dcterms:modified>
</cp:coreProperties>
</file>